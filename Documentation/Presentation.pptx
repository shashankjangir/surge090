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87" r:id="rId2"/>
    <p:sldId id="271" r:id="rId3"/>
    <p:sldId id="273" r:id="rId4"/>
    <p:sldId id="258" r:id="rId5"/>
    <p:sldId id="259" r:id="rId6"/>
    <p:sldId id="305" r:id="rId7"/>
    <p:sldId id="275" r:id="rId8"/>
    <p:sldId id="262" r:id="rId9"/>
    <p:sldId id="298" r:id="rId10"/>
    <p:sldId id="281" r:id="rId11"/>
    <p:sldId id="285" r:id="rId12"/>
    <p:sldId id="268" r:id="rId13"/>
    <p:sldId id="269"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10"/>
  </p:normalViewPr>
  <p:slideViewPr>
    <p:cSldViewPr snapToGrid="0" snapToObjects="1">
      <p:cViewPr varScale="1">
        <p:scale>
          <a:sx n="90" d="100"/>
          <a:sy n="90" d="100"/>
        </p:scale>
        <p:origin x="33" y="10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2554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for the 25% progress review of the Smart Snake Robot project, Group SURGE 090. Introduce the team and milestone scope.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concrete goals across mechanics, actuation, computing, control, sensing and scalability. These map to the timeline phases.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quarter done: ten tasks closed across research, mechanical design, fabrication and the compute platform.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Controller at the centre. Solid cyan = implemented/in progress; dashed amber (sensors, camera) = designed-in but scheduled for a later phase.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 modelled to real XL330 dimensions so printed parts mate with the actual servos. Replace the placeholder with CAD screenshots.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segments printed and measured, validating the CAD. Next step is servo integration. Drop prototype photos on the left.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computer is live: OS installed, networked, remotely accessible, exercised with intro GPIO and Python. De-risks software before motors arrive.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BOM from the purchasing sheet. Compute hardware in hand; actuation and power chain ordered. Total approx Rs 33,760.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is the single source of truth — CAD, docs, tracked iterations — with a collaboration workflow already running.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Eight-phase plan: Phase 1 complete, Phase 2 active, Phase 3 next — about 25%. Phases 4-8 cover integration, control, sensing, testing, demo.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headline achievements: design, fabrication, compute, tooling and procurement all moving — a working foundation.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github.com/bhaveshbanshiwal/Snake_SURGE"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6.jpeg"/><Relationship Id="rId4" Type="http://schemas.openxmlformats.org/officeDocument/2006/relationships/image" Target="../media/image21.png"/><Relationship Id="rId9" Type="http://schemas.openxmlformats.org/officeDocument/2006/relationships/image" Target="../media/image25.jpe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29.png"/><Relationship Id="rId12" Type="http://schemas.openxmlformats.org/officeDocument/2006/relationships/image" Target="../media/image33.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2.jpeg"/><Relationship Id="rId5" Type="http://schemas.openxmlformats.org/officeDocument/2006/relationships/image" Target="../media/image22.png"/><Relationship Id="rId10" Type="http://schemas.openxmlformats.org/officeDocument/2006/relationships/image" Target="../media/image31.jpg"/><Relationship Id="rId4" Type="http://schemas.openxmlformats.org/officeDocument/2006/relationships/image" Target="../media/image11.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7.png"/><Relationship Id="rId7"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24.png"/><Relationship Id="rId4" Type="http://schemas.openxmlformats.org/officeDocument/2006/relationships/image" Target="../media/image11.png"/><Relationship Id="rId9"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2E"/>
        </a:solidFill>
        <a:effectLst/>
      </p:bgPr>
    </p:bg>
    <p:spTree>
      <p:nvGrpSpPr>
        <p:cNvPr id="1" name=""/>
        <p:cNvGrpSpPr/>
        <p:nvPr/>
      </p:nvGrpSpPr>
      <p:grpSpPr>
        <a:xfrm>
          <a:off x="0" y="0"/>
          <a:ext cx="0" cy="0"/>
          <a:chOff x="0" y="0"/>
          <a:chExt cx="0" cy="0"/>
        </a:xfrm>
      </p:grpSpPr>
      <p:sp>
        <p:nvSpPr>
          <p:cNvPr id="2" name="Shape 0"/>
          <p:cNvSpPr/>
          <p:nvPr/>
        </p:nvSpPr>
        <p:spPr>
          <a:xfrm>
            <a:off x="8666598" y="-1828800"/>
            <a:ext cx="5669280" cy="5669280"/>
          </a:xfrm>
          <a:prstGeom prst="ellipse">
            <a:avLst/>
          </a:prstGeom>
          <a:solidFill>
            <a:srgbClr val="1E2A45"/>
          </a:solidFill>
          <a:ln/>
        </p:spPr>
        <p:txBody>
          <a:bodyPr/>
          <a:lstStyle/>
          <a:p>
            <a:endParaRPr lang="en-IN"/>
          </a:p>
        </p:txBody>
      </p:sp>
      <p:sp>
        <p:nvSpPr>
          <p:cNvPr id="3" name="Shape 1"/>
          <p:cNvSpPr/>
          <p:nvPr/>
        </p:nvSpPr>
        <p:spPr>
          <a:xfrm>
            <a:off x="10058400" y="3474720"/>
            <a:ext cx="4206240" cy="4206240"/>
          </a:xfrm>
          <a:prstGeom prst="ellipse">
            <a:avLst/>
          </a:prstGeom>
          <a:solidFill>
            <a:srgbClr val="2A3958"/>
          </a:solidFill>
          <a:ln/>
        </p:spPr>
        <p:txBody>
          <a:bodyPr/>
          <a:lstStyle/>
          <a:p>
            <a:endParaRPr lang="en-IN"/>
          </a:p>
        </p:txBody>
      </p:sp>
      <p:sp>
        <p:nvSpPr>
          <p:cNvPr id="4" name="Shape 2"/>
          <p:cNvSpPr/>
          <p:nvPr/>
        </p:nvSpPr>
        <p:spPr>
          <a:xfrm>
            <a:off x="777240" y="777240"/>
            <a:ext cx="2514600" cy="457200"/>
          </a:xfrm>
          <a:prstGeom prst="roundRect">
            <a:avLst>
              <a:gd name="adj" fmla="val 50000"/>
            </a:avLst>
          </a:prstGeom>
          <a:solidFill>
            <a:srgbClr val="0E96AC"/>
          </a:solidFill>
          <a:ln/>
        </p:spPr>
        <p:txBody>
          <a:bodyPr/>
          <a:lstStyle/>
          <a:p>
            <a:endParaRPr lang="en-IN"/>
          </a:p>
        </p:txBody>
      </p:sp>
      <p:sp>
        <p:nvSpPr>
          <p:cNvPr id="5" name="Text 3"/>
          <p:cNvSpPr/>
          <p:nvPr/>
        </p:nvSpPr>
        <p:spPr>
          <a:xfrm>
            <a:off x="777240" y="777240"/>
            <a:ext cx="2514600" cy="4572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GROUP CODE · SURGE 090</a:t>
            </a:r>
            <a:endParaRPr lang="en-US" sz="1200" dirty="0"/>
          </a:p>
        </p:txBody>
      </p:sp>
      <p:sp>
        <p:nvSpPr>
          <p:cNvPr id="6" name="Text 4"/>
          <p:cNvSpPr/>
          <p:nvPr/>
        </p:nvSpPr>
        <p:spPr>
          <a:xfrm>
            <a:off x="822960" y="1828800"/>
            <a:ext cx="8229600" cy="320040"/>
          </a:xfrm>
          <a:prstGeom prst="rect">
            <a:avLst/>
          </a:prstGeom>
          <a:noFill/>
          <a:ln/>
        </p:spPr>
        <p:txBody>
          <a:bodyPr wrap="square" lIns="0" tIns="0" rIns="0" bIns="0" rtlCol="0" anchor="ctr"/>
          <a:lstStyle/>
          <a:p>
            <a:r>
              <a:rPr lang="en-IN" sz="2000" dirty="0">
                <a:solidFill>
                  <a:schemeClr val="tx2">
                    <a:lumMod val="60000"/>
                    <a:lumOff val="40000"/>
                  </a:schemeClr>
                </a:solidFill>
              </a:rPr>
              <a:t>First Progress Review (Design &amp; Development Phase)</a:t>
            </a:r>
            <a:endParaRPr lang="en-US" dirty="0">
              <a:solidFill>
                <a:schemeClr val="tx2">
                  <a:lumMod val="60000"/>
                  <a:lumOff val="40000"/>
                </a:schemeClr>
              </a:solidFill>
            </a:endParaRPr>
          </a:p>
        </p:txBody>
      </p:sp>
      <p:sp>
        <p:nvSpPr>
          <p:cNvPr id="7" name="Text 5"/>
          <p:cNvSpPr/>
          <p:nvPr/>
        </p:nvSpPr>
        <p:spPr>
          <a:xfrm>
            <a:off x="777240" y="2194560"/>
            <a:ext cx="8412480" cy="91440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Smart Snake Robot</a:t>
            </a:r>
            <a:endParaRPr lang="en-US" sz="5200" dirty="0"/>
          </a:p>
        </p:txBody>
      </p:sp>
      <p:sp>
        <p:nvSpPr>
          <p:cNvPr id="8" name="Text 6"/>
          <p:cNvSpPr/>
          <p:nvPr/>
        </p:nvSpPr>
        <p:spPr>
          <a:xfrm>
            <a:off x="804672" y="3127248"/>
            <a:ext cx="8778240" cy="548640"/>
          </a:xfrm>
          <a:prstGeom prst="rect">
            <a:avLst/>
          </a:prstGeom>
          <a:noFill/>
          <a:ln/>
        </p:spPr>
        <p:txBody>
          <a:bodyPr wrap="square" lIns="0" tIns="0" rIns="0" bIns="0" rtlCol="0" anchor="ctr"/>
          <a:lstStyle/>
          <a:p>
            <a:pPr marL="0" indent="0">
              <a:buNone/>
            </a:pPr>
            <a:r>
              <a:rPr lang="en-US" sz="2400" dirty="0">
                <a:solidFill>
                  <a:srgbClr val="2BD4E8"/>
                </a:solidFill>
                <a:latin typeface="Calibri" pitchFamily="34" charset="0"/>
                <a:ea typeface="Calibri" pitchFamily="34" charset="-122"/>
                <a:cs typeface="Calibri" pitchFamily="34" charset="-120"/>
              </a:rPr>
              <a:t>with Dynamixel Smart Servo Motors</a:t>
            </a:r>
            <a:endParaRPr lang="en-US" sz="2400" dirty="0"/>
          </a:p>
        </p:txBody>
      </p:sp>
      <p:sp>
        <p:nvSpPr>
          <p:cNvPr id="16" name="Shape 14"/>
          <p:cNvSpPr/>
          <p:nvPr/>
        </p:nvSpPr>
        <p:spPr>
          <a:xfrm>
            <a:off x="4791456" y="3977640"/>
            <a:ext cx="457200" cy="457200"/>
          </a:xfrm>
          <a:prstGeom prst="ellipse">
            <a:avLst/>
          </a:prstGeom>
          <a:solidFill>
            <a:srgbClr val="2A3958"/>
          </a:solidFill>
          <a:ln/>
        </p:spPr>
        <p:txBody>
          <a:bodyPr/>
          <a:lstStyle/>
          <a:p>
            <a:endParaRPr lang="en-IN"/>
          </a:p>
        </p:txBody>
      </p:sp>
      <p:pic>
        <p:nvPicPr>
          <p:cNvPr id="17" name="Image 0" descr="preencoded.png"/>
          <p:cNvPicPr>
            <a:picLocks noChangeAspect="1"/>
          </p:cNvPicPr>
          <p:nvPr/>
        </p:nvPicPr>
        <p:blipFill>
          <a:blip r:embed="rId3"/>
          <a:stretch>
            <a:fillRect/>
          </a:stretch>
        </p:blipFill>
        <p:spPr>
          <a:xfrm>
            <a:off x="4892040" y="4078224"/>
            <a:ext cx="256032" cy="256032"/>
          </a:xfrm>
          <a:prstGeom prst="rect">
            <a:avLst/>
          </a:prstGeom>
        </p:spPr>
      </p:pic>
      <p:sp>
        <p:nvSpPr>
          <p:cNvPr id="18" name="Shape 15"/>
          <p:cNvSpPr/>
          <p:nvPr/>
        </p:nvSpPr>
        <p:spPr>
          <a:xfrm>
            <a:off x="777240"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19" name="Shape 16"/>
          <p:cNvSpPr/>
          <p:nvPr/>
        </p:nvSpPr>
        <p:spPr>
          <a:xfrm>
            <a:off x="978408" y="5230368"/>
            <a:ext cx="274320" cy="274320"/>
          </a:xfrm>
          <a:prstGeom prst="ellipse">
            <a:avLst/>
          </a:prstGeom>
          <a:solidFill>
            <a:srgbClr val="0E96AC"/>
          </a:solidFill>
          <a:ln/>
        </p:spPr>
        <p:txBody>
          <a:bodyPr/>
          <a:lstStyle/>
          <a:p>
            <a:endParaRPr lang="en-IN"/>
          </a:p>
        </p:txBody>
      </p:sp>
      <p:sp>
        <p:nvSpPr>
          <p:cNvPr id="20" name="Text 17"/>
          <p:cNvSpPr/>
          <p:nvPr/>
        </p:nvSpPr>
        <p:spPr>
          <a:xfrm>
            <a:off x="1362456"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Shashank Jangir</a:t>
            </a:r>
            <a:endParaRPr lang="en-US" sz="1450" dirty="0"/>
          </a:p>
        </p:txBody>
      </p:sp>
      <p:sp>
        <p:nvSpPr>
          <p:cNvPr id="21" name="Text 18"/>
          <p:cNvSpPr/>
          <p:nvPr/>
        </p:nvSpPr>
        <p:spPr>
          <a:xfrm>
            <a:off x="978408"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22" name="Text 19"/>
          <p:cNvSpPr/>
          <p:nvPr/>
        </p:nvSpPr>
        <p:spPr>
          <a:xfrm>
            <a:off x="978408"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2024EE11048</a:t>
            </a:r>
            <a:endParaRPr lang="en-US" sz="1300" dirty="0"/>
          </a:p>
        </p:txBody>
      </p:sp>
      <p:sp>
        <p:nvSpPr>
          <p:cNvPr id="23" name="Shape 20"/>
          <p:cNvSpPr/>
          <p:nvPr/>
        </p:nvSpPr>
        <p:spPr>
          <a:xfrm>
            <a:off x="3648456"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4" name="Shape 21"/>
          <p:cNvSpPr/>
          <p:nvPr/>
        </p:nvSpPr>
        <p:spPr>
          <a:xfrm>
            <a:off x="3849624" y="5230368"/>
            <a:ext cx="274320" cy="274320"/>
          </a:xfrm>
          <a:prstGeom prst="ellipse">
            <a:avLst/>
          </a:prstGeom>
          <a:solidFill>
            <a:srgbClr val="0E96AC"/>
          </a:solidFill>
          <a:ln/>
        </p:spPr>
        <p:txBody>
          <a:bodyPr/>
          <a:lstStyle/>
          <a:p>
            <a:endParaRPr lang="en-IN"/>
          </a:p>
        </p:txBody>
      </p:sp>
      <p:sp>
        <p:nvSpPr>
          <p:cNvPr id="25" name="Text 22"/>
          <p:cNvSpPr/>
          <p:nvPr/>
        </p:nvSpPr>
        <p:spPr>
          <a:xfrm>
            <a:off x="4233672"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Bhavesh Bansiwal</a:t>
            </a:r>
            <a:endParaRPr lang="en-US" sz="1450" dirty="0"/>
          </a:p>
        </p:txBody>
      </p:sp>
      <p:sp>
        <p:nvSpPr>
          <p:cNvPr id="26" name="Text 23"/>
          <p:cNvSpPr/>
          <p:nvPr/>
        </p:nvSpPr>
        <p:spPr>
          <a:xfrm>
            <a:off x="3849624"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27" name="Text 24"/>
          <p:cNvSpPr/>
          <p:nvPr/>
        </p:nvSpPr>
        <p:spPr>
          <a:xfrm>
            <a:off x="3849624"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2024ME10487</a:t>
            </a:r>
            <a:endParaRPr lang="en-US" sz="1300" dirty="0"/>
          </a:p>
        </p:txBody>
      </p:sp>
      <p:sp>
        <p:nvSpPr>
          <p:cNvPr id="28" name="Shape 25"/>
          <p:cNvSpPr/>
          <p:nvPr/>
        </p:nvSpPr>
        <p:spPr>
          <a:xfrm>
            <a:off x="6519672"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9" name="Shape 26"/>
          <p:cNvSpPr/>
          <p:nvPr/>
        </p:nvSpPr>
        <p:spPr>
          <a:xfrm>
            <a:off x="6720840" y="5230368"/>
            <a:ext cx="274320" cy="274320"/>
          </a:xfrm>
          <a:prstGeom prst="ellipse">
            <a:avLst/>
          </a:prstGeom>
          <a:solidFill>
            <a:srgbClr val="0E96AC"/>
          </a:solidFill>
          <a:ln/>
        </p:spPr>
        <p:txBody>
          <a:bodyPr/>
          <a:lstStyle/>
          <a:p>
            <a:endParaRPr lang="en-IN"/>
          </a:p>
        </p:txBody>
      </p:sp>
      <p:sp>
        <p:nvSpPr>
          <p:cNvPr id="30" name="Text 27"/>
          <p:cNvSpPr/>
          <p:nvPr/>
        </p:nvSpPr>
        <p:spPr>
          <a:xfrm>
            <a:off x="7104888"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Mahima Chotiya</a:t>
            </a:r>
            <a:endParaRPr lang="en-US" sz="1450" dirty="0"/>
          </a:p>
        </p:txBody>
      </p:sp>
      <p:sp>
        <p:nvSpPr>
          <p:cNvPr id="31" name="Text 28"/>
          <p:cNvSpPr/>
          <p:nvPr/>
        </p:nvSpPr>
        <p:spPr>
          <a:xfrm>
            <a:off x="6720840"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32" name="Text 29"/>
          <p:cNvSpPr/>
          <p:nvPr/>
        </p:nvSpPr>
        <p:spPr>
          <a:xfrm>
            <a:off x="6720840"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2024ME11187</a:t>
            </a:r>
            <a:endParaRPr lang="en-US" sz="1300" dirty="0"/>
          </a:p>
        </p:txBody>
      </p:sp>
      <p:sp>
        <p:nvSpPr>
          <p:cNvPr id="33" name="Text 30"/>
          <p:cNvSpPr/>
          <p:nvPr/>
        </p:nvSpPr>
        <p:spPr>
          <a:xfrm>
            <a:off x="8934751" y="675593"/>
            <a:ext cx="2377440" cy="228600"/>
          </a:xfrm>
          <a:prstGeom prst="rect">
            <a:avLst/>
          </a:prstGeom>
          <a:noFill/>
          <a:ln/>
        </p:spPr>
        <p:txBody>
          <a:bodyPr wrap="square" lIns="0" tIns="0" rIns="0" bIns="0" rtlCol="0" anchor="ctr"/>
          <a:lstStyle/>
          <a:p>
            <a:pPr marL="0" indent="0">
              <a:buNone/>
            </a:pPr>
            <a:r>
              <a:rPr lang="en-US" sz="1000" b="1" kern="0" spc="200" dirty="0">
                <a:solidFill>
                  <a:srgbClr val="2BD4E8"/>
                </a:solidFill>
                <a:latin typeface="Calibri" pitchFamily="34" charset="0"/>
                <a:ea typeface="Calibri" pitchFamily="34" charset="-122"/>
                <a:cs typeface="Calibri" pitchFamily="34" charset="-120"/>
              </a:rPr>
              <a:t>INSTITUTION</a:t>
            </a:r>
            <a:endParaRPr lang="en-US" sz="1000" dirty="0"/>
          </a:p>
        </p:txBody>
      </p:sp>
      <p:sp>
        <p:nvSpPr>
          <p:cNvPr id="34" name="Text 31"/>
          <p:cNvSpPr/>
          <p:nvPr/>
        </p:nvSpPr>
        <p:spPr>
          <a:xfrm>
            <a:off x="9052560" y="928116"/>
            <a:ext cx="23774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Indian Institute of Technology, Delhi</a:t>
            </a:r>
            <a:endParaRPr lang="en-US" sz="1300" dirty="0"/>
          </a:p>
        </p:txBody>
      </p:sp>
      <p:sp>
        <p:nvSpPr>
          <p:cNvPr id="35" name="Text 32"/>
          <p:cNvSpPr/>
          <p:nvPr/>
        </p:nvSpPr>
        <p:spPr>
          <a:xfrm>
            <a:off x="9052560" y="1746504"/>
            <a:ext cx="2377440" cy="228600"/>
          </a:xfrm>
          <a:prstGeom prst="rect">
            <a:avLst/>
          </a:prstGeom>
          <a:noFill/>
          <a:ln/>
        </p:spPr>
        <p:txBody>
          <a:bodyPr wrap="square" lIns="0" tIns="0" rIns="0" bIns="0" rtlCol="0" anchor="ctr"/>
          <a:lstStyle/>
          <a:p>
            <a:pPr marL="0" indent="0">
              <a:buNone/>
            </a:pPr>
            <a:r>
              <a:rPr lang="en-US" sz="1000" b="1" kern="0" spc="200" dirty="0">
                <a:solidFill>
                  <a:srgbClr val="2BD4E8"/>
                </a:solidFill>
                <a:latin typeface="Calibri" pitchFamily="34" charset="0"/>
                <a:ea typeface="Calibri" pitchFamily="34" charset="-122"/>
                <a:cs typeface="Calibri" pitchFamily="34" charset="-120"/>
              </a:rPr>
              <a:t>PROJECT GUIDE</a:t>
            </a:r>
            <a:endParaRPr lang="en-US" sz="1000" dirty="0"/>
          </a:p>
        </p:txBody>
      </p:sp>
      <p:sp>
        <p:nvSpPr>
          <p:cNvPr id="36" name="Text 33"/>
          <p:cNvSpPr/>
          <p:nvPr/>
        </p:nvSpPr>
        <p:spPr>
          <a:xfrm>
            <a:off x="9189720" y="1881378"/>
            <a:ext cx="23774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Professor </a:t>
            </a:r>
            <a:r>
              <a:rPr lang="en-US" dirty="0" err="1">
                <a:solidFill>
                  <a:srgbClr val="FFFFFF"/>
                </a:solidFill>
                <a:latin typeface="Calibri" pitchFamily="34" charset="0"/>
                <a:ea typeface="Calibri" pitchFamily="34" charset="-122"/>
                <a:cs typeface="Calibri" pitchFamily="34" charset="-120"/>
              </a:rPr>
              <a:t>Amartansh</a:t>
            </a:r>
            <a:r>
              <a:rPr lang="en-US" dirty="0">
                <a:solidFill>
                  <a:srgbClr val="FFFFFF"/>
                </a:solidFill>
                <a:latin typeface="Calibri" pitchFamily="34" charset="0"/>
                <a:ea typeface="Calibri" pitchFamily="34" charset="-122"/>
                <a:cs typeface="Calibri" pitchFamily="34" charset="-120"/>
              </a:rPr>
              <a:t> Dubey</a:t>
            </a:r>
            <a:endParaRPr lang="en-US" sz="1300" dirty="0"/>
          </a:p>
        </p:txBody>
      </p:sp>
      <p:pic>
        <p:nvPicPr>
          <p:cNvPr id="9" name="Picture 8">
            <a:extLst>
              <a:ext uri="{FF2B5EF4-FFF2-40B4-BE49-F238E27FC236}">
                <a16:creationId xmlns:a16="http://schemas.microsoft.com/office/drawing/2014/main" id="{B23F6B63-9642-A851-9339-BBD4C24031B8}"/>
              </a:ext>
            </a:extLst>
          </p:cNvPr>
          <p:cNvPicPr>
            <a:picLocks noChangeAspect="1"/>
          </p:cNvPicPr>
          <p:nvPr/>
        </p:nvPicPr>
        <p:blipFill>
          <a:blip r:embed="rId4"/>
          <a:stretch>
            <a:fillRect/>
          </a:stretch>
        </p:blipFill>
        <p:spPr>
          <a:xfrm>
            <a:off x="10652760" y="159317"/>
            <a:ext cx="762000" cy="762000"/>
          </a:xfrm>
          <a:prstGeom prst="rect">
            <a:avLst/>
          </a:prstGeom>
        </p:spPr>
      </p:pic>
      <p:sp>
        <p:nvSpPr>
          <p:cNvPr id="101" name="RepoLabel"/>
          <p:cNvSpPr>
            <a:spLocks noGrp="1"/>
          </p:cNvSpPr>
          <p:nvPr/>
        </p:nvSpPr>
        <p:spPr>
          <a:xfrm>
            <a:off x="8890000" y="6096000"/>
            <a:ext cx="3111500" cy="177800"/>
          </a:xfrm>
          <a:prstGeom prst="rect">
            <a:avLst/>
          </a:prstGeom>
          <a:noFill/>
          <a:ln>
            <a:noFill/>
          </a:ln>
        </p:spPr>
        <p:txBody>
          <a:bodyPr wrap="square" rtlCol="0" anchor="ctr">
            <a:normAutofit fontScale="70000" lnSpcReduction="20000"/>
          </a:bodyPr>
          <a:lstStyle/>
          <a:p>
            <a:pPr marL="0" indent="0">
              <a:buNone/>
            </a:pPr>
            <a:r>
              <a:rPr lang="en-US" sz="900" b="1" kern="0" spc="200" dirty="0">
                <a:solidFill>
                  <a:srgbClr val="2BD4E8"/>
                </a:solidFill>
                <a:latin typeface="Calibri" pitchFamily="34" charset="0"/>
              </a:rPr>
              <a:t>PROJECT REPOSITORY</a:t>
            </a:r>
          </a:p>
        </p:txBody>
      </p:sp>
      <p:sp>
        <p:nvSpPr>
          <p:cNvPr id="102" name="RepoURL">
            <a:hlinkClick r:id="rId5"/>
          </p:cNvPr>
          <p:cNvSpPr>
            <a:spLocks noGrp="1"/>
          </p:cNvSpPr>
          <p:nvPr/>
        </p:nvSpPr>
        <p:spPr>
          <a:xfrm>
            <a:off x="8890000" y="6324600"/>
            <a:ext cx="3111500" cy="228600"/>
          </a:xfrm>
          <a:prstGeom prst="rect">
            <a:avLst/>
          </a:prstGeom>
          <a:noFill/>
          <a:ln>
            <a:noFill/>
          </a:ln>
        </p:spPr>
        <p:txBody>
          <a:bodyPr wrap="square" rtlCol="0" anchor="ctr">
            <a:normAutofit lnSpcReduction="10000"/>
          </a:bodyPr>
          <a:lstStyle/>
          <a:p>
            <a:r>
              <a:rPr lang="en-US" sz="1000" u="sng" dirty="0">
                <a:solidFill>
                  <a:srgbClr val="FFFFFF"/>
                </a:solidFill>
                <a:latin typeface="Calibri" pitchFamily="34" charset="0"/>
              </a:rPr>
              <a:t>https://github.com/shashankjangir/surge090</a:t>
            </a:r>
          </a:p>
        </p:txBody>
      </p:sp>
    </p:spTree>
    <p:extLst>
      <p:ext uri="{BB962C8B-B14F-4D97-AF65-F5344CB8AC3E}">
        <p14:creationId xmlns:p14="http://schemas.microsoft.com/office/powerpoint/2010/main" val="1029810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A">
            <a:extLst>
              <a:ext uri="{FF2B5EF4-FFF2-40B4-BE49-F238E27FC236}">
                <a16:creationId xmlns:a16="http://schemas.microsoft.com/office/drawing/2014/main" id="{841DE8FB-782B-413F-8F93-A5A5E44CEC4B}"/>
              </a:ext>
            </a:extLst>
          </p:cNvPr>
          <p:cNvSpPr txBox="1"/>
          <p:nvPr/>
        </p:nvSpPr>
        <p:spPr>
          <a:xfrm>
            <a:off x="546100" y="381000"/>
            <a:ext cx="10160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ACTUATOR SELECTION STUDY</a:t>
            </a:r>
          </a:p>
        </p:txBody>
      </p:sp>
      <p:sp>
        <p:nvSpPr>
          <p:cNvPr id="3" name="TitleA">
            <a:extLst>
              <a:ext uri="{FF2B5EF4-FFF2-40B4-BE49-F238E27FC236}">
                <a16:creationId xmlns:a16="http://schemas.microsoft.com/office/drawing/2014/main" id="{7634340B-6F43-41BD-A788-B33B6114B32F}"/>
              </a:ext>
            </a:extLst>
          </p:cNvPr>
          <p:cNvSpPr txBox="1"/>
          <p:nvPr/>
        </p:nvSpPr>
        <p:spPr>
          <a:xfrm>
            <a:off x="533400" y="635000"/>
            <a:ext cx="10922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Why Dynamixel Motors?</a:t>
            </a:r>
          </a:p>
        </p:txBody>
      </p:sp>
      <p:sp>
        <p:nvSpPr>
          <p:cNvPr id="4" name="ProblemCard">
            <a:extLst>
              <a:ext uri="{FF2B5EF4-FFF2-40B4-BE49-F238E27FC236}">
                <a16:creationId xmlns:a16="http://schemas.microsoft.com/office/drawing/2014/main" id="{E876E5F6-0A7F-4BFB-B939-45A2A1D649C5}"/>
              </a:ext>
            </a:extLst>
          </p:cNvPr>
          <p:cNvSpPr/>
          <p:nvPr/>
        </p:nvSpPr>
        <p:spPr>
          <a:xfrm>
            <a:off x="546100" y="1422400"/>
            <a:ext cx="3810000" cy="4927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ProblemEyebrow">
            <a:extLst>
              <a:ext uri="{FF2B5EF4-FFF2-40B4-BE49-F238E27FC236}">
                <a16:creationId xmlns:a16="http://schemas.microsoft.com/office/drawing/2014/main" id="{FC543071-2BD3-4FE0-ADEC-F4199E47340C}"/>
              </a:ext>
            </a:extLst>
          </p:cNvPr>
          <p:cNvSpPr txBox="1"/>
          <p:nvPr/>
        </p:nvSpPr>
        <p:spPr>
          <a:xfrm>
            <a:off x="800100" y="1676400"/>
            <a:ext cx="33020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THE REQUIREMENT</a:t>
            </a:r>
          </a:p>
        </p:txBody>
      </p:sp>
      <p:sp>
        <p:nvSpPr>
          <p:cNvPr id="6" name="ProblemIntro">
            <a:extLst>
              <a:ext uri="{FF2B5EF4-FFF2-40B4-BE49-F238E27FC236}">
                <a16:creationId xmlns:a16="http://schemas.microsoft.com/office/drawing/2014/main" id="{242F95A3-B8E3-4C63-8377-5868B29AD293}"/>
              </a:ext>
            </a:extLst>
          </p:cNvPr>
          <p:cNvSpPr txBox="1"/>
          <p:nvPr/>
        </p:nvSpPr>
        <p:spPr>
          <a:xfrm>
            <a:off x="800100" y="2006600"/>
            <a:ext cx="3302000" cy="812800"/>
          </a:xfrm>
          <a:prstGeom prst="rect">
            <a:avLst/>
          </a:prstGeom>
          <a:noFill/>
        </p:spPr>
        <p:txBody>
          <a:bodyPr vertOverflow="overflow" vert="horz" wrap="square" rtlCol="0" anchor="t" anchorCtr="0">
            <a:noAutofit/>
          </a:bodyPr>
          <a:lstStyle/>
          <a:p>
            <a:pPr marL="0" indent="0">
              <a:lnSpc>
                <a:spcPct val="108000"/>
              </a:lnSpc>
              <a:buNone/>
            </a:pPr>
            <a:r>
              <a:rPr lang="en-US" sz="1400" dirty="0">
                <a:solidFill>
                  <a:srgbClr val="3A4658"/>
                </a:solidFill>
                <a:latin typeface="Calibri" pitchFamily="34" charset="0"/>
              </a:rPr>
              <a:t>A snake robot drives many joints at once. The actuator must deliver:</a:t>
            </a:r>
          </a:p>
        </p:txBody>
      </p:sp>
      <p:sp>
        <p:nvSpPr>
          <p:cNvPr id="7" name="ProblemBullets">
            <a:extLst>
              <a:ext uri="{FF2B5EF4-FFF2-40B4-BE49-F238E27FC236}">
                <a16:creationId xmlns:a16="http://schemas.microsoft.com/office/drawing/2014/main" id="{F7CDE160-466E-4C5D-B701-1F6DEFD06489}"/>
              </a:ext>
            </a:extLst>
          </p:cNvPr>
          <p:cNvSpPr txBox="1"/>
          <p:nvPr/>
        </p:nvSpPr>
        <p:spPr>
          <a:xfrm>
            <a:off x="800100" y="2844800"/>
            <a:ext cx="3302000" cy="3302000"/>
          </a:xfrm>
          <a:prstGeom prst="rect">
            <a:avLst/>
          </a:prstGeom>
          <a:noFill/>
        </p:spPr>
        <p:txBody>
          <a:bodyPr vertOverflow="overflow" vert="horz" wrap="square" rtlCol="0" anchor="t" anchorCtr="0">
            <a:noAutofit/>
          </a:bodyPr>
          <a:lstStyle/>
          <a:p>
            <a:pPr marL="200000" indent="-200000">
              <a:spcBef>
                <a:spcPts val="700"/>
              </a:spcBef>
              <a:buClr>
                <a:srgbClr val="0E96AC"/>
              </a:buClr>
              <a:buFont typeface="Arial"/>
              <a:buChar char="•"/>
            </a:pPr>
            <a:r>
              <a:rPr lang="en-US" sz="1400" dirty="0">
                <a:solidFill>
                  <a:srgbClr val="16223A"/>
                </a:solidFill>
                <a:latin typeface="Calibri" pitchFamily="34" charset="0"/>
              </a:rPr>
              <a:t>Precise position control</a:t>
            </a:r>
          </a:p>
          <a:p>
            <a:pPr marL="200000" indent="-200000">
              <a:spcBef>
                <a:spcPts val="700"/>
              </a:spcBef>
              <a:buClr>
                <a:srgbClr val="0E96AC"/>
              </a:buClr>
              <a:buFont typeface="Arial"/>
              <a:buChar char="•"/>
            </a:pPr>
            <a:r>
              <a:rPr lang="en-US" sz="1400" dirty="0">
                <a:solidFill>
                  <a:srgbClr val="16223A"/>
                </a:solidFill>
                <a:latin typeface="Calibri" pitchFamily="34" charset="0"/>
              </a:rPr>
              <a:t>Simple wiring architecture</a:t>
            </a:r>
          </a:p>
          <a:p>
            <a:pPr marL="200000" indent="-200000">
              <a:spcBef>
                <a:spcPts val="700"/>
              </a:spcBef>
              <a:buClr>
                <a:srgbClr val="0E96AC"/>
              </a:buClr>
              <a:buFont typeface="Arial"/>
              <a:buChar char="•"/>
            </a:pPr>
            <a:r>
              <a:rPr lang="en-US" sz="1400" dirty="0">
                <a:solidFill>
                  <a:srgbClr val="16223A"/>
                </a:solidFill>
                <a:latin typeface="Calibri" pitchFamily="34" charset="0"/>
              </a:rPr>
              <a:t>Scalability for multiple joints</a:t>
            </a:r>
          </a:p>
          <a:p>
            <a:pPr marL="200000" indent="-200000">
              <a:spcBef>
                <a:spcPts val="700"/>
              </a:spcBef>
              <a:buClr>
                <a:srgbClr val="0E96AC"/>
              </a:buClr>
              <a:buFont typeface="Arial"/>
              <a:buChar char="•"/>
            </a:pPr>
            <a:r>
              <a:rPr lang="en-US" sz="1400" dirty="0">
                <a:solidFill>
                  <a:srgbClr val="16223A"/>
                </a:solidFill>
                <a:latin typeface="Calibri" pitchFamily="34" charset="0"/>
              </a:rPr>
              <a:t>Reliable communication</a:t>
            </a:r>
          </a:p>
          <a:p>
            <a:pPr marL="200000" indent="-200000">
              <a:spcBef>
                <a:spcPts val="700"/>
              </a:spcBef>
              <a:buClr>
                <a:srgbClr val="0E96AC"/>
              </a:buClr>
              <a:buFont typeface="Arial"/>
              <a:buChar char="•"/>
            </a:pPr>
            <a:r>
              <a:rPr lang="en-US" sz="1400" dirty="0">
                <a:solidFill>
                  <a:srgbClr val="16223A"/>
                </a:solidFill>
                <a:latin typeface="Calibri" pitchFamily="34" charset="0"/>
              </a:rPr>
              <a:t>Real-time feedback</a:t>
            </a:r>
          </a:p>
          <a:p>
            <a:pPr marL="200000" indent="-200000">
              <a:spcBef>
                <a:spcPts val="700"/>
              </a:spcBef>
              <a:buClr>
                <a:srgbClr val="0E96AC"/>
              </a:buClr>
              <a:buFont typeface="Arial"/>
              <a:buChar char="•"/>
            </a:pPr>
            <a:r>
              <a:rPr lang="en-US" sz="1400" dirty="0">
                <a:solidFill>
                  <a:srgbClr val="16223A"/>
                </a:solidFill>
                <a:latin typeface="Calibri" pitchFamily="34" charset="0"/>
              </a:rPr>
              <a:t>Compact size &amp; sufficient torque</a:t>
            </a:r>
          </a:p>
        </p:txBody>
      </p:sp>
      <p:sp>
        <p:nvSpPr>
          <p:cNvPr id="8" name="TableEyebrow">
            <a:extLst>
              <a:ext uri="{FF2B5EF4-FFF2-40B4-BE49-F238E27FC236}">
                <a16:creationId xmlns:a16="http://schemas.microsoft.com/office/drawing/2014/main" id="{7E5D13E2-1354-4CEB-BDEE-454765C80F19}"/>
              </a:ext>
            </a:extLst>
          </p:cNvPr>
          <p:cNvSpPr txBox="1"/>
          <p:nvPr/>
        </p:nvSpPr>
        <p:spPr>
          <a:xfrm>
            <a:off x="4494628" y="1079500"/>
            <a:ext cx="70739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OPTIONS COMPARED</a:t>
            </a:r>
          </a:p>
        </p:txBody>
      </p:sp>
      <p:graphicFrame>
        <p:nvGraphicFramePr>
          <p:cNvPr id="10" name="CompareTable">
            <a:extLst>
              <a:ext uri="{FF2B5EF4-FFF2-40B4-BE49-F238E27FC236}">
                <a16:creationId xmlns:a16="http://schemas.microsoft.com/office/drawing/2014/main" id="{9440023E-3667-4AD8-9283-284DCB4D212C}"/>
              </a:ext>
            </a:extLst>
          </p:cNvPr>
          <p:cNvGraphicFramePr>
            <a:graphicFrameLocks noGrp="1"/>
          </p:cNvGraphicFramePr>
          <p:nvPr>
            <p:extLst>
              <p:ext uri="{D42A27DB-BD31-4B8C-83A1-F6EECF244321}">
                <p14:modId xmlns:p14="http://schemas.microsoft.com/office/powerpoint/2010/main" val="1572894493"/>
              </p:ext>
            </p:extLst>
          </p:nvPr>
        </p:nvGraphicFramePr>
        <p:xfrm>
          <a:off x="4494628" y="1582615"/>
          <a:ext cx="7151272" cy="4195888"/>
        </p:xfrm>
        <a:graphic>
          <a:graphicData uri="http://schemas.openxmlformats.org/drawingml/2006/table">
            <a:tbl>
              <a:tblPr firstRow="1" bandRow="1">
                <a:tableStyleId>{5C22544A-7EE6-4342-B048-85BDC9FD1C3A}</a:tableStyleId>
              </a:tblPr>
              <a:tblGrid>
                <a:gridCol w="1540669">
                  <a:extLst>
                    <a:ext uri="{9D8B030D-6E8A-4147-A177-3AD203B41FA5}">
                      <a16:colId xmlns:a16="http://schemas.microsoft.com/office/drawing/2014/main" val="3347371507"/>
                    </a:ext>
                  </a:extLst>
                </a:gridCol>
                <a:gridCol w="2567782">
                  <a:extLst>
                    <a:ext uri="{9D8B030D-6E8A-4147-A177-3AD203B41FA5}">
                      <a16:colId xmlns:a16="http://schemas.microsoft.com/office/drawing/2014/main" val="2919370013"/>
                    </a:ext>
                  </a:extLst>
                </a:gridCol>
                <a:gridCol w="3042821">
                  <a:extLst>
                    <a:ext uri="{9D8B030D-6E8A-4147-A177-3AD203B41FA5}">
                      <a16:colId xmlns:a16="http://schemas.microsoft.com/office/drawing/2014/main" val="1569824111"/>
                    </a:ext>
                  </a:extLst>
                </a:gridCol>
              </a:tblGrid>
              <a:tr h="524486">
                <a:tc>
                  <a:txBody>
                    <a:bodyPr/>
                    <a:lstStyle/>
                    <a:p>
                      <a:pPr algn="ctr"/>
                      <a:r>
                        <a:rPr lang="en-IN" sz="1400" b="1" dirty="0">
                          <a:solidFill>
                            <a:srgbClr val="FFFFFF"/>
                          </a:solidFill>
                          <a:latin typeface="Calibri"/>
                          <a:ea typeface="Calibri"/>
                          <a:cs typeface="Calibri"/>
                        </a:rPr>
                        <a:t>Criterion</a:t>
                      </a:r>
                    </a:p>
                  </a:txBody>
                  <a:tcPr anchor="ctr">
                    <a:solidFill>
                      <a:srgbClr val="16223A"/>
                    </a:solidFill>
                  </a:tcPr>
                </a:tc>
                <a:tc>
                  <a:txBody>
                    <a:bodyPr/>
                    <a:lstStyle/>
                    <a:p>
                      <a:pPr algn="ctr"/>
                      <a:r>
                        <a:rPr lang="en-IN" sz="1400" b="1" dirty="0">
                          <a:solidFill>
                            <a:srgbClr val="FFFFFF"/>
                          </a:solidFill>
                          <a:latin typeface="Calibri"/>
                          <a:ea typeface="Calibri"/>
                          <a:cs typeface="Calibri"/>
                        </a:rPr>
                        <a:t>Conventional Servo</a:t>
                      </a:r>
                    </a:p>
                  </a:txBody>
                  <a:tcPr anchor="ctr">
                    <a:solidFill>
                      <a:srgbClr val="16223A"/>
                    </a:solidFill>
                  </a:tcPr>
                </a:tc>
                <a:tc>
                  <a:txBody>
                    <a:bodyPr/>
                    <a:lstStyle/>
                    <a:p>
                      <a:pPr algn="ctr"/>
                      <a:r>
                        <a:rPr lang="en-IN" sz="1400" b="1" dirty="0" err="1">
                          <a:solidFill>
                            <a:srgbClr val="FFFFFF"/>
                          </a:solidFill>
                          <a:latin typeface="Calibri"/>
                          <a:ea typeface="Calibri"/>
                          <a:cs typeface="Calibri"/>
                        </a:rPr>
                        <a:t>Dynamixel</a:t>
                      </a:r>
                      <a:r>
                        <a:rPr lang="en-IN" sz="1400" b="1" dirty="0">
                          <a:solidFill>
                            <a:srgbClr val="FFFFFF"/>
                          </a:solidFill>
                          <a:latin typeface="Calibri"/>
                          <a:ea typeface="Calibri"/>
                          <a:cs typeface="Calibri"/>
                        </a:rPr>
                        <a:t> Smart Servo</a:t>
                      </a:r>
                    </a:p>
                  </a:txBody>
                  <a:tcPr anchor="ctr">
                    <a:solidFill>
                      <a:srgbClr val="0E96AC"/>
                    </a:solidFill>
                  </a:tcPr>
                </a:tc>
                <a:extLst>
                  <a:ext uri="{0D108BD9-81ED-4DB2-BD59-A6C34878D82A}">
                    <a16:rowId xmlns:a16="http://schemas.microsoft.com/office/drawing/2014/main" val="408524524"/>
                  </a:ext>
                </a:extLst>
              </a:tr>
              <a:tr h="524486">
                <a:tc>
                  <a:txBody>
                    <a:bodyPr/>
                    <a:lstStyle/>
                    <a:p>
                      <a:pPr algn="l"/>
                      <a:r>
                        <a:rPr lang="en-IN" sz="1400" b="1">
                          <a:solidFill>
                            <a:srgbClr val="16223A"/>
                          </a:solidFill>
                          <a:latin typeface="Calibri"/>
                          <a:ea typeface="Calibri"/>
                          <a:cs typeface="Calibri"/>
                        </a:rPr>
                        <a:t>Communication</a:t>
                      </a:r>
                    </a:p>
                  </a:txBody>
                  <a:tcPr anchor="ctr">
                    <a:solidFill>
                      <a:srgbClr val="F4F6F9"/>
                    </a:solidFill>
                  </a:tcPr>
                </a:tc>
                <a:tc>
                  <a:txBody>
                    <a:bodyPr/>
                    <a:lstStyle/>
                    <a:p>
                      <a:pPr algn="l"/>
                      <a:r>
                        <a:rPr lang="en-IN" sz="1400" dirty="0">
                          <a:solidFill>
                            <a:srgbClr val="3A4658"/>
                          </a:solidFill>
                          <a:latin typeface="Calibri"/>
                          <a:ea typeface="Calibri"/>
                          <a:cs typeface="Calibri"/>
                        </a:rPr>
                        <a:t>Individual signal wire per motor</a:t>
                      </a:r>
                    </a:p>
                  </a:txBody>
                  <a:tcPr anchor="ctr">
                    <a:solidFill>
                      <a:srgbClr val="FFFFFF"/>
                    </a:solidFill>
                  </a:tcPr>
                </a:tc>
                <a:tc>
                  <a:txBody>
                    <a:bodyPr/>
                    <a:lstStyle/>
                    <a:p>
                      <a:pPr algn="l"/>
                      <a:r>
                        <a:rPr lang="en-IN" sz="1400">
                          <a:solidFill>
                            <a:srgbClr val="16223A"/>
                          </a:solidFill>
                          <a:latin typeface="Calibri"/>
                          <a:ea typeface="Calibri"/>
                          <a:cs typeface="Calibri"/>
                        </a:rPr>
                        <a:t>Daisy-chain communication</a:t>
                      </a:r>
                    </a:p>
                  </a:txBody>
                  <a:tcPr anchor="ctr">
                    <a:solidFill>
                      <a:srgbClr val="E6F4F6"/>
                    </a:solidFill>
                  </a:tcPr>
                </a:tc>
                <a:extLst>
                  <a:ext uri="{0D108BD9-81ED-4DB2-BD59-A6C34878D82A}">
                    <a16:rowId xmlns:a16="http://schemas.microsoft.com/office/drawing/2014/main" val="2149984924"/>
                  </a:ext>
                </a:extLst>
              </a:tr>
              <a:tr h="524486">
                <a:tc>
                  <a:txBody>
                    <a:bodyPr/>
                    <a:lstStyle/>
                    <a:p>
                      <a:pPr algn="l"/>
                      <a:r>
                        <a:rPr lang="en-IN" sz="1400" b="1">
                          <a:solidFill>
                            <a:srgbClr val="16223A"/>
                          </a:solidFill>
                          <a:latin typeface="Calibri"/>
                          <a:ea typeface="Calibri"/>
                          <a:cs typeface="Calibri"/>
                        </a:rPr>
                        <a:t>Wiring Complexity</a:t>
                      </a:r>
                    </a:p>
                  </a:txBody>
                  <a:tcPr anchor="ctr">
                    <a:solidFill>
                      <a:srgbClr val="F4F6F9"/>
                    </a:solidFill>
                  </a:tcPr>
                </a:tc>
                <a:tc>
                  <a:txBody>
                    <a:bodyPr/>
                    <a:lstStyle/>
                    <a:p>
                      <a:pPr algn="l"/>
                      <a:r>
                        <a:rPr lang="en-IN" sz="1400" dirty="0">
                          <a:solidFill>
                            <a:srgbClr val="3A4658"/>
                          </a:solidFill>
                          <a:latin typeface="Calibri"/>
                          <a:ea typeface="Calibri"/>
                          <a:cs typeface="Calibri"/>
                        </a:rPr>
                        <a:t>High</a:t>
                      </a:r>
                    </a:p>
                  </a:txBody>
                  <a:tcPr anchor="ctr">
                    <a:solidFill>
                      <a:srgbClr val="FFFFFF"/>
                    </a:solidFill>
                  </a:tcPr>
                </a:tc>
                <a:tc>
                  <a:txBody>
                    <a:bodyPr/>
                    <a:lstStyle/>
                    <a:p>
                      <a:pPr algn="l"/>
                      <a:r>
                        <a:rPr lang="en-IN" sz="1400" dirty="0">
                          <a:solidFill>
                            <a:srgbClr val="16223A"/>
                          </a:solidFill>
                          <a:latin typeface="Calibri"/>
                          <a:ea typeface="Calibri"/>
                          <a:cs typeface="Calibri"/>
                        </a:rPr>
                        <a:t>Low</a:t>
                      </a:r>
                    </a:p>
                  </a:txBody>
                  <a:tcPr anchor="ctr">
                    <a:solidFill>
                      <a:srgbClr val="E6F4F6"/>
                    </a:solidFill>
                  </a:tcPr>
                </a:tc>
                <a:extLst>
                  <a:ext uri="{0D108BD9-81ED-4DB2-BD59-A6C34878D82A}">
                    <a16:rowId xmlns:a16="http://schemas.microsoft.com/office/drawing/2014/main" val="2686798067"/>
                  </a:ext>
                </a:extLst>
              </a:tr>
              <a:tr h="524486">
                <a:tc>
                  <a:txBody>
                    <a:bodyPr/>
                    <a:lstStyle/>
                    <a:p>
                      <a:pPr algn="l"/>
                      <a:r>
                        <a:rPr lang="en-IN" sz="1400" b="1">
                          <a:solidFill>
                            <a:srgbClr val="16223A"/>
                          </a:solidFill>
                          <a:latin typeface="Calibri"/>
                          <a:ea typeface="Calibri"/>
                          <a:cs typeface="Calibri"/>
                        </a:rPr>
                        <a:t>Feedback</a:t>
                      </a:r>
                    </a:p>
                  </a:txBody>
                  <a:tcPr anchor="ctr">
                    <a:solidFill>
                      <a:srgbClr val="F4F6F9"/>
                    </a:solidFill>
                  </a:tcPr>
                </a:tc>
                <a:tc>
                  <a:txBody>
                    <a:bodyPr/>
                    <a:lstStyle/>
                    <a:p>
                      <a:pPr algn="l"/>
                      <a:r>
                        <a:rPr lang="en-IN" sz="1400" dirty="0">
                          <a:solidFill>
                            <a:srgbClr val="3A4658"/>
                          </a:solidFill>
                          <a:latin typeface="Calibri"/>
                          <a:ea typeface="Calibri"/>
                          <a:cs typeface="Calibri"/>
                        </a:rPr>
                        <a:t>Not available</a:t>
                      </a:r>
                    </a:p>
                  </a:txBody>
                  <a:tcPr anchor="ctr">
                    <a:solidFill>
                      <a:srgbClr val="FFFFFF"/>
                    </a:solidFill>
                  </a:tcPr>
                </a:tc>
                <a:tc>
                  <a:txBody>
                    <a:bodyPr/>
                    <a:lstStyle/>
                    <a:p>
                      <a:pPr algn="l"/>
                      <a:r>
                        <a:rPr lang="en-IN" sz="1400">
                          <a:solidFill>
                            <a:srgbClr val="16223A"/>
                          </a:solidFill>
                          <a:latin typeface="Calibri"/>
                          <a:ea typeface="Calibri"/>
                          <a:cs typeface="Calibri"/>
                        </a:rPr>
                        <a:t>Position, load, temperature, voltage feedback</a:t>
                      </a:r>
                    </a:p>
                  </a:txBody>
                  <a:tcPr anchor="ctr">
                    <a:solidFill>
                      <a:srgbClr val="E6F4F6"/>
                    </a:solidFill>
                  </a:tcPr>
                </a:tc>
                <a:extLst>
                  <a:ext uri="{0D108BD9-81ED-4DB2-BD59-A6C34878D82A}">
                    <a16:rowId xmlns:a16="http://schemas.microsoft.com/office/drawing/2014/main" val="3806473319"/>
                  </a:ext>
                </a:extLst>
              </a:tr>
              <a:tr h="524486">
                <a:tc>
                  <a:txBody>
                    <a:bodyPr/>
                    <a:lstStyle/>
                    <a:p>
                      <a:pPr algn="l"/>
                      <a:r>
                        <a:rPr lang="en-IN" sz="1400" b="1">
                          <a:solidFill>
                            <a:srgbClr val="16223A"/>
                          </a:solidFill>
                          <a:latin typeface="Calibri"/>
                          <a:ea typeface="Calibri"/>
                          <a:cs typeface="Calibri"/>
                        </a:rPr>
                        <a:t>Controller</a:t>
                      </a:r>
                    </a:p>
                  </a:txBody>
                  <a:tcPr anchor="ctr">
                    <a:solidFill>
                      <a:srgbClr val="F4F6F9"/>
                    </a:solidFill>
                  </a:tcPr>
                </a:tc>
                <a:tc>
                  <a:txBody>
                    <a:bodyPr/>
                    <a:lstStyle/>
                    <a:p>
                      <a:pPr algn="l"/>
                      <a:r>
                        <a:rPr lang="en-IN" sz="1400" dirty="0">
                          <a:solidFill>
                            <a:srgbClr val="3A4658"/>
                          </a:solidFill>
                          <a:latin typeface="Calibri"/>
                          <a:ea typeface="Calibri"/>
                          <a:cs typeface="Calibri"/>
                        </a:rPr>
                        <a:t>External controller required</a:t>
                      </a:r>
                    </a:p>
                  </a:txBody>
                  <a:tcPr anchor="ctr">
                    <a:solidFill>
                      <a:srgbClr val="FFFFFF"/>
                    </a:solidFill>
                  </a:tcPr>
                </a:tc>
                <a:tc>
                  <a:txBody>
                    <a:bodyPr/>
                    <a:lstStyle/>
                    <a:p>
                      <a:pPr algn="l"/>
                      <a:r>
                        <a:rPr lang="en-IN" sz="1400" dirty="0">
                          <a:solidFill>
                            <a:srgbClr val="16223A"/>
                          </a:solidFill>
                          <a:latin typeface="Calibri"/>
                          <a:ea typeface="Calibri"/>
                          <a:cs typeface="Calibri"/>
                        </a:rPr>
                        <a:t>Built-in controller</a:t>
                      </a:r>
                    </a:p>
                  </a:txBody>
                  <a:tcPr anchor="ctr">
                    <a:solidFill>
                      <a:srgbClr val="E6F4F6"/>
                    </a:solidFill>
                  </a:tcPr>
                </a:tc>
                <a:extLst>
                  <a:ext uri="{0D108BD9-81ED-4DB2-BD59-A6C34878D82A}">
                    <a16:rowId xmlns:a16="http://schemas.microsoft.com/office/drawing/2014/main" val="4040244787"/>
                  </a:ext>
                </a:extLst>
              </a:tr>
              <a:tr h="524486">
                <a:tc>
                  <a:txBody>
                    <a:bodyPr/>
                    <a:lstStyle/>
                    <a:p>
                      <a:pPr algn="l"/>
                      <a:r>
                        <a:rPr lang="en-IN" sz="1400" b="1">
                          <a:solidFill>
                            <a:srgbClr val="16223A"/>
                          </a:solidFill>
                          <a:latin typeface="Calibri"/>
                          <a:ea typeface="Calibri"/>
                          <a:cs typeface="Calibri"/>
                        </a:rPr>
                        <a:t>Scalability</a:t>
                      </a:r>
                    </a:p>
                  </a:txBody>
                  <a:tcPr anchor="ctr">
                    <a:solidFill>
                      <a:srgbClr val="F4F6F9"/>
                    </a:solidFill>
                  </a:tcPr>
                </a:tc>
                <a:tc>
                  <a:txBody>
                    <a:bodyPr/>
                    <a:lstStyle/>
                    <a:p>
                      <a:pPr algn="l"/>
                      <a:r>
                        <a:rPr lang="en-IN" sz="1400" dirty="0">
                          <a:solidFill>
                            <a:srgbClr val="3A4658"/>
                          </a:solidFill>
                          <a:latin typeface="Calibri"/>
                          <a:ea typeface="Calibri"/>
                          <a:cs typeface="Calibri"/>
                        </a:rPr>
                        <a:t>Difficult for many joints</a:t>
                      </a:r>
                    </a:p>
                  </a:txBody>
                  <a:tcPr anchor="ctr">
                    <a:solidFill>
                      <a:srgbClr val="FFFFFF"/>
                    </a:solidFill>
                  </a:tcPr>
                </a:tc>
                <a:tc>
                  <a:txBody>
                    <a:bodyPr/>
                    <a:lstStyle/>
                    <a:p>
                      <a:pPr algn="l"/>
                      <a:r>
                        <a:rPr lang="en-IN" sz="1400" dirty="0">
                          <a:solidFill>
                            <a:srgbClr val="16223A"/>
                          </a:solidFill>
                          <a:latin typeface="Calibri"/>
                          <a:ea typeface="Calibri"/>
                          <a:cs typeface="Calibri"/>
                        </a:rPr>
                        <a:t>Designed for multi-joint robots</a:t>
                      </a:r>
                    </a:p>
                  </a:txBody>
                  <a:tcPr anchor="ctr">
                    <a:solidFill>
                      <a:srgbClr val="E6F4F6"/>
                    </a:solidFill>
                  </a:tcPr>
                </a:tc>
                <a:extLst>
                  <a:ext uri="{0D108BD9-81ED-4DB2-BD59-A6C34878D82A}">
                    <a16:rowId xmlns:a16="http://schemas.microsoft.com/office/drawing/2014/main" val="2401347979"/>
                  </a:ext>
                </a:extLst>
              </a:tr>
              <a:tr h="524486">
                <a:tc>
                  <a:txBody>
                    <a:bodyPr/>
                    <a:lstStyle/>
                    <a:p>
                      <a:pPr algn="l"/>
                      <a:r>
                        <a:rPr lang="en-IN" sz="1400" b="1">
                          <a:solidFill>
                            <a:srgbClr val="16223A"/>
                          </a:solidFill>
                          <a:latin typeface="Calibri"/>
                          <a:ea typeface="Calibri"/>
                          <a:cs typeface="Calibri"/>
                        </a:rPr>
                        <a:t>Precision</a:t>
                      </a:r>
                    </a:p>
                  </a:txBody>
                  <a:tcPr anchor="ctr">
                    <a:solidFill>
                      <a:srgbClr val="F4F6F9"/>
                    </a:solidFill>
                  </a:tcPr>
                </a:tc>
                <a:tc>
                  <a:txBody>
                    <a:bodyPr/>
                    <a:lstStyle/>
                    <a:p>
                      <a:pPr algn="l"/>
                      <a:r>
                        <a:rPr lang="en-IN" sz="1400" dirty="0">
                          <a:solidFill>
                            <a:srgbClr val="3A4658"/>
                          </a:solidFill>
                          <a:latin typeface="Calibri"/>
                          <a:ea typeface="Calibri"/>
                          <a:cs typeface="Calibri"/>
                        </a:rPr>
                        <a:t>Moderate</a:t>
                      </a:r>
                    </a:p>
                  </a:txBody>
                  <a:tcPr anchor="ctr">
                    <a:solidFill>
                      <a:srgbClr val="FFFFFF"/>
                    </a:solidFill>
                  </a:tcPr>
                </a:tc>
                <a:tc>
                  <a:txBody>
                    <a:bodyPr/>
                    <a:lstStyle/>
                    <a:p>
                      <a:pPr algn="l"/>
                      <a:r>
                        <a:rPr lang="en-IN" sz="1400" dirty="0">
                          <a:solidFill>
                            <a:srgbClr val="16223A"/>
                          </a:solidFill>
                          <a:latin typeface="Calibri"/>
                          <a:ea typeface="Calibri"/>
                          <a:cs typeface="Calibri"/>
                        </a:rPr>
                        <a:t>High</a:t>
                      </a:r>
                    </a:p>
                  </a:txBody>
                  <a:tcPr anchor="ctr">
                    <a:solidFill>
                      <a:srgbClr val="E6F4F6"/>
                    </a:solidFill>
                  </a:tcPr>
                </a:tc>
                <a:extLst>
                  <a:ext uri="{0D108BD9-81ED-4DB2-BD59-A6C34878D82A}">
                    <a16:rowId xmlns:a16="http://schemas.microsoft.com/office/drawing/2014/main" val="2339067859"/>
                  </a:ext>
                </a:extLst>
              </a:tr>
              <a:tr h="524486">
                <a:tc>
                  <a:txBody>
                    <a:bodyPr/>
                    <a:lstStyle/>
                    <a:p>
                      <a:pPr algn="l"/>
                      <a:r>
                        <a:rPr lang="en-IN" sz="1400" b="1" dirty="0">
                          <a:solidFill>
                            <a:srgbClr val="16223A"/>
                          </a:solidFill>
                          <a:latin typeface="Calibri"/>
                          <a:ea typeface="Calibri"/>
                          <a:cs typeface="Calibri"/>
                        </a:rPr>
                        <a:t>Robotics Applications</a:t>
                      </a:r>
                    </a:p>
                  </a:txBody>
                  <a:tcPr anchor="ctr">
                    <a:solidFill>
                      <a:srgbClr val="F4F6F9"/>
                    </a:solidFill>
                  </a:tcPr>
                </a:tc>
                <a:tc>
                  <a:txBody>
                    <a:bodyPr/>
                    <a:lstStyle/>
                    <a:p>
                      <a:pPr algn="l"/>
                      <a:r>
                        <a:rPr lang="en-IN" sz="1400" dirty="0">
                          <a:solidFill>
                            <a:srgbClr val="3A4658"/>
                          </a:solidFill>
                          <a:latin typeface="Calibri"/>
                          <a:ea typeface="Calibri"/>
                          <a:cs typeface="Calibri"/>
                        </a:rPr>
                        <a:t>Hobby projects</a:t>
                      </a:r>
                    </a:p>
                  </a:txBody>
                  <a:tcPr anchor="ctr">
                    <a:solidFill>
                      <a:srgbClr val="FFFFFF"/>
                    </a:solidFill>
                  </a:tcPr>
                </a:tc>
                <a:tc>
                  <a:txBody>
                    <a:bodyPr/>
                    <a:lstStyle/>
                    <a:p>
                      <a:pPr algn="l"/>
                      <a:r>
                        <a:rPr lang="en-IN" sz="1400" dirty="0">
                          <a:solidFill>
                            <a:srgbClr val="16223A"/>
                          </a:solidFill>
                          <a:latin typeface="Calibri"/>
                          <a:ea typeface="Calibri"/>
                          <a:cs typeface="Calibri"/>
                        </a:rPr>
                        <a:t>Research and industrial robotics</a:t>
                      </a:r>
                    </a:p>
                  </a:txBody>
                  <a:tcPr anchor="ctr">
                    <a:solidFill>
                      <a:srgbClr val="E6F4F6"/>
                    </a:solidFill>
                  </a:tcPr>
                </a:tc>
                <a:extLst>
                  <a:ext uri="{0D108BD9-81ED-4DB2-BD59-A6C34878D82A}">
                    <a16:rowId xmlns:a16="http://schemas.microsoft.com/office/drawing/2014/main" val="1084950083"/>
                  </a:ext>
                </a:extLst>
              </a:tr>
            </a:tbl>
          </a:graphicData>
        </a:graphic>
      </p:graphicFrame>
      <p:pic>
        <p:nvPicPr>
          <p:cNvPr id="9" name="Picture 8">
            <a:extLst>
              <a:ext uri="{FF2B5EF4-FFF2-40B4-BE49-F238E27FC236}">
                <a16:creationId xmlns:a16="http://schemas.microsoft.com/office/drawing/2014/main" id="{62BB27E5-1A94-7525-BF59-74EF6B337C81}"/>
              </a:ext>
            </a:extLst>
          </p:cNvPr>
          <p:cNvPicPr>
            <a:picLocks noChangeAspect="1"/>
          </p:cNvPicPr>
          <p:nvPr/>
        </p:nvPicPr>
        <p:blipFill>
          <a:blip r:embed="rId2"/>
          <a:stretch>
            <a:fillRect/>
          </a:stretch>
        </p:blipFill>
        <p:spPr>
          <a:xfrm>
            <a:off x="5968999" y="5866228"/>
            <a:ext cx="1676791" cy="915572"/>
          </a:xfrm>
          <a:prstGeom prst="rect">
            <a:avLst/>
          </a:prstGeom>
        </p:spPr>
      </p:pic>
      <p:pic>
        <p:nvPicPr>
          <p:cNvPr id="11" name="Picture 10">
            <a:extLst>
              <a:ext uri="{FF2B5EF4-FFF2-40B4-BE49-F238E27FC236}">
                <a16:creationId xmlns:a16="http://schemas.microsoft.com/office/drawing/2014/main" id="{C8D52D7D-EF94-EEFF-57BE-DFBE3ED682EB}"/>
              </a:ext>
            </a:extLst>
          </p:cNvPr>
          <p:cNvPicPr>
            <a:picLocks noChangeAspect="1"/>
          </p:cNvPicPr>
          <p:nvPr/>
        </p:nvPicPr>
        <p:blipFill>
          <a:blip r:embed="rId3"/>
          <a:stretch>
            <a:fillRect/>
          </a:stretch>
        </p:blipFill>
        <p:spPr>
          <a:xfrm>
            <a:off x="8932985" y="5765902"/>
            <a:ext cx="1485105" cy="1015898"/>
          </a:xfrm>
          <a:prstGeom prst="rect">
            <a:avLst/>
          </a:prstGeom>
        </p:spPr>
      </p:pic>
    </p:spTree>
    <p:extLst>
      <p:ext uri="{BB962C8B-B14F-4D97-AF65-F5344CB8AC3E}">
        <p14:creationId xmlns:p14="http://schemas.microsoft.com/office/powerpoint/2010/main" val="4284226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eftCard">
            <a:extLst>
              <a:ext uri="{FF2B5EF4-FFF2-40B4-BE49-F238E27FC236}">
                <a16:creationId xmlns:a16="http://schemas.microsoft.com/office/drawing/2014/main" id="{0056E78F-92D5-4262-AAF1-277172916451}"/>
              </a:ext>
            </a:extLst>
          </p:cNvPr>
          <p:cNvSpPr/>
          <p:nvPr/>
        </p:nvSpPr>
        <p:spPr>
          <a:xfrm>
            <a:off x="5461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RightCard">
            <a:extLst>
              <a:ext uri="{FF2B5EF4-FFF2-40B4-BE49-F238E27FC236}">
                <a16:creationId xmlns:a16="http://schemas.microsoft.com/office/drawing/2014/main" id="{24DBE37A-9E70-4159-95DD-2B494C422BC7}"/>
              </a:ext>
            </a:extLst>
          </p:cNvPr>
          <p:cNvSpPr/>
          <p:nvPr/>
        </p:nvSpPr>
        <p:spPr>
          <a:xfrm>
            <a:off x="63119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LearnCard">
            <a:extLst>
              <a:ext uri="{FF2B5EF4-FFF2-40B4-BE49-F238E27FC236}">
                <a16:creationId xmlns:a16="http://schemas.microsoft.com/office/drawing/2014/main" id="{945938B6-711B-47B7-94C3-12F7938EAA96}"/>
              </a:ext>
            </a:extLst>
          </p:cNvPr>
          <p:cNvSpPr/>
          <p:nvPr/>
        </p:nvSpPr>
        <p:spPr>
          <a:xfrm>
            <a:off x="546100" y="3657600"/>
            <a:ext cx="5334000" cy="27432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DecCard">
            <a:extLst>
              <a:ext uri="{FF2B5EF4-FFF2-40B4-BE49-F238E27FC236}">
                <a16:creationId xmlns:a16="http://schemas.microsoft.com/office/drawing/2014/main" id="{769BC5B9-3C4D-4227-8B3B-8FACD1E290E0}"/>
              </a:ext>
            </a:extLst>
          </p:cNvPr>
          <p:cNvSpPr/>
          <p:nvPr/>
        </p:nvSpPr>
        <p:spPr>
          <a:xfrm>
            <a:off x="6311900" y="3657600"/>
            <a:ext cx="5334000" cy="2743200"/>
          </a:xfrm>
          <a:prstGeom prst="round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EyebrowB">
            <a:extLst>
              <a:ext uri="{FF2B5EF4-FFF2-40B4-BE49-F238E27FC236}">
                <a16:creationId xmlns:a16="http://schemas.microsoft.com/office/drawing/2014/main" id="{0132597A-8662-4681-BE67-71F52E66C72F}"/>
              </a:ext>
            </a:extLst>
          </p:cNvPr>
          <p:cNvSpPr txBox="1"/>
          <p:nvPr/>
        </p:nvSpPr>
        <p:spPr>
          <a:xfrm>
            <a:off x="546100" y="381000"/>
            <a:ext cx="10414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ARCHITECTURE &amp; DECISION</a:t>
            </a:r>
          </a:p>
        </p:txBody>
      </p:sp>
      <p:sp>
        <p:nvSpPr>
          <p:cNvPr id="7" name="TitleB">
            <a:extLst>
              <a:ext uri="{FF2B5EF4-FFF2-40B4-BE49-F238E27FC236}">
                <a16:creationId xmlns:a16="http://schemas.microsoft.com/office/drawing/2014/main" id="{46AB9848-941D-4FEF-BEB1-1414EB9FBE78}"/>
              </a:ext>
            </a:extLst>
          </p:cNvPr>
          <p:cNvSpPr txBox="1"/>
          <p:nvPr/>
        </p:nvSpPr>
        <p:spPr>
          <a:xfrm>
            <a:off x="533400" y="635000"/>
            <a:ext cx="11049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Daisy-Chain Architecture &amp; Final Selection</a:t>
            </a:r>
          </a:p>
        </p:txBody>
      </p:sp>
      <p:sp>
        <p:nvSpPr>
          <p:cNvPr id="8" name="ServoGlyphBody">
            <a:extLst>
              <a:ext uri="{FF2B5EF4-FFF2-40B4-BE49-F238E27FC236}">
                <a16:creationId xmlns:a16="http://schemas.microsoft.com/office/drawing/2014/main" id="{8A03D9A3-2075-450B-B675-A74D30FE9A88}"/>
              </a:ext>
            </a:extLst>
          </p:cNvPr>
          <p:cNvSpPr/>
          <p:nvPr/>
        </p:nvSpPr>
        <p:spPr>
          <a:xfrm>
            <a:off x="762000" y="1498600"/>
            <a:ext cx="304800" cy="228600"/>
          </a:xfrm>
          <a:prstGeom prst="roundRect">
            <a:avLst/>
          </a:prstGeom>
          <a:solidFill>
            <a:srgbClr val="5A647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9" name="ServoGlyphHorn">
            <a:extLst>
              <a:ext uri="{FF2B5EF4-FFF2-40B4-BE49-F238E27FC236}">
                <a16:creationId xmlns:a16="http://schemas.microsoft.com/office/drawing/2014/main" id="{DB2656A8-5200-4995-950C-8E582F0047DC}"/>
              </a:ext>
            </a:extLst>
          </p:cNvPr>
          <p:cNvSpPr/>
          <p:nvPr/>
        </p:nvSpPr>
        <p:spPr>
          <a:xfrm>
            <a:off x="850900" y="1435100"/>
            <a:ext cx="127000" cy="114300"/>
          </a:xfrm>
          <a:prstGeom prst="ellipse">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0" name="LeftTitle">
            <a:extLst>
              <a:ext uri="{FF2B5EF4-FFF2-40B4-BE49-F238E27FC236}">
                <a16:creationId xmlns:a16="http://schemas.microsoft.com/office/drawing/2014/main" id="{F5221BA7-BF56-4458-9848-3FCF2A8E96ED}"/>
              </a:ext>
            </a:extLst>
          </p:cNvPr>
          <p:cNvSpPr txBox="1"/>
          <p:nvPr/>
        </p:nvSpPr>
        <p:spPr>
          <a:xfrm>
            <a:off x="1168400" y="1473200"/>
            <a:ext cx="4572000" cy="279400"/>
          </a:xfrm>
          <a:prstGeom prst="rect">
            <a:avLst/>
          </a:prstGeom>
          <a:noFill/>
        </p:spPr>
        <p:txBody>
          <a:bodyPr vertOverflow="overflow" vert="horz" wrap="square" rtlCol="0" anchor="t" anchorCtr="0">
            <a:noAutofit/>
          </a:bodyPr>
          <a:lstStyle/>
          <a:p>
            <a:pPr marL="0" indent="0">
              <a:buNone/>
            </a:pPr>
            <a:r>
              <a:rPr lang="en-US" sz="1350" b="1" dirty="0">
                <a:solidFill>
                  <a:srgbClr val="16223A"/>
                </a:solidFill>
                <a:latin typeface="Calibri" pitchFamily="34" charset="0"/>
              </a:rPr>
              <a:t>Conventional Servo — Separate Wiring</a:t>
            </a:r>
          </a:p>
        </p:txBody>
      </p:sp>
      <p:sp>
        <p:nvSpPr>
          <p:cNvPr id="11" name="CtrlL">
            <a:extLst>
              <a:ext uri="{FF2B5EF4-FFF2-40B4-BE49-F238E27FC236}">
                <a16:creationId xmlns:a16="http://schemas.microsoft.com/office/drawing/2014/main" id="{E0569885-D4FA-4DD4-9A3F-1E29F3533E47}"/>
              </a:ext>
            </a:extLst>
          </p:cNvPr>
          <p:cNvSpPr/>
          <p:nvPr/>
        </p:nvSpPr>
        <p:spPr>
          <a:xfrm>
            <a:off x="800100" y="2184400"/>
            <a:ext cx="1066800" cy="6858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Controller</a:t>
            </a:r>
          </a:p>
        </p:txBody>
      </p:sp>
      <p:sp>
        <p:nvSpPr>
          <p:cNvPr id="12" name="BusV">
            <a:extLst>
              <a:ext uri="{FF2B5EF4-FFF2-40B4-BE49-F238E27FC236}">
                <a16:creationId xmlns:a16="http://schemas.microsoft.com/office/drawing/2014/main" id="{02527D18-7BCF-41AE-AD08-927C1540483A}"/>
              </a:ext>
            </a:extLst>
          </p:cNvPr>
          <p:cNvSpPr/>
          <p:nvPr/>
        </p:nvSpPr>
        <p:spPr>
          <a:xfrm>
            <a:off x="1905000" y="2032000"/>
            <a:ext cx="38100" cy="9906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3" name="CtrlBus">
            <a:extLst>
              <a:ext uri="{FF2B5EF4-FFF2-40B4-BE49-F238E27FC236}">
                <a16:creationId xmlns:a16="http://schemas.microsoft.com/office/drawing/2014/main" id="{1CE24EE8-02CD-44D4-B87F-12FCB67D908F}"/>
              </a:ext>
            </a:extLst>
          </p:cNvPr>
          <p:cNvSpPr/>
          <p:nvPr/>
        </p:nvSpPr>
        <p:spPr>
          <a:xfrm>
            <a:off x="1866900" y="2527300"/>
            <a:ext cx="762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Stub0">
            <a:extLst>
              <a:ext uri="{FF2B5EF4-FFF2-40B4-BE49-F238E27FC236}">
                <a16:creationId xmlns:a16="http://schemas.microsoft.com/office/drawing/2014/main" id="{A9C20F89-A278-4DB5-8A0F-545E206D3B94}"/>
              </a:ext>
            </a:extLst>
          </p:cNvPr>
          <p:cNvSpPr/>
          <p:nvPr/>
        </p:nvSpPr>
        <p:spPr>
          <a:xfrm>
            <a:off x="1943100" y="20193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5" name="Servo0">
            <a:extLst>
              <a:ext uri="{FF2B5EF4-FFF2-40B4-BE49-F238E27FC236}">
                <a16:creationId xmlns:a16="http://schemas.microsoft.com/office/drawing/2014/main" id="{FE0E4700-8C3C-42D9-84F1-E6C73B1DD53A}"/>
              </a:ext>
            </a:extLst>
          </p:cNvPr>
          <p:cNvSpPr/>
          <p:nvPr/>
        </p:nvSpPr>
        <p:spPr>
          <a:xfrm>
            <a:off x="3810000" y="19050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1</a:t>
            </a:r>
          </a:p>
        </p:txBody>
      </p:sp>
      <p:sp>
        <p:nvSpPr>
          <p:cNvPr id="16" name="Stub1">
            <a:extLst>
              <a:ext uri="{FF2B5EF4-FFF2-40B4-BE49-F238E27FC236}">
                <a16:creationId xmlns:a16="http://schemas.microsoft.com/office/drawing/2014/main" id="{814852D2-A9D9-48F2-88CF-C20F3BDEBC7E}"/>
              </a:ext>
            </a:extLst>
          </p:cNvPr>
          <p:cNvSpPr/>
          <p:nvPr/>
        </p:nvSpPr>
        <p:spPr>
          <a:xfrm>
            <a:off x="1943100" y="23495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Servo1">
            <a:extLst>
              <a:ext uri="{FF2B5EF4-FFF2-40B4-BE49-F238E27FC236}">
                <a16:creationId xmlns:a16="http://schemas.microsoft.com/office/drawing/2014/main" id="{CAEAB1FD-0CEA-4D2C-AEF7-0FF176392BDC}"/>
              </a:ext>
            </a:extLst>
          </p:cNvPr>
          <p:cNvSpPr/>
          <p:nvPr/>
        </p:nvSpPr>
        <p:spPr>
          <a:xfrm>
            <a:off x="3810000" y="22352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2</a:t>
            </a:r>
          </a:p>
        </p:txBody>
      </p:sp>
      <p:sp>
        <p:nvSpPr>
          <p:cNvPr id="18" name="Stub2">
            <a:extLst>
              <a:ext uri="{FF2B5EF4-FFF2-40B4-BE49-F238E27FC236}">
                <a16:creationId xmlns:a16="http://schemas.microsoft.com/office/drawing/2014/main" id="{EB319E6F-F90C-43F4-9030-6DB43A605F2E}"/>
              </a:ext>
            </a:extLst>
          </p:cNvPr>
          <p:cNvSpPr/>
          <p:nvPr/>
        </p:nvSpPr>
        <p:spPr>
          <a:xfrm>
            <a:off x="1943100" y="26797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9" name="Servo2">
            <a:extLst>
              <a:ext uri="{FF2B5EF4-FFF2-40B4-BE49-F238E27FC236}">
                <a16:creationId xmlns:a16="http://schemas.microsoft.com/office/drawing/2014/main" id="{76E772AE-A541-49C3-B4C3-B05CCE714E7C}"/>
              </a:ext>
            </a:extLst>
          </p:cNvPr>
          <p:cNvSpPr/>
          <p:nvPr/>
        </p:nvSpPr>
        <p:spPr>
          <a:xfrm>
            <a:off x="3810000" y="25654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3</a:t>
            </a:r>
          </a:p>
        </p:txBody>
      </p:sp>
      <p:sp>
        <p:nvSpPr>
          <p:cNvPr id="20" name="Stub3">
            <a:extLst>
              <a:ext uri="{FF2B5EF4-FFF2-40B4-BE49-F238E27FC236}">
                <a16:creationId xmlns:a16="http://schemas.microsoft.com/office/drawing/2014/main" id="{B02FBDF1-8D37-4D56-8B5D-B0C727AEC152}"/>
              </a:ext>
            </a:extLst>
          </p:cNvPr>
          <p:cNvSpPr/>
          <p:nvPr/>
        </p:nvSpPr>
        <p:spPr>
          <a:xfrm>
            <a:off x="1943100" y="30099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1" name="Servo3">
            <a:extLst>
              <a:ext uri="{FF2B5EF4-FFF2-40B4-BE49-F238E27FC236}">
                <a16:creationId xmlns:a16="http://schemas.microsoft.com/office/drawing/2014/main" id="{77B767ED-463D-48E9-99C3-6473A23AD437}"/>
              </a:ext>
            </a:extLst>
          </p:cNvPr>
          <p:cNvSpPr/>
          <p:nvPr/>
        </p:nvSpPr>
        <p:spPr>
          <a:xfrm>
            <a:off x="3810000" y="28956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4</a:t>
            </a:r>
          </a:p>
        </p:txBody>
      </p:sp>
      <p:sp>
        <p:nvSpPr>
          <p:cNvPr id="22" name="LeftCap">
            <a:extLst>
              <a:ext uri="{FF2B5EF4-FFF2-40B4-BE49-F238E27FC236}">
                <a16:creationId xmlns:a16="http://schemas.microsoft.com/office/drawing/2014/main" id="{9EC08625-1DD4-4DAA-8C00-FBCBF71DFEB5}"/>
              </a:ext>
            </a:extLst>
          </p:cNvPr>
          <p:cNvSpPr txBox="1"/>
          <p:nvPr/>
        </p:nvSpPr>
        <p:spPr>
          <a:xfrm>
            <a:off x="762000" y="3238500"/>
            <a:ext cx="5080000" cy="228600"/>
          </a:xfrm>
          <a:prstGeom prst="rect">
            <a:avLst/>
          </a:prstGeom>
          <a:noFill/>
        </p:spPr>
        <p:txBody>
          <a:bodyPr vertOverflow="overflow" vert="horz" wrap="square" rtlCol="0" anchor="t" anchorCtr="0">
            <a:noAutofit/>
          </a:bodyPr>
          <a:lstStyle/>
          <a:p>
            <a:pPr marL="0" indent="0">
              <a:buNone/>
            </a:pPr>
            <a:r>
              <a:rPr lang="en-US" sz="1400" dirty="0">
                <a:solidFill>
                  <a:srgbClr val="3A4658"/>
                </a:solidFill>
                <a:latin typeface="Calibri" pitchFamily="34" charset="0"/>
              </a:rPr>
              <a:t>Every motor needs its own signal wire back to the controller.</a:t>
            </a:r>
          </a:p>
        </p:txBody>
      </p:sp>
      <p:sp>
        <p:nvSpPr>
          <p:cNvPr id="23" name="XLGlyphBody">
            <a:extLst>
              <a:ext uri="{FF2B5EF4-FFF2-40B4-BE49-F238E27FC236}">
                <a16:creationId xmlns:a16="http://schemas.microsoft.com/office/drawing/2014/main" id="{C8E18AD2-F4A3-40BC-87F2-BED483297313}"/>
              </a:ext>
            </a:extLst>
          </p:cNvPr>
          <p:cNvSpPr/>
          <p:nvPr/>
        </p:nvSpPr>
        <p:spPr>
          <a:xfrm>
            <a:off x="6527800" y="1473200"/>
            <a:ext cx="254000" cy="254000"/>
          </a:xfrm>
          <a:prstGeom prst="round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4" name="XLGlyphHorn">
            <a:extLst>
              <a:ext uri="{FF2B5EF4-FFF2-40B4-BE49-F238E27FC236}">
                <a16:creationId xmlns:a16="http://schemas.microsoft.com/office/drawing/2014/main" id="{7FC80302-C31A-4BBF-A9FA-3633069FB1AC}"/>
              </a:ext>
            </a:extLst>
          </p:cNvPr>
          <p:cNvSpPr/>
          <p:nvPr/>
        </p:nvSpPr>
        <p:spPr>
          <a:xfrm>
            <a:off x="6604000" y="1549400"/>
            <a:ext cx="101600" cy="101600"/>
          </a:xfrm>
          <a:prstGeom prst="ellipse">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5" name="RightTitle">
            <a:extLst>
              <a:ext uri="{FF2B5EF4-FFF2-40B4-BE49-F238E27FC236}">
                <a16:creationId xmlns:a16="http://schemas.microsoft.com/office/drawing/2014/main" id="{4455D221-E0A3-42F1-BA92-A0B9855B4D16}"/>
              </a:ext>
            </a:extLst>
          </p:cNvPr>
          <p:cNvSpPr txBox="1"/>
          <p:nvPr/>
        </p:nvSpPr>
        <p:spPr>
          <a:xfrm>
            <a:off x="6883400" y="1473200"/>
            <a:ext cx="4699000" cy="279400"/>
          </a:xfrm>
          <a:prstGeom prst="rect">
            <a:avLst/>
          </a:prstGeom>
          <a:noFill/>
        </p:spPr>
        <p:txBody>
          <a:bodyPr vertOverflow="overflow" vert="horz" wrap="square" rtlCol="0" anchor="t" anchorCtr="0">
            <a:noAutofit/>
          </a:bodyPr>
          <a:lstStyle/>
          <a:p>
            <a:pPr marL="0" indent="0">
              <a:buNone/>
            </a:pPr>
            <a:r>
              <a:rPr lang="en-US" sz="1350" b="1" dirty="0">
                <a:solidFill>
                  <a:srgbClr val="0E96AC"/>
                </a:solidFill>
                <a:latin typeface="Calibri" pitchFamily="34" charset="0"/>
              </a:rPr>
              <a:t>Dynamixel — Daisy-Chain</a:t>
            </a:r>
          </a:p>
        </p:txBody>
      </p:sp>
      <p:sp>
        <p:nvSpPr>
          <p:cNvPr id="26" name="CtrlR">
            <a:extLst>
              <a:ext uri="{FF2B5EF4-FFF2-40B4-BE49-F238E27FC236}">
                <a16:creationId xmlns:a16="http://schemas.microsoft.com/office/drawing/2014/main" id="{93A5EAD7-35C9-42DC-A970-DE541959CA8C}"/>
              </a:ext>
            </a:extLst>
          </p:cNvPr>
          <p:cNvSpPr/>
          <p:nvPr/>
        </p:nvSpPr>
        <p:spPr>
          <a:xfrm>
            <a:off x="6502400" y="2438400"/>
            <a:ext cx="736600" cy="5842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Ctrl</a:t>
            </a:r>
          </a:p>
        </p:txBody>
      </p:sp>
      <p:sp>
        <p:nvSpPr>
          <p:cNvPr id="27" name="M0">
            <a:extLst>
              <a:ext uri="{FF2B5EF4-FFF2-40B4-BE49-F238E27FC236}">
                <a16:creationId xmlns:a16="http://schemas.microsoft.com/office/drawing/2014/main" id="{4CB46D67-A245-439A-902D-801546B8D4D1}"/>
              </a:ext>
            </a:extLst>
          </p:cNvPr>
          <p:cNvSpPr/>
          <p:nvPr/>
        </p:nvSpPr>
        <p:spPr>
          <a:xfrm>
            <a:off x="75692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M1</a:t>
            </a:r>
          </a:p>
        </p:txBody>
      </p:sp>
      <p:sp>
        <p:nvSpPr>
          <p:cNvPr id="28" name="M1">
            <a:extLst>
              <a:ext uri="{FF2B5EF4-FFF2-40B4-BE49-F238E27FC236}">
                <a16:creationId xmlns:a16="http://schemas.microsoft.com/office/drawing/2014/main" id="{45FEF653-99C3-4FEF-B454-B3E087841AE7}"/>
              </a:ext>
            </a:extLst>
          </p:cNvPr>
          <p:cNvSpPr/>
          <p:nvPr/>
        </p:nvSpPr>
        <p:spPr>
          <a:xfrm>
            <a:off x="85598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M2</a:t>
            </a:r>
          </a:p>
        </p:txBody>
      </p:sp>
      <p:sp>
        <p:nvSpPr>
          <p:cNvPr id="29" name="M2">
            <a:extLst>
              <a:ext uri="{FF2B5EF4-FFF2-40B4-BE49-F238E27FC236}">
                <a16:creationId xmlns:a16="http://schemas.microsoft.com/office/drawing/2014/main" id="{A74F96EC-B6BB-422E-8C35-E10D91EB265A}"/>
              </a:ext>
            </a:extLst>
          </p:cNvPr>
          <p:cNvSpPr/>
          <p:nvPr/>
        </p:nvSpPr>
        <p:spPr>
          <a:xfrm>
            <a:off x="95504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M3</a:t>
            </a:r>
          </a:p>
        </p:txBody>
      </p:sp>
      <p:sp>
        <p:nvSpPr>
          <p:cNvPr id="30" name="M3">
            <a:extLst>
              <a:ext uri="{FF2B5EF4-FFF2-40B4-BE49-F238E27FC236}">
                <a16:creationId xmlns:a16="http://schemas.microsoft.com/office/drawing/2014/main" id="{A9620D07-EC3B-42BC-9AE1-D164B351DF4C}"/>
              </a:ext>
            </a:extLst>
          </p:cNvPr>
          <p:cNvSpPr/>
          <p:nvPr/>
        </p:nvSpPr>
        <p:spPr>
          <a:xfrm>
            <a:off x="105410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M4</a:t>
            </a:r>
          </a:p>
        </p:txBody>
      </p:sp>
      <p:sp>
        <p:nvSpPr>
          <p:cNvPr id="31" name="Arr0">
            <a:extLst>
              <a:ext uri="{FF2B5EF4-FFF2-40B4-BE49-F238E27FC236}">
                <a16:creationId xmlns:a16="http://schemas.microsoft.com/office/drawing/2014/main" id="{854A53CA-17C5-4CFF-ADCF-E59608ACE438}"/>
              </a:ext>
            </a:extLst>
          </p:cNvPr>
          <p:cNvSpPr/>
          <p:nvPr/>
        </p:nvSpPr>
        <p:spPr>
          <a:xfrm>
            <a:off x="72644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2" name="Arr1">
            <a:extLst>
              <a:ext uri="{FF2B5EF4-FFF2-40B4-BE49-F238E27FC236}">
                <a16:creationId xmlns:a16="http://schemas.microsoft.com/office/drawing/2014/main" id="{011F0A9F-950A-45D7-A79A-BADB16577606}"/>
              </a:ext>
            </a:extLst>
          </p:cNvPr>
          <p:cNvSpPr/>
          <p:nvPr/>
        </p:nvSpPr>
        <p:spPr>
          <a:xfrm>
            <a:off x="82550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3" name="Arr2">
            <a:extLst>
              <a:ext uri="{FF2B5EF4-FFF2-40B4-BE49-F238E27FC236}">
                <a16:creationId xmlns:a16="http://schemas.microsoft.com/office/drawing/2014/main" id="{65FD6BA2-FF5F-400F-8B69-726189B56862}"/>
              </a:ext>
            </a:extLst>
          </p:cNvPr>
          <p:cNvSpPr/>
          <p:nvPr/>
        </p:nvSpPr>
        <p:spPr>
          <a:xfrm>
            <a:off x="92456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4" name="Arr3">
            <a:extLst>
              <a:ext uri="{FF2B5EF4-FFF2-40B4-BE49-F238E27FC236}">
                <a16:creationId xmlns:a16="http://schemas.microsoft.com/office/drawing/2014/main" id="{EF0861AC-0B95-4D77-BA3A-39B94625355C}"/>
              </a:ext>
            </a:extLst>
          </p:cNvPr>
          <p:cNvSpPr/>
          <p:nvPr/>
        </p:nvSpPr>
        <p:spPr>
          <a:xfrm>
            <a:off x="102362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ightCap">
            <a:extLst>
              <a:ext uri="{FF2B5EF4-FFF2-40B4-BE49-F238E27FC236}">
                <a16:creationId xmlns:a16="http://schemas.microsoft.com/office/drawing/2014/main" id="{1D352562-1583-4A2A-8FB0-A5F8D6FC580A}"/>
              </a:ext>
            </a:extLst>
          </p:cNvPr>
          <p:cNvSpPr txBox="1"/>
          <p:nvPr/>
        </p:nvSpPr>
        <p:spPr>
          <a:xfrm>
            <a:off x="6527800" y="3251200"/>
            <a:ext cx="5080000" cy="228600"/>
          </a:xfrm>
          <a:prstGeom prst="rect">
            <a:avLst/>
          </a:prstGeom>
          <a:noFill/>
        </p:spPr>
        <p:txBody>
          <a:bodyPr vertOverflow="overflow" vert="horz" wrap="square" rtlCol="0" anchor="t" anchorCtr="0">
            <a:noAutofit/>
          </a:bodyPr>
          <a:lstStyle/>
          <a:p>
            <a:pPr marL="0" indent="0">
              <a:buNone/>
            </a:pPr>
            <a:r>
              <a:rPr lang="en-US" sz="1400" dirty="0">
                <a:solidFill>
                  <a:srgbClr val="3A4658"/>
                </a:solidFill>
                <a:latin typeface="Calibri" pitchFamily="34" charset="0"/>
              </a:rPr>
              <a:t>One cable carries power and data to every joint in sequence.</a:t>
            </a:r>
          </a:p>
        </p:txBody>
      </p:sp>
      <p:sp>
        <p:nvSpPr>
          <p:cNvPr id="36" name="LearnEye">
            <a:extLst>
              <a:ext uri="{FF2B5EF4-FFF2-40B4-BE49-F238E27FC236}">
                <a16:creationId xmlns:a16="http://schemas.microsoft.com/office/drawing/2014/main" id="{A968E41C-DC93-4198-90D6-3BE8A1F7B0D1}"/>
              </a:ext>
            </a:extLst>
          </p:cNvPr>
          <p:cNvSpPr txBox="1"/>
          <p:nvPr/>
        </p:nvSpPr>
        <p:spPr>
          <a:xfrm>
            <a:off x="762000" y="3810000"/>
            <a:ext cx="49022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KEY LEARNINGS</a:t>
            </a:r>
          </a:p>
        </p:txBody>
      </p:sp>
      <p:sp>
        <p:nvSpPr>
          <p:cNvPr id="37" name="LearnBul">
            <a:extLst>
              <a:ext uri="{FF2B5EF4-FFF2-40B4-BE49-F238E27FC236}">
                <a16:creationId xmlns:a16="http://schemas.microsoft.com/office/drawing/2014/main" id="{D174C345-5C6B-4F4C-B12D-913378F38B4A}"/>
              </a:ext>
            </a:extLst>
          </p:cNvPr>
          <p:cNvSpPr txBox="1"/>
          <p:nvPr/>
        </p:nvSpPr>
        <p:spPr>
          <a:xfrm>
            <a:off x="762000" y="4114800"/>
            <a:ext cx="4902200" cy="2159000"/>
          </a:xfrm>
          <a:prstGeom prst="rect">
            <a:avLst/>
          </a:prstGeom>
          <a:noFill/>
        </p:spPr>
        <p:txBody>
          <a:bodyPr vertOverflow="overflow" vert="horz" wrap="square" rtlCol="0" anchor="t" anchorCtr="0">
            <a:noAutofit/>
          </a:bodyPr>
          <a:lstStyle/>
          <a:p>
            <a:pPr marL="200000" indent="-200000">
              <a:spcBef>
                <a:spcPts val="600"/>
              </a:spcBef>
              <a:buClr>
                <a:srgbClr val="0E96AC"/>
              </a:buClr>
              <a:buFont typeface="Arial"/>
              <a:buChar char="•"/>
            </a:pPr>
            <a:r>
              <a:rPr lang="en-US" sz="1400" dirty="0">
                <a:solidFill>
                  <a:srgbClr val="16223A"/>
                </a:solidFill>
                <a:latin typeface="Calibri" pitchFamily="34" charset="0"/>
              </a:rPr>
              <a:t>Daisy-chain wiring sharply cuts cabling and assembly effort.</a:t>
            </a:r>
          </a:p>
          <a:p>
            <a:pPr marL="200000" indent="-200000">
              <a:spcBef>
                <a:spcPts val="600"/>
              </a:spcBef>
              <a:buClr>
                <a:srgbClr val="0E96AC"/>
              </a:buClr>
              <a:buFont typeface="Arial"/>
              <a:buChar char="•"/>
            </a:pPr>
            <a:r>
              <a:rPr lang="en-US" sz="1400" dirty="0">
                <a:solidFill>
                  <a:srgbClr val="16223A"/>
                </a:solidFill>
                <a:latin typeface="Calibri" pitchFamily="34" charset="0"/>
              </a:rPr>
              <a:t>A controller built into every motor simplifies integration.</a:t>
            </a:r>
          </a:p>
          <a:p>
            <a:pPr marL="200000" indent="-200000">
              <a:spcBef>
                <a:spcPts val="600"/>
              </a:spcBef>
              <a:buClr>
                <a:srgbClr val="0E96AC"/>
              </a:buClr>
              <a:buFont typeface="Arial"/>
              <a:buChar char="•"/>
            </a:pPr>
            <a:r>
              <a:rPr lang="en-US" sz="1400" dirty="0">
                <a:solidFill>
                  <a:srgbClr val="16223A"/>
                </a:solidFill>
                <a:latin typeface="Calibri" pitchFamily="34" charset="0"/>
              </a:rPr>
              <a:t>Real-time feedback enables future closed-loop control.</a:t>
            </a:r>
          </a:p>
          <a:p>
            <a:pPr marL="200000" indent="-200000">
              <a:spcBef>
                <a:spcPts val="600"/>
              </a:spcBef>
              <a:buClr>
                <a:srgbClr val="0E96AC"/>
              </a:buClr>
              <a:buFont typeface="Arial"/>
              <a:buChar char="•"/>
            </a:pPr>
            <a:r>
              <a:rPr lang="en-US" sz="1400" dirty="0">
                <a:solidFill>
                  <a:srgbClr val="16223A"/>
                </a:solidFill>
                <a:latin typeface="Calibri" pitchFamily="34" charset="0"/>
              </a:rPr>
              <a:t>Compact form factor suits modular robot segments.</a:t>
            </a:r>
          </a:p>
          <a:p>
            <a:pPr marL="200000" indent="-200000">
              <a:spcBef>
                <a:spcPts val="600"/>
              </a:spcBef>
              <a:buClr>
                <a:srgbClr val="0E96AC"/>
              </a:buClr>
              <a:buFont typeface="Arial"/>
              <a:buChar char="•"/>
            </a:pPr>
            <a:r>
              <a:rPr lang="en-US" sz="1400" dirty="0">
                <a:solidFill>
                  <a:srgbClr val="16223A"/>
                </a:solidFill>
                <a:latin typeface="Calibri" pitchFamily="34" charset="0"/>
              </a:rPr>
              <a:t>High precision and smart control fit advanced robotics.</a:t>
            </a:r>
          </a:p>
        </p:txBody>
      </p:sp>
      <p:sp>
        <p:nvSpPr>
          <p:cNvPr id="38" name="DecEye">
            <a:extLst>
              <a:ext uri="{FF2B5EF4-FFF2-40B4-BE49-F238E27FC236}">
                <a16:creationId xmlns:a16="http://schemas.microsoft.com/office/drawing/2014/main" id="{760A87DD-1FD4-4129-AFBF-9525367131E6}"/>
              </a:ext>
            </a:extLst>
          </p:cNvPr>
          <p:cNvSpPr txBox="1"/>
          <p:nvPr/>
        </p:nvSpPr>
        <p:spPr>
          <a:xfrm>
            <a:off x="6565900" y="3835400"/>
            <a:ext cx="48260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FINAL SELECTED ACTUATOR</a:t>
            </a:r>
          </a:p>
        </p:txBody>
      </p:sp>
      <p:sp>
        <p:nvSpPr>
          <p:cNvPr id="39" name="DecTitle">
            <a:extLst>
              <a:ext uri="{FF2B5EF4-FFF2-40B4-BE49-F238E27FC236}">
                <a16:creationId xmlns:a16="http://schemas.microsoft.com/office/drawing/2014/main" id="{C7311885-27E4-43E5-B854-ED56274278BD}"/>
              </a:ext>
            </a:extLst>
          </p:cNvPr>
          <p:cNvSpPr txBox="1"/>
          <p:nvPr/>
        </p:nvSpPr>
        <p:spPr>
          <a:xfrm>
            <a:off x="6565900" y="4102100"/>
            <a:ext cx="4826000" cy="431800"/>
          </a:xfrm>
          <a:prstGeom prst="rect">
            <a:avLst/>
          </a:prstGeom>
          <a:noFill/>
        </p:spPr>
        <p:txBody>
          <a:bodyPr vertOverflow="overflow" vert="horz" wrap="square" rtlCol="0" anchor="t" anchorCtr="0">
            <a:noAutofit/>
          </a:bodyPr>
          <a:lstStyle/>
          <a:p>
            <a:pPr marL="0" indent="0">
              <a:buNone/>
            </a:pPr>
            <a:r>
              <a:rPr lang="en-US" sz="2200" b="1" dirty="0">
                <a:solidFill>
                  <a:srgbClr val="FFFFFF"/>
                </a:solidFill>
                <a:latin typeface="Calibri" pitchFamily="34" charset="0"/>
              </a:rPr>
              <a:t>Dynamixel XL330 Series</a:t>
            </a:r>
          </a:p>
        </p:txBody>
      </p:sp>
      <p:sp>
        <p:nvSpPr>
          <p:cNvPr id="40" name="DecReason">
            <a:extLst>
              <a:ext uri="{FF2B5EF4-FFF2-40B4-BE49-F238E27FC236}">
                <a16:creationId xmlns:a16="http://schemas.microsoft.com/office/drawing/2014/main" id="{1D6D8D35-098D-49CE-A5B5-D938206E0D70}"/>
              </a:ext>
            </a:extLst>
          </p:cNvPr>
          <p:cNvSpPr txBox="1"/>
          <p:nvPr/>
        </p:nvSpPr>
        <p:spPr>
          <a:xfrm>
            <a:off x="6565900" y="4597400"/>
            <a:ext cx="4826000" cy="1676400"/>
          </a:xfrm>
          <a:prstGeom prst="rect">
            <a:avLst/>
          </a:prstGeom>
          <a:noFill/>
        </p:spPr>
        <p:txBody>
          <a:bodyPr vertOverflow="overflow" vert="horz" wrap="square" rtlCol="0" anchor="t" anchorCtr="0">
            <a:noAutofit/>
          </a:bodyPr>
          <a:lstStyle/>
          <a:p>
            <a:pPr marL="0" indent="0">
              <a:lnSpc>
                <a:spcPct val="112000"/>
              </a:lnSpc>
              <a:buNone/>
            </a:pPr>
            <a:r>
              <a:rPr lang="en-US" sz="1400" dirty="0">
                <a:solidFill>
                  <a:srgbClr val="D6DEE8"/>
                </a:solidFill>
                <a:latin typeface="Calibri" pitchFamily="34" charset="0"/>
              </a:rPr>
              <a:t>Chosen for its smart serial communication, full-state feedback, compact form factor and effortless multi-joint scaling — the right fit for a multi-segment snake robot.</a:t>
            </a:r>
          </a:p>
        </p:txBody>
      </p:sp>
    </p:spTree>
    <p:extLst>
      <p:ext uri="{BB962C8B-B14F-4D97-AF65-F5344CB8AC3E}">
        <p14:creationId xmlns:p14="http://schemas.microsoft.com/office/powerpoint/2010/main" val="504917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GOALS &amp; EXPECTED OUTCOMES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What This Project Sets Out to Build</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11" name="Shape 9"/>
          <p:cNvSpPr/>
          <p:nvPr/>
        </p:nvSpPr>
        <p:spPr>
          <a:xfrm>
            <a:off x="822960" y="1920240"/>
            <a:ext cx="713232" cy="713232"/>
          </a:xfrm>
          <a:prstGeom prst="ellipse">
            <a:avLst/>
          </a:prstGeom>
          <a:solidFill>
            <a:srgbClr val="0E96AC"/>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1001268" y="2098548"/>
            <a:ext cx="356616" cy="356616"/>
          </a:xfrm>
          <a:prstGeom prst="rect">
            <a:avLst/>
          </a:prstGeom>
        </p:spPr>
      </p:pic>
      <p:sp>
        <p:nvSpPr>
          <p:cNvPr id="13" name="Text 10"/>
          <p:cNvSpPr/>
          <p:nvPr/>
        </p:nvSpPr>
        <p:spPr>
          <a:xfrm>
            <a:off x="3118104"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01</a:t>
            </a:r>
            <a:endParaRPr lang="en-US" sz="3000" dirty="0"/>
          </a:p>
        </p:txBody>
      </p:sp>
      <p:sp>
        <p:nvSpPr>
          <p:cNvPr id="14" name="Text 11"/>
          <p:cNvSpPr/>
          <p:nvPr/>
        </p:nvSpPr>
        <p:spPr>
          <a:xfrm>
            <a:off x="822960"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Modular Architecture</a:t>
            </a:r>
            <a:endParaRPr lang="en-US" sz="1550" dirty="0"/>
          </a:p>
        </p:txBody>
      </p:sp>
      <p:sp>
        <p:nvSpPr>
          <p:cNvPr id="15" name="Text 12"/>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 repeatable segment-based mechanical design.</a:t>
            </a:r>
            <a:endParaRPr lang="en-US" sz="1150" dirty="0"/>
          </a:p>
        </p:txBody>
      </p:sp>
      <p:sp>
        <p:nvSpPr>
          <p:cNvPr id="16" name="Shape 13"/>
          <p:cNvSpPr/>
          <p:nvPr/>
        </p:nvSpPr>
        <p:spPr>
          <a:xfrm>
            <a:off x="4370832"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17" name="Shape 14"/>
          <p:cNvSpPr/>
          <p:nvPr/>
        </p:nvSpPr>
        <p:spPr>
          <a:xfrm>
            <a:off x="4645152" y="1920240"/>
            <a:ext cx="713232" cy="713232"/>
          </a:xfrm>
          <a:prstGeom prst="ellipse">
            <a:avLst/>
          </a:prstGeom>
          <a:solidFill>
            <a:srgbClr val="E08A1E"/>
          </a:solidFill>
          <a:ln/>
        </p:spPr>
        <p:txBody>
          <a:bodyPr/>
          <a:lstStyle/>
          <a:p>
            <a:endParaRPr lang="en-IN"/>
          </a:p>
        </p:txBody>
      </p:sp>
      <p:pic>
        <p:nvPicPr>
          <p:cNvPr id="18" name="Image 1" descr="preencoded.png"/>
          <p:cNvPicPr>
            <a:picLocks noChangeAspect="1"/>
          </p:cNvPicPr>
          <p:nvPr/>
        </p:nvPicPr>
        <p:blipFill>
          <a:blip r:embed="rId4"/>
          <a:stretch>
            <a:fillRect/>
          </a:stretch>
        </p:blipFill>
        <p:spPr>
          <a:xfrm>
            <a:off x="4823460" y="2098548"/>
            <a:ext cx="356616" cy="356616"/>
          </a:xfrm>
          <a:prstGeom prst="rect">
            <a:avLst/>
          </a:prstGeom>
        </p:spPr>
      </p:pic>
      <p:sp>
        <p:nvSpPr>
          <p:cNvPr id="19" name="Text 15"/>
          <p:cNvSpPr/>
          <p:nvPr/>
        </p:nvSpPr>
        <p:spPr>
          <a:xfrm>
            <a:off x="6940296"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02</a:t>
            </a:r>
            <a:endParaRPr lang="en-US" sz="3000" dirty="0"/>
          </a:p>
        </p:txBody>
      </p:sp>
      <p:sp>
        <p:nvSpPr>
          <p:cNvPr id="20" name="Text 16"/>
          <p:cNvSpPr/>
          <p:nvPr/>
        </p:nvSpPr>
        <p:spPr>
          <a:xfrm>
            <a:off x="4645152"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Dynamixel Actuators</a:t>
            </a:r>
            <a:endParaRPr lang="en-US" sz="1550" dirty="0"/>
          </a:p>
        </p:txBody>
      </p:sp>
      <p:sp>
        <p:nvSpPr>
          <p:cNvPr id="21" name="Text 17"/>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Integrate smart servos with daisy-chained control.</a:t>
            </a:r>
            <a:endParaRPr lang="en-US" sz="1150" dirty="0"/>
          </a:p>
        </p:txBody>
      </p:sp>
      <p:sp>
        <p:nvSpPr>
          <p:cNvPr id="22" name="Shape 18"/>
          <p:cNvSpPr/>
          <p:nvPr/>
        </p:nvSpPr>
        <p:spPr>
          <a:xfrm>
            <a:off x="8193024"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23" name="Shape 19"/>
          <p:cNvSpPr/>
          <p:nvPr/>
        </p:nvSpPr>
        <p:spPr>
          <a:xfrm>
            <a:off x="8467344" y="1920240"/>
            <a:ext cx="713232" cy="713232"/>
          </a:xfrm>
          <a:prstGeom prst="ellipse">
            <a:avLst/>
          </a:prstGeom>
          <a:solidFill>
            <a:srgbClr val="12A678"/>
          </a:solidFill>
          <a:ln/>
        </p:spPr>
        <p:txBody>
          <a:bodyPr/>
          <a:lstStyle/>
          <a:p>
            <a:endParaRPr lang="en-IN"/>
          </a:p>
        </p:txBody>
      </p:sp>
      <p:pic>
        <p:nvPicPr>
          <p:cNvPr id="24" name="Image 2" descr="preencoded.png"/>
          <p:cNvPicPr>
            <a:picLocks noChangeAspect="1"/>
          </p:cNvPicPr>
          <p:nvPr/>
        </p:nvPicPr>
        <p:blipFill>
          <a:blip r:embed="rId5"/>
          <a:stretch>
            <a:fillRect/>
          </a:stretch>
        </p:blipFill>
        <p:spPr>
          <a:xfrm>
            <a:off x="8645652" y="2098548"/>
            <a:ext cx="356616" cy="356616"/>
          </a:xfrm>
          <a:prstGeom prst="rect">
            <a:avLst/>
          </a:prstGeom>
        </p:spPr>
      </p:pic>
      <p:sp>
        <p:nvSpPr>
          <p:cNvPr id="25" name="Text 20"/>
          <p:cNvSpPr/>
          <p:nvPr/>
        </p:nvSpPr>
        <p:spPr>
          <a:xfrm>
            <a:off x="10762488"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03</a:t>
            </a:r>
            <a:endParaRPr lang="en-US" sz="3000" dirty="0"/>
          </a:p>
        </p:txBody>
      </p:sp>
      <p:sp>
        <p:nvSpPr>
          <p:cNvPr id="26" name="Text 21"/>
          <p:cNvSpPr/>
          <p:nvPr/>
        </p:nvSpPr>
        <p:spPr>
          <a:xfrm>
            <a:off x="8467344"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Raspberry Pi Control</a:t>
            </a:r>
            <a:endParaRPr lang="en-US" sz="1550" dirty="0"/>
          </a:p>
        </p:txBody>
      </p:sp>
      <p:sp>
        <p:nvSpPr>
          <p:cNvPr id="27" name="Text 22"/>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 single-board-computer control system.</a:t>
            </a:r>
            <a:endParaRPr lang="en-US" sz="1150" dirty="0"/>
          </a:p>
        </p:txBody>
      </p:sp>
      <p:sp>
        <p:nvSpPr>
          <p:cNvPr id="28" name="Shape 23"/>
          <p:cNvSpPr/>
          <p:nvPr/>
        </p:nvSpPr>
        <p:spPr>
          <a:xfrm>
            <a:off x="548640"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29" name="Shape 24"/>
          <p:cNvSpPr/>
          <p:nvPr/>
        </p:nvSpPr>
        <p:spPr>
          <a:xfrm>
            <a:off x="822960" y="4169664"/>
            <a:ext cx="713232" cy="713232"/>
          </a:xfrm>
          <a:prstGeom prst="ellipse">
            <a:avLst/>
          </a:prstGeom>
          <a:solidFill>
            <a:srgbClr val="0E96AC"/>
          </a:solidFill>
          <a:ln/>
        </p:spPr>
        <p:txBody>
          <a:bodyPr/>
          <a:lstStyle/>
          <a:p>
            <a:endParaRPr lang="en-IN"/>
          </a:p>
        </p:txBody>
      </p:sp>
      <p:pic>
        <p:nvPicPr>
          <p:cNvPr id="30" name="Image 3" descr="preencoded.png"/>
          <p:cNvPicPr>
            <a:picLocks noChangeAspect="1"/>
          </p:cNvPicPr>
          <p:nvPr/>
        </p:nvPicPr>
        <p:blipFill>
          <a:blip r:embed="rId6"/>
          <a:stretch>
            <a:fillRect/>
          </a:stretch>
        </p:blipFill>
        <p:spPr>
          <a:xfrm>
            <a:off x="1001268" y="4347972"/>
            <a:ext cx="356616" cy="356616"/>
          </a:xfrm>
          <a:prstGeom prst="rect">
            <a:avLst/>
          </a:prstGeom>
        </p:spPr>
      </p:pic>
      <p:sp>
        <p:nvSpPr>
          <p:cNvPr id="31" name="Text 25"/>
          <p:cNvSpPr/>
          <p:nvPr/>
        </p:nvSpPr>
        <p:spPr>
          <a:xfrm>
            <a:off x="3118104"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04</a:t>
            </a:r>
            <a:endParaRPr lang="en-US" sz="3000" dirty="0"/>
          </a:p>
        </p:txBody>
      </p:sp>
      <p:sp>
        <p:nvSpPr>
          <p:cNvPr id="32" name="Text 26"/>
          <p:cNvSpPr/>
          <p:nvPr/>
        </p:nvSpPr>
        <p:spPr>
          <a:xfrm>
            <a:off x="822960"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Locomotion Algorithms</a:t>
            </a:r>
            <a:endParaRPr lang="en-US" sz="1550" dirty="0"/>
          </a:p>
        </p:txBody>
      </p:sp>
      <p:sp>
        <p:nvSpPr>
          <p:cNvPr id="33" name="Text 27"/>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Implement serpentine and gait-based motion.</a:t>
            </a:r>
            <a:endParaRPr lang="en-US" sz="1150" dirty="0"/>
          </a:p>
        </p:txBody>
      </p:sp>
      <p:sp>
        <p:nvSpPr>
          <p:cNvPr id="34" name="Shape 28"/>
          <p:cNvSpPr/>
          <p:nvPr/>
        </p:nvSpPr>
        <p:spPr>
          <a:xfrm>
            <a:off x="4370832"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35" name="Shape 29"/>
          <p:cNvSpPr/>
          <p:nvPr/>
        </p:nvSpPr>
        <p:spPr>
          <a:xfrm>
            <a:off x="4645152" y="4169664"/>
            <a:ext cx="713232" cy="713232"/>
          </a:xfrm>
          <a:prstGeom prst="ellipse">
            <a:avLst/>
          </a:prstGeom>
          <a:solidFill>
            <a:srgbClr val="E08A1E"/>
          </a:solidFill>
          <a:ln/>
        </p:spPr>
        <p:txBody>
          <a:bodyPr/>
          <a:lstStyle/>
          <a:p>
            <a:endParaRPr lang="en-IN"/>
          </a:p>
        </p:txBody>
      </p:sp>
      <p:pic>
        <p:nvPicPr>
          <p:cNvPr id="36" name="Image 4" descr="preencoded.png"/>
          <p:cNvPicPr>
            <a:picLocks noChangeAspect="1"/>
          </p:cNvPicPr>
          <p:nvPr/>
        </p:nvPicPr>
        <p:blipFill>
          <a:blip r:embed="rId7"/>
          <a:stretch>
            <a:fillRect/>
          </a:stretch>
        </p:blipFill>
        <p:spPr>
          <a:xfrm>
            <a:off x="4823460" y="4347972"/>
            <a:ext cx="356616" cy="356616"/>
          </a:xfrm>
          <a:prstGeom prst="rect">
            <a:avLst/>
          </a:prstGeom>
        </p:spPr>
      </p:pic>
      <p:sp>
        <p:nvSpPr>
          <p:cNvPr id="37" name="Text 30"/>
          <p:cNvSpPr/>
          <p:nvPr/>
        </p:nvSpPr>
        <p:spPr>
          <a:xfrm>
            <a:off x="6940296"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05</a:t>
            </a:r>
            <a:endParaRPr lang="en-US" sz="3000" dirty="0"/>
          </a:p>
        </p:txBody>
      </p:sp>
      <p:sp>
        <p:nvSpPr>
          <p:cNvPr id="38" name="Text 31"/>
          <p:cNvSpPr/>
          <p:nvPr/>
        </p:nvSpPr>
        <p:spPr>
          <a:xfrm>
            <a:off x="4645152"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Sensor Integration</a:t>
            </a:r>
            <a:endParaRPr lang="en-US" sz="1550" dirty="0"/>
          </a:p>
        </p:txBody>
      </p:sp>
      <p:sp>
        <p:nvSpPr>
          <p:cNvPr id="39" name="Text 32"/>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Add sensing for future intelligent navigation.</a:t>
            </a:r>
            <a:endParaRPr lang="en-US" sz="1150" dirty="0"/>
          </a:p>
        </p:txBody>
      </p:sp>
      <p:sp>
        <p:nvSpPr>
          <p:cNvPr id="40" name="Shape 33"/>
          <p:cNvSpPr/>
          <p:nvPr/>
        </p:nvSpPr>
        <p:spPr>
          <a:xfrm>
            <a:off x="8193024"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41" name="Shape 34"/>
          <p:cNvSpPr/>
          <p:nvPr/>
        </p:nvSpPr>
        <p:spPr>
          <a:xfrm>
            <a:off x="8467344" y="4169664"/>
            <a:ext cx="713232" cy="713232"/>
          </a:xfrm>
          <a:prstGeom prst="ellipse">
            <a:avLst/>
          </a:prstGeom>
          <a:solidFill>
            <a:srgbClr val="12A678"/>
          </a:solidFill>
          <a:ln/>
        </p:spPr>
        <p:txBody>
          <a:bodyPr/>
          <a:lstStyle/>
          <a:p>
            <a:endParaRPr lang="en-IN"/>
          </a:p>
        </p:txBody>
      </p:sp>
      <p:pic>
        <p:nvPicPr>
          <p:cNvPr id="42" name="Image 5" descr="preencoded.png"/>
          <p:cNvPicPr>
            <a:picLocks noChangeAspect="1"/>
          </p:cNvPicPr>
          <p:nvPr/>
        </p:nvPicPr>
        <p:blipFill>
          <a:blip r:embed="rId8"/>
          <a:stretch>
            <a:fillRect/>
          </a:stretch>
        </p:blipFill>
        <p:spPr>
          <a:xfrm>
            <a:off x="8645652" y="4347972"/>
            <a:ext cx="356616" cy="356616"/>
          </a:xfrm>
          <a:prstGeom prst="rect">
            <a:avLst/>
          </a:prstGeom>
        </p:spPr>
      </p:pic>
      <p:sp>
        <p:nvSpPr>
          <p:cNvPr id="43" name="Text 35"/>
          <p:cNvSpPr/>
          <p:nvPr/>
        </p:nvSpPr>
        <p:spPr>
          <a:xfrm>
            <a:off x="10762488"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06</a:t>
            </a:r>
            <a:endParaRPr lang="en-US" sz="3000" dirty="0"/>
          </a:p>
        </p:txBody>
      </p:sp>
      <p:sp>
        <p:nvSpPr>
          <p:cNvPr id="44" name="Text 36"/>
          <p:cNvSpPr/>
          <p:nvPr/>
        </p:nvSpPr>
        <p:spPr>
          <a:xfrm>
            <a:off x="8467344"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Scalable Platform</a:t>
            </a:r>
            <a:endParaRPr lang="en-US" sz="1550" dirty="0"/>
          </a:p>
        </p:txBody>
      </p:sp>
      <p:sp>
        <p:nvSpPr>
          <p:cNvPr id="45" name="Text 37"/>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Keep it maintainable and easy to extend.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WORK COMPLETED SO FAR</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Quarter-One Progress Summary</a:t>
            </a:r>
            <a:endParaRPr lang="en-US" sz="3000" dirty="0"/>
          </a:p>
        </p:txBody>
      </p:sp>
      <p:sp>
        <p:nvSpPr>
          <p:cNvPr id="10" name="Shape 8"/>
          <p:cNvSpPr/>
          <p:nvPr/>
        </p:nvSpPr>
        <p:spPr>
          <a:xfrm>
            <a:off x="548640" y="1645920"/>
            <a:ext cx="3657600" cy="4434840"/>
          </a:xfrm>
          <a:prstGeom prst="roundRect">
            <a:avLst>
              <a:gd name="adj" fmla="val 2500"/>
            </a:avLst>
          </a:prstGeom>
          <a:solidFill>
            <a:srgbClr val="16223A"/>
          </a:solidFill>
          <a:ln/>
          <a:effectLst>
            <a:outerShdw blurRad="114300" dist="38100" dir="5400000" algn="bl" rotWithShape="0">
              <a:srgbClr val="1A2440">
                <a:alpha val="16000"/>
              </a:srgbClr>
            </a:outerShdw>
          </a:effectLst>
        </p:spPr>
      </p:sp>
      <p:sp>
        <p:nvSpPr>
          <p:cNvPr id="11" name="Text 9"/>
          <p:cNvSpPr/>
          <p:nvPr/>
        </p:nvSpPr>
        <p:spPr>
          <a:xfrm>
            <a:off x="777240" y="1965960"/>
            <a:ext cx="3200400" cy="274320"/>
          </a:xfrm>
          <a:prstGeom prst="rect">
            <a:avLst/>
          </a:prstGeom>
          <a:noFill/>
          <a:ln/>
        </p:spPr>
        <p:txBody>
          <a:bodyPr wrap="square" lIns="0" tIns="0" rIns="0" bIns="0" rtlCol="0" anchor="ctr"/>
          <a:lstStyle/>
          <a:p>
            <a:pPr marL="0" indent="0">
              <a:buNone/>
            </a:pPr>
            <a:r>
              <a:rPr lang="en-US" sz="1150" b="1" kern="0" spc="200" dirty="0">
                <a:solidFill>
                  <a:srgbClr val="2BD4E8"/>
                </a:solidFill>
                <a:latin typeface="Calibri" pitchFamily="34" charset="0"/>
                <a:ea typeface="Calibri" pitchFamily="34" charset="-122"/>
                <a:cs typeface="Calibri" pitchFamily="34" charset="-120"/>
              </a:rPr>
              <a:t>OVERALL COMPLETION</a:t>
            </a:r>
            <a:endParaRPr lang="en-US" sz="1150" dirty="0"/>
          </a:p>
        </p:txBody>
      </p:sp>
      <p:sp>
        <p:nvSpPr>
          <p:cNvPr id="12" name="Text 10"/>
          <p:cNvSpPr/>
          <p:nvPr/>
        </p:nvSpPr>
        <p:spPr>
          <a:xfrm>
            <a:off x="777240" y="2240280"/>
            <a:ext cx="3200400" cy="1188720"/>
          </a:xfrm>
          <a:prstGeom prst="rect">
            <a:avLst/>
          </a:prstGeom>
          <a:noFill/>
          <a:ln/>
        </p:spPr>
        <p:txBody>
          <a:bodyPr wrap="square" lIns="0" tIns="0" rIns="0" bIns="0" rtlCol="0" anchor="ctr"/>
          <a:lstStyle/>
          <a:p>
            <a:pPr marL="0" indent="0">
              <a:buNone/>
            </a:pPr>
            <a:r>
              <a:rPr lang="en-US" sz="7800" b="1" dirty="0">
                <a:solidFill>
                  <a:srgbClr val="FFFFFF"/>
                </a:solidFill>
                <a:latin typeface="Calibri" pitchFamily="34" charset="0"/>
                <a:ea typeface="Calibri" pitchFamily="34" charset="-122"/>
                <a:cs typeface="Calibri" pitchFamily="34" charset="-120"/>
              </a:rPr>
              <a:t>25</a:t>
            </a:r>
            <a:r>
              <a:rPr lang="en-US" sz="3400" b="1" dirty="0">
                <a:solidFill>
                  <a:srgbClr val="2BD4E8"/>
                </a:solidFill>
                <a:latin typeface="Calibri" pitchFamily="34" charset="0"/>
                <a:ea typeface="Calibri" pitchFamily="34" charset="-122"/>
                <a:cs typeface="Calibri" pitchFamily="34" charset="-120"/>
              </a:rPr>
              <a:t> %</a:t>
            </a:r>
            <a:endParaRPr lang="en-US" sz="7800" dirty="0"/>
          </a:p>
        </p:txBody>
      </p:sp>
      <p:sp>
        <p:nvSpPr>
          <p:cNvPr id="13" name="Shape 11"/>
          <p:cNvSpPr/>
          <p:nvPr/>
        </p:nvSpPr>
        <p:spPr>
          <a:xfrm>
            <a:off x="777240" y="3611880"/>
            <a:ext cx="352044" cy="310896"/>
          </a:xfrm>
          <a:prstGeom prst="roundRect">
            <a:avLst>
              <a:gd name="adj" fmla="val 14706"/>
            </a:avLst>
          </a:prstGeom>
          <a:solidFill>
            <a:srgbClr val="2BD4E8"/>
          </a:solidFill>
          <a:ln/>
        </p:spPr>
      </p:sp>
      <p:sp>
        <p:nvSpPr>
          <p:cNvPr id="14" name="Shape 12"/>
          <p:cNvSpPr/>
          <p:nvPr/>
        </p:nvSpPr>
        <p:spPr>
          <a:xfrm>
            <a:off x="1184148" y="3611880"/>
            <a:ext cx="352044" cy="310896"/>
          </a:xfrm>
          <a:prstGeom prst="roundRect">
            <a:avLst>
              <a:gd name="adj" fmla="val 14706"/>
            </a:avLst>
          </a:prstGeom>
          <a:solidFill>
            <a:srgbClr val="2BD4E8"/>
          </a:solidFill>
          <a:ln/>
        </p:spPr>
      </p:sp>
      <p:sp>
        <p:nvSpPr>
          <p:cNvPr id="15" name="Shape 13"/>
          <p:cNvSpPr/>
          <p:nvPr/>
        </p:nvSpPr>
        <p:spPr>
          <a:xfrm>
            <a:off x="1591056" y="3611880"/>
            <a:ext cx="352044" cy="310896"/>
          </a:xfrm>
          <a:prstGeom prst="roundRect">
            <a:avLst>
              <a:gd name="adj" fmla="val 14706"/>
            </a:avLst>
          </a:prstGeom>
          <a:solidFill>
            <a:srgbClr val="2A3958"/>
          </a:solidFill>
          <a:ln/>
        </p:spPr>
      </p:sp>
      <p:sp>
        <p:nvSpPr>
          <p:cNvPr id="16" name="Shape 14"/>
          <p:cNvSpPr/>
          <p:nvPr/>
        </p:nvSpPr>
        <p:spPr>
          <a:xfrm>
            <a:off x="1997964" y="3611880"/>
            <a:ext cx="352044" cy="310896"/>
          </a:xfrm>
          <a:prstGeom prst="roundRect">
            <a:avLst>
              <a:gd name="adj" fmla="val 14706"/>
            </a:avLst>
          </a:prstGeom>
          <a:solidFill>
            <a:srgbClr val="2A3958"/>
          </a:solidFill>
          <a:ln/>
        </p:spPr>
      </p:sp>
      <p:sp>
        <p:nvSpPr>
          <p:cNvPr id="17" name="Shape 15"/>
          <p:cNvSpPr/>
          <p:nvPr/>
        </p:nvSpPr>
        <p:spPr>
          <a:xfrm>
            <a:off x="2404872" y="3611880"/>
            <a:ext cx="352044" cy="310896"/>
          </a:xfrm>
          <a:prstGeom prst="roundRect">
            <a:avLst>
              <a:gd name="adj" fmla="val 14706"/>
            </a:avLst>
          </a:prstGeom>
          <a:solidFill>
            <a:srgbClr val="2A3958"/>
          </a:solidFill>
          <a:ln/>
        </p:spPr>
      </p:sp>
      <p:sp>
        <p:nvSpPr>
          <p:cNvPr id="18" name="Shape 16"/>
          <p:cNvSpPr/>
          <p:nvPr/>
        </p:nvSpPr>
        <p:spPr>
          <a:xfrm>
            <a:off x="2811780" y="3611880"/>
            <a:ext cx="352044" cy="310896"/>
          </a:xfrm>
          <a:prstGeom prst="roundRect">
            <a:avLst>
              <a:gd name="adj" fmla="val 14706"/>
            </a:avLst>
          </a:prstGeom>
          <a:solidFill>
            <a:srgbClr val="2A3958"/>
          </a:solidFill>
          <a:ln/>
        </p:spPr>
      </p:sp>
      <p:sp>
        <p:nvSpPr>
          <p:cNvPr id="19" name="Shape 17"/>
          <p:cNvSpPr/>
          <p:nvPr/>
        </p:nvSpPr>
        <p:spPr>
          <a:xfrm>
            <a:off x="3218688" y="3611880"/>
            <a:ext cx="352044" cy="310896"/>
          </a:xfrm>
          <a:prstGeom prst="roundRect">
            <a:avLst>
              <a:gd name="adj" fmla="val 14706"/>
            </a:avLst>
          </a:prstGeom>
          <a:solidFill>
            <a:srgbClr val="2A3958"/>
          </a:solidFill>
          <a:ln/>
        </p:spPr>
      </p:sp>
      <p:sp>
        <p:nvSpPr>
          <p:cNvPr id="20" name="Shape 18"/>
          <p:cNvSpPr/>
          <p:nvPr/>
        </p:nvSpPr>
        <p:spPr>
          <a:xfrm>
            <a:off x="3625596" y="3611880"/>
            <a:ext cx="352044" cy="310896"/>
          </a:xfrm>
          <a:prstGeom prst="roundRect">
            <a:avLst>
              <a:gd name="adj" fmla="val 14706"/>
            </a:avLst>
          </a:prstGeom>
          <a:solidFill>
            <a:srgbClr val="2A3958"/>
          </a:solidFill>
          <a:ln/>
        </p:spPr>
      </p:sp>
      <p:sp>
        <p:nvSpPr>
          <p:cNvPr id="21" name="Text 19"/>
          <p:cNvSpPr/>
          <p:nvPr/>
        </p:nvSpPr>
        <p:spPr>
          <a:xfrm>
            <a:off x="777240" y="4023360"/>
            <a:ext cx="3200400" cy="274320"/>
          </a:xfrm>
          <a:prstGeom prst="rect">
            <a:avLst/>
          </a:prstGeom>
          <a:noFill/>
          <a:ln/>
        </p:spPr>
        <p:txBody>
          <a:bodyPr wrap="square" lIns="0" tIns="0" rIns="0" bIns="0" rtlCol="0" anchor="ctr"/>
          <a:lstStyle/>
          <a:p>
            <a:pPr marL="0" indent="0">
              <a:buNone/>
            </a:pPr>
            <a:r>
              <a:rPr lang="en-US" sz="1150" dirty="0">
                <a:solidFill>
                  <a:srgbClr val="6B7890"/>
                </a:solidFill>
                <a:latin typeface="Calibri" pitchFamily="34" charset="0"/>
                <a:ea typeface="Calibri" pitchFamily="34" charset="-122"/>
                <a:cs typeface="Calibri" pitchFamily="34" charset="-120"/>
              </a:rPr>
              <a:t>Phase 1 complete · Phase 2 underway</a:t>
            </a:r>
            <a:endParaRPr lang="en-US" sz="1150" dirty="0"/>
          </a:p>
        </p:txBody>
      </p:sp>
      <p:sp>
        <p:nvSpPr>
          <p:cNvPr id="22" name="Shape 20"/>
          <p:cNvSpPr/>
          <p:nvPr/>
        </p:nvSpPr>
        <p:spPr>
          <a:xfrm>
            <a:off x="777240" y="4526280"/>
            <a:ext cx="960120" cy="1207008"/>
          </a:xfrm>
          <a:prstGeom prst="roundRect">
            <a:avLst>
              <a:gd name="adj" fmla="val 7619"/>
            </a:avLst>
          </a:prstGeom>
          <a:solidFill>
            <a:srgbClr val="1E2A45"/>
          </a:solidFill>
          <a:ln/>
        </p:spPr>
      </p:sp>
      <p:sp>
        <p:nvSpPr>
          <p:cNvPr id="23" name="Text 21"/>
          <p:cNvSpPr/>
          <p:nvPr/>
        </p:nvSpPr>
        <p:spPr>
          <a:xfrm>
            <a:off x="777240"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10</a:t>
            </a:r>
            <a:endParaRPr lang="en-US" sz="2800" dirty="0"/>
          </a:p>
        </p:txBody>
      </p:sp>
      <p:sp>
        <p:nvSpPr>
          <p:cNvPr id="24" name="Text 22"/>
          <p:cNvSpPr/>
          <p:nvPr/>
        </p:nvSpPr>
        <p:spPr>
          <a:xfrm>
            <a:off x="777240"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Tasks done</a:t>
            </a:r>
            <a:endParaRPr lang="en-US" sz="950" dirty="0"/>
          </a:p>
        </p:txBody>
      </p:sp>
      <p:sp>
        <p:nvSpPr>
          <p:cNvPr id="25" name="Shape 23"/>
          <p:cNvSpPr/>
          <p:nvPr/>
        </p:nvSpPr>
        <p:spPr>
          <a:xfrm>
            <a:off x="1856232" y="4526280"/>
            <a:ext cx="960120" cy="1207008"/>
          </a:xfrm>
          <a:prstGeom prst="roundRect">
            <a:avLst>
              <a:gd name="adj" fmla="val 7619"/>
            </a:avLst>
          </a:prstGeom>
          <a:solidFill>
            <a:srgbClr val="1E2A45"/>
          </a:solidFill>
          <a:ln/>
        </p:spPr>
      </p:sp>
      <p:sp>
        <p:nvSpPr>
          <p:cNvPr id="26" name="Text 24"/>
          <p:cNvSpPr/>
          <p:nvPr/>
        </p:nvSpPr>
        <p:spPr>
          <a:xfrm>
            <a:off x="1856232"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2</a:t>
            </a:r>
            <a:endParaRPr lang="en-US" sz="2800" dirty="0"/>
          </a:p>
        </p:txBody>
      </p:sp>
      <p:sp>
        <p:nvSpPr>
          <p:cNvPr id="27" name="Text 25"/>
          <p:cNvSpPr/>
          <p:nvPr/>
        </p:nvSpPr>
        <p:spPr>
          <a:xfrm>
            <a:off x="1856232"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Segments printed</a:t>
            </a:r>
            <a:endParaRPr lang="en-US" sz="950" dirty="0"/>
          </a:p>
        </p:txBody>
      </p:sp>
      <p:sp>
        <p:nvSpPr>
          <p:cNvPr id="28" name="Shape 26"/>
          <p:cNvSpPr/>
          <p:nvPr/>
        </p:nvSpPr>
        <p:spPr>
          <a:xfrm>
            <a:off x="2935224" y="4526280"/>
            <a:ext cx="960120" cy="1207008"/>
          </a:xfrm>
          <a:prstGeom prst="roundRect">
            <a:avLst>
              <a:gd name="adj" fmla="val 7619"/>
            </a:avLst>
          </a:prstGeom>
          <a:solidFill>
            <a:srgbClr val="1E2A45"/>
          </a:solidFill>
          <a:ln/>
        </p:spPr>
      </p:sp>
      <p:sp>
        <p:nvSpPr>
          <p:cNvPr id="29" name="Text 27"/>
          <p:cNvSpPr/>
          <p:nvPr/>
        </p:nvSpPr>
        <p:spPr>
          <a:xfrm>
            <a:off x="2935224"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1</a:t>
            </a:r>
            <a:endParaRPr lang="en-US" sz="2800" dirty="0"/>
          </a:p>
        </p:txBody>
      </p:sp>
      <p:sp>
        <p:nvSpPr>
          <p:cNvPr id="30" name="Text 28"/>
          <p:cNvSpPr/>
          <p:nvPr/>
        </p:nvSpPr>
        <p:spPr>
          <a:xfrm>
            <a:off x="2935224"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Pi configured</a:t>
            </a:r>
            <a:endParaRPr lang="en-US" sz="950" dirty="0"/>
          </a:p>
        </p:txBody>
      </p:sp>
      <p:sp>
        <p:nvSpPr>
          <p:cNvPr id="31" name="Text 29"/>
          <p:cNvSpPr/>
          <p:nvPr/>
        </p:nvSpPr>
        <p:spPr>
          <a:xfrm>
            <a:off x="4526280" y="1645920"/>
            <a:ext cx="73152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COMPLETED TASKS</a:t>
            </a:r>
            <a:endParaRPr lang="en-US" sz="1200" dirty="0"/>
          </a:p>
        </p:txBody>
      </p:sp>
      <p:sp>
        <p:nvSpPr>
          <p:cNvPr id="32" name="Shape 30"/>
          <p:cNvSpPr/>
          <p:nvPr/>
        </p:nvSpPr>
        <p:spPr>
          <a:xfrm>
            <a:off x="4526280" y="2103120"/>
            <a:ext cx="3657600" cy="676656"/>
          </a:xfrm>
          <a:prstGeom prst="roundRect">
            <a:avLst>
              <a:gd name="adj" fmla="val 9459"/>
            </a:avLst>
          </a:prstGeom>
          <a:solidFill>
            <a:srgbClr val="FFFFFF"/>
          </a:solidFill>
          <a:ln w="12700">
            <a:solidFill>
              <a:srgbClr val="E2E8F0"/>
            </a:solidFill>
            <a:prstDash val="solid"/>
          </a:ln>
        </p:spPr>
      </p:sp>
      <p:pic>
        <p:nvPicPr>
          <p:cNvPr id="33" name="Image 0" descr="preencoded.png"/>
          <p:cNvPicPr>
            <a:picLocks noChangeAspect="1"/>
          </p:cNvPicPr>
          <p:nvPr/>
        </p:nvPicPr>
        <p:blipFill>
          <a:blip r:embed="rId3"/>
          <a:stretch>
            <a:fillRect/>
          </a:stretch>
        </p:blipFill>
        <p:spPr>
          <a:xfrm>
            <a:off x="4690872" y="2304288"/>
            <a:ext cx="274320" cy="274320"/>
          </a:xfrm>
          <a:prstGeom prst="rect">
            <a:avLst/>
          </a:prstGeom>
        </p:spPr>
      </p:pic>
      <p:sp>
        <p:nvSpPr>
          <p:cNvPr id="34" name="Text 31"/>
          <p:cNvSpPr/>
          <p:nvPr/>
        </p:nvSpPr>
        <p:spPr>
          <a:xfrm>
            <a:off x="5093208" y="2103120"/>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Literature review &amp; project understanding</a:t>
            </a:r>
            <a:endParaRPr lang="en-US" sz="1200" dirty="0"/>
          </a:p>
        </p:txBody>
      </p:sp>
      <p:sp>
        <p:nvSpPr>
          <p:cNvPr id="35" name="Shape 32"/>
          <p:cNvSpPr/>
          <p:nvPr/>
        </p:nvSpPr>
        <p:spPr>
          <a:xfrm>
            <a:off x="4526280" y="2907792"/>
            <a:ext cx="3657600" cy="676656"/>
          </a:xfrm>
          <a:prstGeom prst="roundRect">
            <a:avLst>
              <a:gd name="adj" fmla="val 9459"/>
            </a:avLst>
          </a:prstGeom>
          <a:solidFill>
            <a:srgbClr val="FFFFFF"/>
          </a:solidFill>
          <a:ln w="12700">
            <a:solidFill>
              <a:srgbClr val="E2E8F0"/>
            </a:solidFill>
            <a:prstDash val="solid"/>
          </a:ln>
        </p:spPr>
      </p:sp>
      <p:pic>
        <p:nvPicPr>
          <p:cNvPr id="36" name="Image 1" descr="preencoded.png"/>
          <p:cNvPicPr>
            <a:picLocks noChangeAspect="1"/>
          </p:cNvPicPr>
          <p:nvPr/>
        </p:nvPicPr>
        <p:blipFill>
          <a:blip r:embed="rId3"/>
          <a:stretch>
            <a:fillRect/>
          </a:stretch>
        </p:blipFill>
        <p:spPr>
          <a:xfrm>
            <a:off x="4690872" y="3108960"/>
            <a:ext cx="274320" cy="274320"/>
          </a:xfrm>
          <a:prstGeom prst="rect">
            <a:avLst/>
          </a:prstGeom>
        </p:spPr>
      </p:pic>
      <p:sp>
        <p:nvSpPr>
          <p:cNvPr id="37" name="Text 33"/>
          <p:cNvSpPr/>
          <p:nvPr/>
        </p:nvSpPr>
        <p:spPr>
          <a:xfrm>
            <a:off x="5093208" y="2907792"/>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Hardware selection &amp; BOM preparation</a:t>
            </a:r>
            <a:endParaRPr lang="en-US" sz="1200" dirty="0"/>
          </a:p>
        </p:txBody>
      </p:sp>
      <p:sp>
        <p:nvSpPr>
          <p:cNvPr id="38" name="Shape 34"/>
          <p:cNvSpPr/>
          <p:nvPr/>
        </p:nvSpPr>
        <p:spPr>
          <a:xfrm>
            <a:off x="4526280" y="3712464"/>
            <a:ext cx="3657600" cy="676656"/>
          </a:xfrm>
          <a:prstGeom prst="roundRect">
            <a:avLst>
              <a:gd name="adj" fmla="val 9459"/>
            </a:avLst>
          </a:prstGeom>
          <a:solidFill>
            <a:srgbClr val="FFFFFF"/>
          </a:solidFill>
          <a:ln w="12700">
            <a:solidFill>
              <a:srgbClr val="E2E8F0"/>
            </a:solidFill>
            <a:prstDash val="solid"/>
          </a:ln>
        </p:spPr>
      </p:sp>
      <p:pic>
        <p:nvPicPr>
          <p:cNvPr id="39" name="Image 2" descr="preencoded.png"/>
          <p:cNvPicPr>
            <a:picLocks noChangeAspect="1"/>
          </p:cNvPicPr>
          <p:nvPr/>
        </p:nvPicPr>
        <p:blipFill>
          <a:blip r:embed="rId3"/>
          <a:stretch>
            <a:fillRect/>
          </a:stretch>
        </p:blipFill>
        <p:spPr>
          <a:xfrm>
            <a:off x="4690872" y="3913632"/>
            <a:ext cx="274320" cy="274320"/>
          </a:xfrm>
          <a:prstGeom prst="rect">
            <a:avLst/>
          </a:prstGeom>
        </p:spPr>
      </p:pic>
      <p:sp>
        <p:nvSpPr>
          <p:cNvPr id="40" name="Text 35"/>
          <p:cNvSpPr/>
          <p:nvPr/>
        </p:nvSpPr>
        <p:spPr>
          <a:xfrm>
            <a:off x="5093208" y="3712464"/>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CAD design of snake-robot segment</a:t>
            </a:r>
            <a:endParaRPr lang="en-US" sz="1200" dirty="0"/>
          </a:p>
        </p:txBody>
      </p:sp>
      <p:sp>
        <p:nvSpPr>
          <p:cNvPr id="41" name="Shape 36"/>
          <p:cNvSpPr/>
          <p:nvPr/>
        </p:nvSpPr>
        <p:spPr>
          <a:xfrm>
            <a:off x="4526280" y="4517136"/>
            <a:ext cx="3657600" cy="676656"/>
          </a:xfrm>
          <a:prstGeom prst="roundRect">
            <a:avLst>
              <a:gd name="adj" fmla="val 9459"/>
            </a:avLst>
          </a:prstGeom>
          <a:solidFill>
            <a:srgbClr val="FFFFFF"/>
          </a:solidFill>
          <a:ln w="12700">
            <a:solidFill>
              <a:srgbClr val="E2E8F0"/>
            </a:solidFill>
            <a:prstDash val="solid"/>
          </a:ln>
        </p:spPr>
      </p:sp>
      <p:pic>
        <p:nvPicPr>
          <p:cNvPr id="42" name="Image 3" descr="preencoded.png"/>
          <p:cNvPicPr>
            <a:picLocks noChangeAspect="1"/>
          </p:cNvPicPr>
          <p:nvPr/>
        </p:nvPicPr>
        <p:blipFill>
          <a:blip r:embed="rId3"/>
          <a:stretch>
            <a:fillRect/>
          </a:stretch>
        </p:blipFill>
        <p:spPr>
          <a:xfrm>
            <a:off x="4690872" y="4718304"/>
            <a:ext cx="274320" cy="274320"/>
          </a:xfrm>
          <a:prstGeom prst="rect">
            <a:avLst/>
          </a:prstGeom>
        </p:spPr>
      </p:pic>
      <p:sp>
        <p:nvSpPr>
          <p:cNvPr id="43" name="Text 37"/>
          <p:cNvSpPr/>
          <p:nvPr/>
        </p:nvSpPr>
        <p:spPr>
          <a:xfrm>
            <a:off x="5093208" y="4517136"/>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Assembly sized to Dynamixel XL330 dims</a:t>
            </a:r>
            <a:endParaRPr lang="en-US" sz="1200" dirty="0"/>
          </a:p>
        </p:txBody>
      </p:sp>
      <p:sp>
        <p:nvSpPr>
          <p:cNvPr id="44" name="Shape 38"/>
          <p:cNvSpPr/>
          <p:nvPr/>
        </p:nvSpPr>
        <p:spPr>
          <a:xfrm>
            <a:off x="4526280" y="5321808"/>
            <a:ext cx="3657600" cy="676656"/>
          </a:xfrm>
          <a:prstGeom prst="roundRect">
            <a:avLst>
              <a:gd name="adj" fmla="val 9459"/>
            </a:avLst>
          </a:prstGeom>
          <a:solidFill>
            <a:srgbClr val="FFFFFF"/>
          </a:solidFill>
          <a:ln w="12700">
            <a:solidFill>
              <a:srgbClr val="E2E8F0"/>
            </a:solidFill>
            <a:prstDash val="solid"/>
          </a:ln>
        </p:spPr>
      </p:sp>
      <p:pic>
        <p:nvPicPr>
          <p:cNvPr id="45" name="Image 4" descr="preencoded.png"/>
          <p:cNvPicPr>
            <a:picLocks noChangeAspect="1"/>
          </p:cNvPicPr>
          <p:nvPr/>
        </p:nvPicPr>
        <p:blipFill>
          <a:blip r:embed="rId3"/>
          <a:stretch>
            <a:fillRect/>
          </a:stretch>
        </p:blipFill>
        <p:spPr>
          <a:xfrm>
            <a:off x="4690872" y="5522976"/>
            <a:ext cx="274320" cy="274320"/>
          </a:xfrm>
          <a:prstGeom prst="rect">
            <a:avLst/>
          </a:prstGeom>
        </p:spPr>
      </p:pic>
      <p:sp>
        <p:nvSpPr>
          <p:cNvPr id="46" name="Text 39"/>
          <p:cNvSpPr/>
          <p:nvPr/>
        </p:nvSpPr>
        <p:spPr>
          <a:xfrm>
            <a:off x="5093208" y="5321808"/>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3D printing of two prototype segments</a:t>
            </a:r>
            <a:endParaRPr lang="en-US" sz="1200" dirty="0"/>
          </a:p>
        </p:txBody>
      </p:sp>
      <p:sp>
        <p:nvSpPr>
          <p:cNvPr id="47" name="Shape 40"/>
          <p:cNvSpPr/>
          <p:nvPr/>
        </p:nvSpPr>
        <p:spPr>
          <a:xfrm>
            <a:off x="8366760" y="2103120"/>
            <a:ext cx="3657600" cy="676656"/>
          </a:xfrm>
          <a:prstGeom prst="roundRect">
            <a:avLst>
              <a:gd name="adj" fmla="val 9459"/>
            </a:avLst>
          </a:prstGeom>
          <a:solidFill>
            <a:srgbClr val="FFFFFF"/>
          </a:solidFill>
          <a:ln w="12700">
            <a:solidFill>
              <a:srgbClr val="E2E8F0"/>
            </a:solidFill>
            <a:prstDash val="solid"/>
          </a:ln>
        </p:spPr>
      </p:sp>
      <p:pic>
        <p:nvPicPr>
          <p:cNvPr id="48" name="Image 5" descr="preencoded.png"/>
          <p:cNvPicPr>
            <a:picLocks noChangeAspect="1"/>
          </p:cNvPicPr>
          <p:nvPr/>
        </p:nvPicPr>
        <p:blipFill>
          <a:blip r:embed="rId3"/>
          <a:stretch>
            <a:fillRect/>
          </a:stretch>
        </p:blipFill>
        <p:spPr>
          <a:xfrm>
            <a:off x="8531352" y="2304288"/>
            <a:ext cx="274320" cy="274320"/>
          </a:xfrm>
          <a:prstGeom prst="rect">
            <a:avLst/>
          </a:prstGeom>
        </p:spPr>
      </p:pic>
      <p:sp>
        <p:nvSpPr>
          <p:cNvPr id="49" name="Text 41"/>
          <p:cNvSpPr/>
          <p:nvPr/>
        </p:nvSpPr>
        <p:spPr>
          <a:xfrm>
            <a:off x="8933688" y="2103120"/>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Raspberry Pi setup &amp; configuration</a:t>
            </a:r>
            <a:endParaRPr lang="en-US" sz="1200" dirty="0"/>
          </a:p>
        </p:txBody>
      </p:sp>
      <p:sp>
        <p:nvSpPr>
          <p:cNvPr id="50" name="Shape 42"/>
          <p:cNvSpPr/>
          <p:nvPr/>
        </p:nvSpPr>
        <p:spPr>
          <a:xfrm>
            <a:off x="8366760" y="2907792"/>
            <a:ext cx="3657600" cy="676656"/>
          </a:xfrm>
          <a:prstGeom prst="roundRect">
            <a:avLst>
              <a:gd name="adj" fmla="val 9459"/>
            </a:avLst>
          </a:prstGeom>
          <a:solidFill>
            <a:srgbClr val="FFFFFF"/>
          </a:solidFill>
          <a:ln w="12700">
            <a:solidFill>
              <a:srgbClr val="E2E8F0"/>
            </a:solidFill>
            <a:prstDash val="solid"/>
          </a:ln>
        </p:spPr>
      </p:sp>
      <p:pic>
        <p:nvPicPr>
          <p:cNvPr id="51" name="Image 6" descr="preencoded.png"/>
          <p:cNvPicPr>
            <a:picLocks noChangeAspect="1"/>
          </p:cNvPicPr>
          <p:nvPr/>
        </p:nvPicPr>
        <p:blipFill>
          <a:blip r:embed="rId3"/>
          <a:stretch>
            <a:fillRect/>
          </a:stretch>
        </p:blipFill>
        <p:spPr>
          <a:xfrm>
            <a:off x="8531352" y="3108960"/>
            <a:ext cx="274320" cy="274320"/>
          </a:xfrm>
          <a:prstGeom prst="rect">
            <a:avLst/>
          </a:prstGeom>
        </p:spPr>
      </p:pic>
      <p:sp>
        <p:nvSpPr>
          <p:cNvPr id="52" name="Text 43"/>
          <p:cNvSpPr/>
          <p:nvPr/>
        </p:nvSpPr>
        <p:spPr>
          <a:xfrm>
            <a:off x="8933688" y="2907792"/>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Wi-Fi connectivity testing on the Pi</a:t>
            </a:r>
            <a:endParaRPr lang="en-US" sz="1200" dirty="0"/>
          </a:p>
        </p:txBody>
      </p:sp>
      <p:sp>
        <p:nvSpPr>
          <p:cNvPr id="53" name="Shape 44"/>
          <p:cNvSpPr/>
          <p:nvPr/>
        </p:nvSpPr>
        <p:spPr>
          <a:xfrm>
            <a:off x="8366760" y="3712464"/>
            <a:ext cx="3657600" cy="676656"/>
          </a:xfrm>
          <a:prstGeom prst="roundRect">
            <a:avLst>
              <a:gd name="adj" fmla="val 9459"/>
            </a:avLst>
          </a:prstGeom>
          <a:solidFill>
            <a:srgbClr val="FFFFFF"/>
          </a:solidFill>
          <a:ln w="12700">
            <a:solidFill>
              <a:srgbClr val="E2E8F0"/>
            </a:solidFill>
            <a:prstDash val="solid"/>
          </a:ln>
        </p:spPr>
      </p:sp>
      <p:pic>
        <p:nvPicPr>
          <p:cNvPr id="54" name="Image 7" descr="preencoded.png"/>
          <p:cNvPicPr>
            <a:picLocks noChangeAspect="1"/>
          </p:cNvPicPr>
          <p:nvPr/>
        </p:nvPicPr>
        <p:blipFill>
          <a:blip r:embed="rId3"/>
          <a:stretch>
            <a:fillRect/>
          </a:stretch>
        </p:blipFill>
        <p:spPr>
          <a:xfrm>
            <a:off x="8531352" y="3913632"/>
            <a:ext cx="274320" cy="274320"/>
          </a:xfrm>
          <a:prstGeom prst="rect">
            <a:avLst/>
          </a:prstGeom>
        </p:spPr>
      </p:pic>
      <p:sp>
        <p:nvSpPr>
          <p:cNvPr id="55" name="Text 45"/>
          <p:cNvSpPr/>
          <p:nvPr/>
        </p:nvSpPr>
        <p:spPr>
          <a:xfrm>
            <a:off x="8933688" y="3712464"/>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Basic Raspberry Pi lab projects executed</a:t>
            </a:r>
            <a:endParaRPr lang="en-US" sz="1200" dirty="0"/>
          </a:p>
        </p:txBody>
      </p:sp>
      <p:sp>
        <p:nvSpPr>
          <p:cNvPr id="56" name="Shape 46"/>
          <p:cNvSpPr/>
          <p:nvPr/>
        </p:nvSpPr>
        <p:spPr>
          <a:xfrm>
            <a:off x="8366760" y="4517136"/>
            <a:ext cx="3657600" cy="676656"/>
          </a:xfrm>
          <a:prstGeom prst="roundRect">
            <a:avLst>
              <a:gd name="adj" fmla="val 9459"/>
            </a:avLst>
          </a:prstGeom>
          <a:solidFill>
            <a:srgbClr val="FFFFFF"/>
          </a:solidFill>
          <a:ln w="12700">
            <a:solidFill>
              <a:srgbClr val="E2E8F0"/>
            </a:solidFill>
            <a:prstDash val="solid"/>
          </a:ln>
        </p:spPr>
      </p:sp>
      <p:pic>
        <p:nvPicPr>
          <p:cNvPr id="57" name="Image 8" descr="preencoded.png"/>
          <p:cNvPicPr>
            <a:picLocks noChangeAspect="1"/>
          </p:cNvPicPr>
          <p:nvPr/>
        </p:nvPicPr>
        <p:blipFill>
          <a:blip r:embed="rId3"/>
          <a:stretch>
            <a:fillRect/>
          </a:stretch>
        </p:blipFill>
        <p:spPr>
          <a:xfrm>
            <a:off x="8531352" y="4718304"/>
            <a:ext cx="274320" cy="274320"/>
          </a:xfrm>
          <a:prstGeom prst="rect">
            <a:avLst/>
          </a:prstGeom>
        </p:spPr>
      </p:pic>
      <p:sp>
        <p:nvSpPr>
          <p:cNvPr id="58" name="Text 47"/>
          <p:cNvSpPr/>
          <p:nvPr/>
        </p:nvSpPr>
        <p:spPr>
          <a:xfrm>
            <a:off x="8933688" y="4517136"/>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GitHub repository created &amp; maintained</a:t>
            </a:r>
            <a:endParaRPr lang="en-US" sz="1200" dirty="0"/>
          </a:p>
        </p:txBody>
      </p:sp>
      <p:sp>
        <p:nvSpPr>
          <p:cNvPr id="59" name="Shape 48"/>
          <p:cNvSpPr/>
          <p:nvPr/>
        </p:nvSpPr>
        <p:spPr>
          <a:xfrm>
            <a:off x="8366760" y="5321808"/>
            <a:ext cx="3657600" cy="676656"/>
          </a:xfrm>
          <a:prstGeom prst="roundRect">
            <a:avLst>
              <a:gd name="adj" fmla="val 9459"/>
            </a:avLst>
          </a:prstGeom>
          <a:solidFill>
            <a:srgbClr val="FFFFFF"/>
          </a:solidFill>
          <a:ln w="12700">
            <a:solidFill>
              <a:srgbClr val="E2E8F0"/>
            </a:solidFill>
            <a:prstDash val="solid"/>
          </a:ln>
        </p:spPr>
      </p:sp>
      <p:pic>
        <p:nvPicPr>
          <p:cNvPr id="60" name="Image 9" descr="preencoded.png"/>
          <p:cNvPicPr>
            <a:picLocks noChangeAspect="1"/>
          </p:cNvPicPr>
          <p:nvPr/>
        </p:nvPicPr>
        <p:blipFill>
          <a:blip r:embed="rId3"/>
          <a:stretch>
            <a:fillRect/>
          </a:stretch>
        </p:blipFill>
        <p:spPr>
          <a:xfrm>
            <a:off x="8531352" y="5522976"/>
            <a:ext cx="274320" cy="274320"/>
          </a:xfrm>
          <a:prstGeom prst="rect">
            <a:avLst/>
          </a:prstGeom>
        </p:spPr>
      </p:pic>
      <p:sp>
        <p:nvSpPr>
          <p:cNvPr id="61" name="Text 49"/>
          <p:cNvSpPr/>
          <p:nvPr/>
        </p:nvSpPr>
        <p:spPr>
          <a:xfrm>
            <a:off x="8933688" y="5321808"/>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Procurement process initiated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8FB"/>
        </a:solidFill>
        <a:effectLst/>
      </p:bgPr>
    </p:bg>
    <p:spTree>
      <p:nvGrpSpPr>
        <p:cNvPr id="1" name=""/>
        <p:cNvGrpSpPr/>
        <p:nvPr/>
      </p:nvGrpSpPr>
      <p:grpSpPr>
        <a:xfrm>
          <a:off x="0" y="0"/>
          <a:ext cx="0" cy="0"/>
          <a:chOff x="0" y="0"/>
          <a:chExt cx="0" cy="0"/>
        </a:xfrm>
      </p:grpSpPr>
      <p:sp>
        <p:nvSpPr>
          <p:cNvPr id="400" name="PwrBlock"/>
          <p:cNvSpPr/>
          <p:nvPr/>
        </p:nvSpPr>
        <p:spPr>
          <a:xfrm>
            <a:off x="635000" y="1143000"/>
            <a:ext cx="3683000" cy="609600"/>
          </a:xfrm>
          <a:prstGeom prst="rect">
            <a:avLst/>
          </a:prstGeom>
          <a:solidFill>
            <a:srgbClr val="E8F5EE"/>
          </a:solidFill>
          <a:ln w="19050">
            <a:solidFill>
              <a:srgbClr val="2E8A5A"/>
            </a:solidFill>
          </a:ln>
        </p:spPr>
        <p:txBody>
          <a:bodyPr/>
          <a:lstStyle/>
          <a:p>
            <a:endParaRPr/>
          </a:p>
        </p:txBody>
      </p:sp>
      <p:sp>
        <p:nvSpPr>
          <p:cNvPr id="401" name="PwrLabel"/>
          <p:cNvSpPr/>
          <p:nvPr/>
        </p:nvSpPr>
        <p:spPr>
          <a:xfrm>
            <a:off x="635000" y="1143000"/>
            <a:ext cx="3683000" cy="609600"/>
          </a:xfrm>
          <a:prstGeom prst="rect">
            <a:avLst/>
          </a:prstGeom>
          <a:noFill/>
          <a:ln>
            <a:noFill/>
          </a:ln>
        </p:spPr>
        <p:txBody>
          <a:bodyPr wrap="square" rtlCol="0" anchor="ctr"/>
          <a:lstStyle/>
          <a:p>
            <a:pPr marL="0" indent="0" algn="ctr">
              <a:buNone/>
            </a:pPr>
            <a:r>
              <a:rPr lang="en-US" sz="1100" b="1" dirty="0">
                <a:solidFill>
                  <a:srgbClr val="1A7A4A"/>
                </a:solidFill>
                <a:latin typeface="Calibri" pitchFamily="34" charset="0"/>
              </a:rPr>
              <a:t>Power Supply</a:t>
            </a:r>
          </a:p>
        </p:txBody>
      </p:sp>
      <p:sp>
        <p:nvSpPr>
          <p:cNvPr id="402" name="Arr1"/>
          <p:cNvSpPr/>
          <p:nvPr/>
        </p:nvSpPr>
        <p:spPr>
          <a:xfrm>
            <a:off x="2463800" y="1752600"/>
            <a:ext cx="25400" cy="203200"/>
          </a:xfrm>
          <a:prstGeom prst="rect">
            <a:avLst/>
          </a:prstGeom>
          <a:solidFill>
            <a:srgbClr val="4A6080"/>
          </a:solidFill>
          <a:ln>
            <a:noFill/>
          </a:ln>
        </p:spPr>
        <p:txBody>
          <a:bodyPr/>
          <a:lstStyle/>
          <a:p>
            <a:endParaRPr/>
          </a:p>
        </p:txBody>
      </p:sp>
      <p:sp>
        <p:nvSpPr>
          <p:cNvPr id="403" name="ArrH1"/>
          <p:cNvSpPr/>
          <p:nvPr/>
        </p:nvSpPr>
        <p:spPr>
          <a:xfrm flipV="1">
            <a:off x="2413000" y="1879600"/>
            <a:ext cx="127000" cy="101600"/>
          </a:xfrm>
          <a:prstGeom prst="triangle">
            <a:avLst/>
          </a:prstGeom>
          <a:solidFill>
            <a:srgbClr val="4A6080"/>
          </a:solidFill>
          <a:ln>
            <a:noFill/>
          </a:ln>
        </p:spPr>
        <p:txBody>
          <a:bodyPr/>
          <a:lstStyle/>
          <a:p>
            <a:endParaRPr/>
          </a:p>
        </p:txBody>
      </p:sp>
      <p:sp>
        <p:nvSpPr>
          <p:cNvPr id="404" name="RPiBlock"/>
          <p:cNvSpPr/>
          <p:nvPr/>
        </p:nvSpPr>
        <p:spPr>
          <a:xfrm>
            <a:off x="635000" y="1981200"/>
            <a:ext cx="3683000" cy="609600"/>
          </a:xfrm>
          <a:prstGeom prst="rect">
            <a:avLst/>
          </a:prstGeom>
          <a:solidFill>
            <a:srgbClr val="E8F5EE"/>
          </a:solidFill>
          <a:ln w="25400">
            <a:solidFill>
              <a:srgbClr val="2E8A5A"/>
            </a:solidFill>
          </a:ln>
        </p:spPr>
        <p:txBody>
          <a:bodyPr/>
          <a:lstStyle/>
          <a:p>
            <a:endParaRPr/>
          </a:p>
        </p:txBody>
      </p:sp>
      <p:sp>
        <p:nvSpPr>
          <p:cNvPr id="405" name="RPiLabel"/>
          <p:cNvSpPr/>
          <p:nvPr/>
        </p:nvSpPr>
        <p:spPr>
          <a:xfrm>
            <a:off x="635000" y="1981200"/>
            <a:ext cx="3683000" cy="609600"/>
          </a:xfrm>
          <a:prstGeom prst="rect">
            <a:avLst/>
          </a:prstGeom>
          <a:noFill/>
          <a:ln>
            <a:noFill/>
          </a:ln>
        </p:spPr>
        <p:txBody>
          <a:bodyPr wrap="square" rtlCol="0" anchor="ctr"/>
          <a:lstStyle/>
          <a:p>
            <a:pPr marL="0" indent="0" algn="ctr">
              <a:buNone/>
            </a:pPr>
            <a:r>
              <a:rPr lang="en-US" sz="1050" b="1" dirty="0">
                <a:solidFill>
                  <a:srgbClr val="1A7A4A"/>
                </a:solidFill>
                <a:latin typeface="Calibri" pitchFamily="34" charset="0"/>
              </a:rPr>
              <a:t>Raspberry Pi 5  [Central Controller]</a:t>
            </a:r>
          </a:p>
        </p:txBody>
      </p:sp>
      <p:sp>
        <p:nvSpPr>
          <p:cNvPr id="406" name="Arr2"/>
          <p:cNvSpPr/>
          <p:nvPr/>
        </p:nvSpPr>
        <p:spPr>
          <a:xfrm>
            <a:off x="2463800" y="2590800"/>
            <a:ext cx="25400" cy="203200"/>
          </a:xfrm>
          <a:prstGeom prst="rect">
            <a:avLst/>
          </a:prstGeom>
          <a:solidFill>
            <a:srgbClr val="4A6080"/>
          </a:solidFill>
          <a:ln>
            <a:noFill/>
          </a:ln>
        </p:spPr>
        <p:txBody>
          <a:bodyPr/>
          <a:lstStyle/>
          <a:p>
            <a:endParaRPr/>
          </a:p>
        </p:txBody>
      </p:sp>
      <p:sp>
        <p:nvSpPr>
          <p:cNvPr id="407" name="ArrH2"/>
          <p:cNvSpPr/>
          <p:nvPr/>
        </p:nvSpPr>
        <p:spPr>
          <a:xfrm flipV="1">
            <a:off x="2413000" y="2717800"/>
            <a:ext cx="127000" cy="101600"/>
          </a:xfrm>
          <a:prstGeom prst="triangle">
            <a:avLst/>
          </a:prstGeom>
          <a:solidFill>
            <a:srgbClr val="4A6080"/>
          </a:solidFill>
          <a:ln>
            <a:noFill/>
          </a:ln>
        </p:spPr>
        <p:txBody>
          <a:bodyPr/>
          <a:lstStyle/>
          <a:p>
            <a:endParaRPr/>
          </a:p>
        </p:txBody>
      </p:sp>
      <p:sp>
        <p:nvSpPr>
          <p:cNvPr id="408" name="CommBlock"/>
          <p:cNvSpPr/>
          <p:nvPr/>
        </p:nvSpPr>
        <p:spPr>
          <a:xfrm>
            <a:off x="635000" y="2819400"/>
            <a:ext cx="3683000" cy="609600"/>
          </a:xfrm>
          <a:prstGeom prst="rect">
            <a:avLst/>
          </a:prstGeom>
          <a:solidFill>
            <a:srgbClr val="E8F0FA"/>
          </a:solidFill>
          <a:ln w="19050">
            <a:solidFill>
              <a:srgbClr val="2563A8"/>
            </a:solidFill>
          </a:ln>
        </p:spPr>
        <p:txBody>
          <a:bodyPr/>
          <a:lstStyle/>
          <a:p>
            <a:endParaRPr/>
          </a:p>
        </p:txBody>
      </p:sp>
      <p:sp>
        <p:nvSpPr>
          <p:cNvPr id="409" name="CommLabel"/>
          <p:cNvSpPr/>
          <p:nvPr/>
        </p:nvSpPr>
        <p:spPr>
          <a:xfrm>
            <a:off x="635000" y="28194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Communication Layer  (U2D2 / UART)</a:t>
            </a:r>
          </a:p>
        </p:txBody>
      </p:sp>
      <p:sp>
        <p:nvSpPr>
          <p:cNvPr id="410" name="Arr3"/>
          <p:cNvSpPr/>
          <p:nvPr/>
        </p:nvSpPr>
        <p:spPr>
          <a:xfrm>
            <a:off x="2463800" y="3429000"/>
            <a:ext cx="25400" cy="203200"/>
          </a:xfrm>
          <a:prstGeom prst="rect">
            <a:avLst/>
          </a:prstGeom>
          <a:solidFill>
            <a:srgbClr val="4A6080"/>
          </a:solidFill>
          <a:ln>
            <a:noFill/>
          </a:ln>
        </p:spPr>
        <p:txBody>
          <a:bodyPr/>
          <a:lstStyle/>
          <a:p>
            <a:endParaRPr/>
          </a:p>
        </p:txBody>
      </p:sp>
      <p:sp>
        <p:nvSpPr>
          <p:cNvPr id="411" name="ArrH3"/>
          <p:cNvSpPr/>
          <p:nvPr/>
        </p:nvSpPr>
        <p:spPr>
          <a:xfrm flipV="1">
            <a:off x="2413000" y="3556000"/>
            <a:ext cx="127000" cy="101600"/>
          </a:xfrm>
          <a:prstGeom prst="triangle">
            <a:avLst/>
          </a:prstGeom>
          <a:solidFill>
            <a:srgbClr val="4A6080"/>
          </a:solidFill>
          <a:ln>
            <a:noFill/>
          </a:ln>
        </p:spPr>
        <p:txBody>
          <a:bodyPr/>
          <a:lstStyle/>
          <a:p>
            <a:endParaRPr/>
          </a:p>
        </p:txBody>
      </p:sp>
      <p:sp>
        <p:nvSpPr>
          <p:cNvPr id="412" name="DynBlock"/>
          <p:cNvSpPr/>
          <p:nvPr/>
        </p:nvSpPr>
        <p:spPr>
          <a:xfrm>
            <a:off x="635000" y="3657600"/>
            <a:ext cx="3683000" cy="609600"/>
          </a:xfrm>
          <a:prstGeom prst="rect">
            <a:avLst/>
          </a:prstGeom>
          <a:solidFill>
            <a:srgbClr val="E8F0FA"/>
          </a:solidFill>
          <a:ln w="19050">
            <a:solidFill>
              <a:srgbClr val="2563A8"/>
            </a:solidFill>
          </a:ln>
        </p:spPr>
        <p:txBody>
          <a:bodyPr/>
          <a:lstStyle/>
          <a:p>
            <a:endParaRPr/>
          </a:p>
        </p:txBody>
      </p:sp>
      <p:sp>
        <p:nvSpPr>
          <p:cNvPr id="413" name="DynLabel"/>
          <p:cNvSpPr/>
          <p:nvPr/>
        </p:nvSpPr>
        <p:spPr>
          <a:xfrm>
            <a:off x="635000" y="3657600"/>
            <a:ext cx="3683000" cy="609600"/>
          </a:xfrm>
          <a:prstGeom prst="rect">
            <a:avLst/>
          </a:prstGeom>
          <a:noFill/>
          <a:ln>
            <a:noFill/>
          </a:ln>
        </p:spPr>
        <p:txBody>
          <a:bodyPr wrap="square" rtlCol="0" anchor="ctr"/>
          <a:lstStyle/>
          <a:p>
            <a:pPr marL="0" indent="0" algn="ctr">
              <a:buNone/>
            </a:pPr>
            <a:r>
              <a:rPr lang="en-US" sz="1050" b="1" dirty="0">
                <a:solidFill>
                  <a:srgbClr val="1A5C8A"/>
                </a:solidFill>
                <a:latin typeface="Calibri" pitchFamily="34" charset="0"/>
              </a:rPr>
              <a:t>Dynamixel Motor Network</a:t>
            </a:r>
          </a:p>
        </p:txBody>
      </p:sp>
      <p:sp>
        <p:nvSpPr>
          <p:cNvPr id="414" name="Arr4"/>
          <p:cNvSpPr/>
          <p:nvPr/>
        </p:nvSpPr>
        <p:spPr>
          <a:xfrm>
            <a:off x="2463800" y="4267200"/>
            <a:ext cx="25400" cy="203200"/>
          </a:xfrm>
          <a:prstGeom prst="rect">
            <a:avLst/>
          </a:prstGeom>
          <a:solidFill>
            <a:srgbClr val="4A6080"/>
          </a:solidFill>
          <a:ln>
            <a:noFill/>
          </a:ln>
        </p:spPr>
        <p:txBody>
          <a:bodyPr/>
          <a:lstStyle/>
          <a:p>
            <a:endParaRPr/>
          </a:p>
        </p:txBody>
      </p:sp>
      <p:sp>
        <p:nvSpPr>
          <p:cNvPr id="415" name="ArrH4"/>
          <p:cNvSpPr/>
          <p:nvPr/>
        </p:nvSpPr>
        <p:spPr>
          <a:xfrm flipV="1">
            <a:off x="2413000" y="4394200"/>
            <a:ext cx="127000" cy="101600"/>
          </a:xfrm>
          <a:prstGeom prst="triangle">
            <a:avLst/>
          </a:prstGeom>
          <a:solidFill>
            <a:srgbClr val="4A6080"/>
          </a:solidFill>
          <a:ln>
            <a:noFill/>
          </a:ln>
        </p:spPr>
        <p:txBody>
          <a:bodyPr/>
          <a:lstStyle/>
          <a:p>
            <a:endParaRPr/>
          </a:p>
        </p:txBody>
      </p:sp>
      <p:sp>
        <p:nvSpPr>
          <p:cNvPr id="416" name="RobBlock"/>
          <p:cNvSpPr/>
          <p:nvPr/>
        </p:nvSpPr>
        <p:spPr>
          <a:xfrm>
            <a:off x="635000" y="4495800"/>
            <a:ext cx="3683000" cy="609600"/>
          </a:xfrm>
          <a:prstGeom prst="rect">
            <a:avLst/>
          </a:prstGeom>
          <a:solidFill>
            <a:srgbClr val="E8F0FA"/>
          </a:solidFill>
          <a:ln w="19050">
            <a:solidFill>
              <a:srgbClr val="2563A8"/>
            </a:solidFill>
          </a:ln>
        </p:spPr>
        <p:txBody>
          <a:bodyPr/>
          <a:lstStyle/>
          <a:p>
            <a:endParaRPr/>
          </a:p>
        </p:txBody>
      </p:sp>
      <p:sp>
        <p:nvSpPr>
          <p:cNvPr id="417" name="RobLabel"/>
          <p:cNvSpPr/>
          <p:nvPr/>
        </p:nvSpPr>
        <p:spPr>
          <a:xfrm>
            <a:off x="635000" y="44958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Robot Segments  (10 × servo joints)</a:t>
            </a:r>
          </a:p>
        </p:txBody>
      </p:sp>
      <p:sp>
        <p:nvSpPr>
          <p:cNvPr id="420" name="CABlock"/>
          <p:cNvSpPr/>
          <p:nvPr/>
        </p:nvSpPr>
        <p:spPr>
          <a:xfrm>
            <a:off x="4826000" y="2019300"/>
            <a:ext cx="2159000" cy="533400"/>
          </a:xfrm>
          <a:prstGeom prst="rect">
            <a:avLst/>
          </a:prstGeom>
          <a:solidFill>
            <a:srgbClr val="E8F5EE"/>
          </a:solidFill>
          <a:ln w="19050">
            <a:solidFill>
              <a:srgbClr val="2E8A5A"/>
            </a:solidFill>
          </a:ln>
        </p:spPr>
        <p:txBody>
          <a:bodyPr/>
          <a:lstStyle/>
          <a:p>
            <a:endParaRPr/>
          </a:p>
        </p:txBody>
      </p:sp>
      <p:sp>
        <p:nvSpPr>
          <p:cNvPr id="421" name="CALabel"/>
          <p:cNvSpPr/>
          <p:nvPr/>
        </p:nvSpPr>
        <p:spPr>
          <a:xfrm>
            <a:off x="4826000" y="2019300"/>
            <a:ext cx="2159000" cy="533400"/>
          </a:xfrm>
          <a:prstGeom prst="rect">
            <a:avLst/>
          </a:prstGeom>
          <a:noFill/>
          <a:ln>
            <a:noFill/>
          </a:ln>
        </p:spPr>
        <p:txBody>
          <a:bodyPr wrap="square" rtlCol="0" anchor="ctr"/>
          <a:lstStyle/>
          <a:p>
            <a:pPr marL="0" indent="0" algn="ctr">
              <a:buNone/>
            </a:pPr>
            <a:r>
              <a:rPr lang="en-US" sz="1000" b="1" dirty="0">
                <a:solidFill>
                  <a:srgbClr val="1A7A4A"/>
                </a:solidFill>
                <a:latin typeface="Calibri" pitchFamily="34" charset="0"/>
              </a:rPr>
              <a:t>Control Algorithms</a:t>
            </a:r>
          </a:p>
        </p:txBody>
      </p:sp>
      <p:sp>
        <p:nvSpPr>
          <p:cNvPr id="422" name="HConn1"/>
          <p:cNvSpPr/>
          <p:nvPr/>
        </p:nvSpPr>
        <p:spPr>
          <a:xfrm>
            <a:off x="4318000" y="2273300"/>
            <a:ext cx="508000" cy="25400"/>
          </a:xfrm>
          <a:prstGeom prst="rect">
            <a:avLst/>
          </a:prstGeom>
          <a:solidFill>
            <a:srgbClr val="4A6080"/>
          </a:solidFill>
          <a:ln>
            <a:noFill/>
          </a:ln>
        </p:spPr>
        <p:txBody>
          <a:bodyPr/>
          <a:lstStyle/>
          <a:p>
            <a:endParaRPr/>
          </a:p>
        </p:txBody>
      </p:sp>
      <p:sp>
        <p:nvSpPr>
          <p:cNvPr id="451" name="SensorBox"/>
          <p:cNvSpPr/>
          <p:nvPr/>
        </p:nvSpPr>
        <p:spPr>
          <a:xfrm>
            <a:off x="7620000" y="1308100"/>
            <a:ext cx="2362200" cy="533400"/>
          </a:xfrm>
          <a:prstGeom prst="rect">
            <a:avLst/>
          </a:prstGeom>
          <a:solidFill>
            <a:srgbClr val="EAEEF4"/>
          </a:solidFill>
          <a:ln w="19050">
            <a:solidFill>
              <a:srgbClr val="8A96A8"/>
            </a:solidFill>
            <a:prstDash val="dash"/>
          </a:ln>
        </p:spPr>
        <p:txBody>
          <a:bodyPr/>
          <a:lstStyle/>
          <a:p>
            <a:endParaRPr/>
          </a:p>
        </p:txBody>
      </p:sp>
      <p:sp>
        <p:nvSpPr>
          <p:cNvPr id="452" name="SensorLabel"/>
          <p:cNvSpPr/>
          <p:nvPr/>
        </p:nvSpPr>
        <p:spPr>
          <a:xfrm>
            <a:off x="7620000" y="13081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IMU / Force Sensors</a:t>
            </a:r>
          </a:p>
        </p:txBody>
      </p:sp>
      <p:sp>
        <p:nvSpPr>
          <p:cNvPr id="453" name="CamBox"/>
          <p:cNvSpPr/>
          <p:nvPr/>
        </p:nvSpPr>
        <p:spPr>
          <a:xfrm>
            <a:off x="7620000" y="1968500"/>
            <a:ext cx="2362200" cy="533400"/>
          </a:xfrm>
          <a:prstGeom prst="rect">
            <a:avLst/>
          </a:prstGeom>
          <a:solidFill>
            <a:srgbClr val="EAEEF4"/>
          </a:solidFill>
          <a:ln w="19050">
            <a:solidFill>
              <a:srgbClr val="8A96A8"/>
            </a:solidFill>
            <a:prstDash val="dash"/>
          </a:ln>
        </p:spPr>
        <p:txBody>
          <a:bodyPr/>
          <a:lstStyle/>
          <a:p>
            <a:endParaRPr/>
          </a:p>
        </p:txBody>
      </p:sp>
      <p:sp>
        <p:nvSpPr>
          <p:cNvPr id="454" name="CamLabel"/>
          <p:cNvSpPr/>
          <p:nvPr/>
        </p:nvSpPr>
        <p:spPr>
          <a:xfrm>
            <a:off x="7620000" y="19685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Camera Module</a:t>
            </a:r>
          </a:p>
        </p:txBody>
      </p:sp>
      <p:sp>
        <p:nvSpPr>
          <p:cNvPr id="455" name="WirelessBox"/>
          <p:cNvSpPr/>
          <p:nvPr/>
        </p:nvSpPr>
        <p:spPr>
          <a:xfrm>
            <a:off x="7620000" y="2628900"/>
            <a:ext cx="2362200" cy="533400"/>
          </a:xfrm>
          <a:prstGeom prst="rect">
            <a:avLst/>
          </a:prstGeom>
          <a:solidFill>
            <a:srgbClr val="EAEEF4"/>
          </a:solidFill>
          <a:ln w="19050">
            <a:solidFill>
              <a:srgbClr val="8A96A8"/>
            </a:solidFill>
            <a:prstDash val="dash"/>
          </a:ln>
        </p:spPr>
        <p:txBody>
          <a:bodyPr/>
          <a:lstStyle/>
          <a:p>
            <a:endParaRPr/>
          </a:p>
        </p:txBody>
      </p:sp>
      <p:sp>
        <p:nvSpPr>
          <p:cNvPr id="456" name="WirelessLabel"/>
          <p:cNvSpPr/>
          <p:nvPr/>
        </p:nvSpPr>
        <p:spPr>
          <a:xfrm>
            <a:off x="7620000" y="26289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Wireless Control Module</a:t>
            </a:r>
          </a:p>
        </p:txBody>
      </p:sp>
      <p:sp>
        <p:nvSpPr>
          <p:cNvPr id="460" name="FutConn1"/>
          <p:cNvSpPr/>
          <p:nvPr/>
        </p:nvSpPr>
        <p:spPr>
          <a:xfrm>
            <a:off x="4318000" y="3111500"/>
            <a:ext cx="3302000" cy="25400"/>
          </a:xfrm>
          <a:prstGeom prst="rect">
            <a:avLst/>
          </a:prstGeom>
          <a:solidFill>
            <a:srgbClr val="9AACBE"/>
          </a:solidFill>
          <a:ln>
            <a:noFill/>
          </a:ln>
        </p:spPr>
        <p:txBody>
          <a:bodyPr/>
          <a:lstStyle/>
          <a:p>
            <a:endParaRPr/>
          </a:p>
        </p:txBody>
      </p:sp>
      <p:sp>
        <p:nvSpPr>
          <p:cNvPr id="470" name="LegHeader"/>
          <p:cNvSpPr/>
          <p:nvPr/>
        </p:nvSpPr>
        <p:spPr>
          <a:xfrm>
            <a:off x="7620000" y="4546600"/>
            <a:ext cx="2286000" cy="203200"/>
          </a:xfrm>
          <a:prstGeom prst="rect">
            <a:avLst/>
          </a:prstGeom>
          <a:noFill/>
          <a:ln>
            <a:noFill/>
          </a:ln>
        </p:spPr>
        <p:txBody>
          <a:bodyPr wrap="square" rtlCol="0" anchor="ctr"/>
          <a:lstStyle/>
          <a:p>
            <a:pPr marL="0" indent="0" algn="l">
              <a:buNone/>
            </a:pPr>
            <a:r>
              <a:rPr lang="en-US" sz="1000" b="1" dirty="0">
                <a:solidFill>
                  <a:srgbClr val="334860"/>
                </a:solidFill>
                <a:latin typeface="Calibri" pitchFamily="34" charset="0"/>
              </a:rPr>
              <a:t>LEGEND</a:t>
            </a:r>
          </a:p>
        </p:txBody>
      </p:sp>
      <p:sp>
        <p:nvSpPr>
          <p:cNvPr id="471" name="LegGreen"/>
          <p:cNvSpPr/>
          <p:nvPr/>
        </p:nvSpPr>
        <p:spPr>
          <a:xfrm>
            <a:off x="7620000" y="4775200"/>
            <a:ext cx="177800" cy="177800"/>
          </a:xfrm>
          <a:prstGeom prst="rect">
            <a:avLst/>
          </a:prstGeom>
          <a:solidFill>
            <a:srgbClr val="E8F5EE"/>
          </a:solidFill>
          <a:ln w="12700">
            <a:solidFill>
              <a:srgbClr val="2E8A5A"/>
            </a:solidFill>
          </a:ln>
        </p:spPr>
        <p:txBody>
          <a:bodyPr/>
          <a:lstStyle/>
          <a:p>
            <a:endParaRPr/>
          </a:p>
        </p:txBody>
      </p:sp>
      <p:sp>
        <p:nvSpPr>
          <p:cNvPr id="472" name="LegGreenTxt"/>
          <p:cNvSpPr/>
          <p:nvPr/>
        </p:nvSpPr>
        <p:spPr>
          <a:xfrm>
            <a:off x="7848600" y="47498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Implemented</a:t>
            </a:r>
          </a:p>
        </p:txBody>
      </p:sp>
      <p:sp>
        <p:nvSpPr>
          <p:cNvPr id="473" name="LegBlue"/>
          <p:cNvSpPr/>
          <p:nvPr/>
        </p:nvSpPr>
        <p:spPr>
          <a:xfrm>
            <a:off x="7620000" y="5003800"/>
            <a:ext cx="177800" cy="177800"/>
          </a:xfrm>
          <a:prstGeom prst="rect">
            <a:avLst/>
          </a:prstGeom>
          <a:solidFill>
            <a:srgbClr val="E8F0FA"/>
          </a:solidFill>
          <a:ln w="12700">
            <a:solidFill>
              <a:srgbClr val="2563A8"/>
            </a:solidFill>
          </a:ln>
        </p:spPr>
        <p:txBody>
          <a:bodyPr/>
          <a:lstStyle/>
          <a:p>
            <a:endParaRPr/>
          </a:p>
        </p:txBody>
      </p:sp>
      <p:sp>
        <p:nvSpPr>
          <p:cNvPr id="474" name="LegBlueTxt"/>
          <p:cNvSpPr/>
          <p:nvPr/>
        </p:nvSpPr>
        <p:spPr>
          <a:xfrm>
            <a:off x="7848600" y="49784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In Progress</a:t>
            </a:r>
          </a:p>
        </p:txBody>
      </p:sp>
      <p:sp>
        <p:nvSpPr>
          <p:cNvPr id="475" name="LegGrey"/>
          <p:cNvSpPr/>
          <p:nvPr/>
        </p:nvSpPr>
        <p:spPr>
          <a:xfrm>
            <a:off x="7620000" y="5232400"/>
            <a:ext cx="177800" cy="177800"/>
          </a:xfrm>
          <a:prstGeom prst="rect">
            <a:avLst/>
          </a:prstGeom>
          <a:noFill/>
          <a:ln w="19050">
            <a:solidFill>
              <a:srgbClr val="8A96A8"/>
            </a:solidFill>
            <a:prstDash val="dash"/>
          </a:ln>
        </p:spPr>
        <p:txBody>
          <a:bodyPr/>
          <a:lstStyle/>
          <a:p>
            <a:endParaRPr/>
          </a:p>
        </p:txBody>
      </p:sp>
      <p:sp>
        <p:nvSpPr>
          <p:cNvPr id="476" name="LegGreyTxt"/>
          <p:cNvSpPr/>
          <p:nvPr/>
        </p:nvSpPr>
        <p:spPr>
          <a:xfrm>
            <a:off x="7848600" y="5207000"/>
            <a:ext cx="2159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Planned Future Work</a:t>
            </a:r>
          </a:p>
        </p:txBody>
      </p:sp>
      <p:sp>
        <p:nvSpPr>
          <p:cNvPr id="480" name="SepLine"/>
          <p:cNvSpPr/>
          <p:nvPr/>
        </p:nvSpPr>
        <p:spPr>
          <a:xfrm>
            <a:off x="558800" y="5511800"/>
            <a:ext cx="11049000" cy="12700"/>
          </a:xfrm>
          <a:prstGeom prst="rect">
            <a:avLst/>
          </a:prstGeom>
          <a:solidFill>
            <a:srgbClr val="DDE5EF"/>
          </a:solidFill>
          <a:ln>
            <a:noFill/>
          </a:ln>
        </p:spPr>
        <p:txBody>
          <a:bodyPr/>
          <a:lstStyle/>
          <a:p>
            <a:endParaRPr/>
          </a:p>
        </p:txBody>
      </p:sp>
      <p:sp>
        <p:nvSpPr>
          <p:cNvPr id="481" name="StatHead"/>
          <p:cNvSpPr/>
          <p:nvPr/>
        </p:nvSpPr>
        <p:spPr>
          <a:xfrm>
            <a:off x="558800" y="5588000"/>
            <a:ext cx="4318000" cy="203200"/>
          </a:xfrm>
          <a:prstGeom prst="rect">
            <a:avLst/>
          </a:prstGeom>
          <a:noFill/>
          <a:ln>
            <a:noFill/>
          </a:ln>
        </p:spPr>
        <p:txBody>
          <a:bodyPr wrap="square" rtlCol="0" anchor="ctr"/>
          <a:lstStyle/>
          <a:p>
            <a:pPr marL="0" indent="0" algn="l">
              <a:buNone/>
            </a:pPr>
            <a:r>
              <a:rPr lang="en-US" sz="1150" b="1" dirty="0">
                <a:solidFill>
                  <a:srgbClr val="16223A"/>
                </a:solidFill>
                <a:latin typeface="Calibri" pitchFamily="34" charset="0"/>
              </a:rPr>
              <a:t>Current Implementation Status</a:t>
            </a:r>
          </a:p>
        </p:txBody>
      </p:sp>
      <p:sp>
        <p:nvSpPr>
          <p:cNvPr id="490" name="Dot0"/>
          <p:cNvSpPr/>
          <p:nvPr/>
        </p:nvSpPr>
        <p:spPr>
          <a:xfrm>
            <a:off x="558800" y="5892800"/>
            <a:ext cx="101600" cy="101600"/>
          </a:xfrm>
          <a:prstGeom prst="rect">
            <a:avLst/>
          </a:prstGeom>
          <a:solidFill>
            <a:srgbClr val="1A7A4A"/>
          </a:solidFill>
          <a:ln>
            <a:noFill/>
          </a:ln>
        </p:spPr>
        <p:txBody>
          <a:bodyPr/>
          <a:lstStyle/>
          <a:p>
            <a:endParaRPr/>
          </a:p>
        </p:txBody>
      </p:sp>
      <p:sp>
        <p:nvSpPr>
          <p:cNvPr id="491" name="StatItem0"/>
          <p:cNvSpPr/>
          <p:nvPr/>
        </p:nvSpPr>
        <p:spPr>
          <a:xfrm>
            <a:off x="698500" y="5842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Raspberry Pi 5 configured and tested</a:t>
            </a:r>
          </a:p>
        </p:txBody>
      </p:sp>
      <p:sp>
        <p:nvSpPr>
          <p:cNvPr id="494" name="Dot1"/>
          <p:cNvSpPr/>
          <p:nvPr/>
        </p:nvSpPr>
        <p:spPr>
          <a:xfrm>
            <a:off x="558800" y="6146800"/>
            <a:ext cx="101600" cy="101600"/>
          </a:xfrm>
          <a:prstGeom prst="rect">
            <a:avLst/>
          </a:prstGeom>
          <a:solidFill>
            <a:srgbClr val="1A7A4A"/>
          </a:solidFill>
          <a:ln>
            <a:noFill/>
          </a:ln>
        </p:spPr>
        <p:txBody>
          <a:bodyPr/>
          <a:lstStyle/>
          <a:p>
            <a:endParaRPr/>
          </a:p>
        </p:txBody>
      </p:sp>
      <p:sp>
        <p:nvSpPr>
          <p:cNvPr id="495" name="StatItem1"/>
          <p:cNvSpPr/>
          <p:nvPr/>
        </p:nvSpPr>
        <p:spPr>
          <a:xfrm>
            <a:off x="698500" y="6096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Communication architecture defined</a:t>
            </a:r>
          </a:p>
        </p:txBody>
      </p:sp>
      <p:sp>
        <p:nvSpPr>
          <p:cNvPr id="498" name="Dot2_0"/>
          <p:cNvSpPr/>
          <p:nvPr/>
        </p:nvSpPr>
        <p:spPr>
          <a:xfrm>
            <a:off x="6223000" y="5892800"/>
            <a:ext cx="101600" cy="101600"/>
          </a:xfrm>
          <a:prstGeom prst="rect">
            <a:avLst/>
          </a:prstGeom>
          <a:solidFill>
            <a:srgbClr val="1A5C8A"/>
          </a:solidFill>
          <a:ln>
            <a:noFill/>
          </a:ln>
        </p:spPr>
        <p:txBody>
          <a:bodyPr/>
          <a:lstStyle/>
          <a:p>
            <a:endParaRPr/>
          </a:p>
        </p:txBody>
      </p:sp>
      <p:sp>
        <p:nvSpPr>
          <p:cNvPr id="499" name="StatItem2_0"/>
          <p:cNvSpPr/>
          <p:nvPr/>
        </p:nvSpPr>
        <p:spPr>
          <a:xfrm>
            <a:off x="6375400" y="5842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Mechanical segments fabricated</a:t>
            </a:r>
          </a:p>
        </p:txBody>
      </p:sp>
      <p:sp>
        <p:nvSpPr>
          <p:cNvPr id="502" name="Dot2_1"/>
          <p:cNvSpPr/>
          <p:nvPr/>
        </p:nvSpPr>
        <p:spPr>
          <a:xfrm>
            <a:off x="6223000" y="6146800"/>
            <a:ext cx="101600" cy="101600"/>
          </a:xfrm>
          <a:prstGeom prst="rect">
            <a:avLst/>
          </a:prstGeom>
          <a:solidFill>
            <a:srgbClr val="1A5C8A"/>
          </a:solidFill>
          <a:ln>
            <a:noFill/>
          </a:ln>
        </p:spPr>
        <p:txBody>
          <a:bodyPr/>
          <a:lstStyle/>
          <a:p>
            <a:endParaRPr/>
          </a:p>
        </p:txBody>
      </p:sp>
      <p:sp>
        <p:nvSpPr>
          <p:cNvPr id="503" name="StatItem2_1"/>
          <p:cNvSpPr/>
          <p:nvPr/>
        </p:nvSpPr>
        <p:spPr>
          <a:xfrm>
            <a:off x="6375400" y="6096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Dynamixel integration pending hardware</a:t>
            </a:r>
          </a:p>
        </p:txBody>
      </p:sp>
      <p:sp>
        <p:nvSpPr>
          <p:cNvPr id="2" name="Text 0"/>
          <p:cNvSpPr/>
          <p:nvPr/>
        </p:nvSpPr>
        <p:spPr>
          <a:xfrm>
            <a:off x="533400" y="127000"/>
            <a:ext cx="6350000" cy="1778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33400" y="330200"/>
            <a:ext cx="6858000" cy="457200"/>
          </a:xfrm>
          <a:prstGeom prst="rect">
            <a:avLst/>
          </a:prstGeom>
          <a:noFill/>
          <a:ln/>
        </p:spPr>
        <p:txBody>
          <a:bodyPr wrap="square" lIns="0" tIns="0" rIns="0" bIns="0" rtlCol="0" anchor="ctr"/>
          <a:lstStyle/>
          <a:p>
            <a:pPr marL="0" indent="0">
              <a:buNone/>
            </a:pPr>
            <a:r>
              <a:rPr lang="en-US" sz="2600" b="1" dirty="0">
                <a:solidFill>
                  <a:srgbClr val="16223A"/>
                </a:solidFill>
                <a:latin typeface="Calibri" pitchFamily="34" charset="0"/>
                <a:ea typeface="Calibri" pitchFamily="34" charset="-122"/>
                <a:cs typeface="Calibri" pitchFamily="34" charset="-120"/>
              </a:rPr>
              <a:t>Conceptual Block Diagram</a:t>
            </a:r>
            <a:endParaRPr lang="en-US" sz="2600" dirty="0"/>
          </a:p>
        </p:txBody>
      </p:sp>
      <p:sp>
        <p:nvSpPr>
          <p:cNvPr id="10" name="Text 8"/>
          <p:cNvSpPr/>
          <p:nvPr/>
        </p:nvSpPr>
        <p:spPr>
          <a:xfrm>
            <a:off x="533400" y="812800"/>
            <a:ext cx="8128000" cy="203200"/>
          </a:xfrm>
          <a:prstGeom prst="rect">
            <a:avLst/>
          </a:prstGeom>
          <a:noFill/>
          <a:ln/>
        </p:spPr>
        <p:txBody>
          <a:bodyPr wrap="square" lIns="0" tIns="0" rIns="0" bIns="0" rtlCol="0" anchor="ctr"/>
          <a:lstStyle/>
          <a:p>
            <a:pPr marL="0" indent="0">
              <a:buNone/>
            </a:pPr>
            <a:r>
              <a:rPr lang="en-US" sz="1150" b="1" dirty="0">
                <a:solidFill>
                  <a:srgbClr val="12A678"/>
                </a:solidFill>
                <a:latin typeface="Calibri" pitchFamily="34" charset="0"/>
                <a:ea typeface="Calibri" pitchFamily="34" charset="-122"/>
                <a:cs typeface="Calibri" pitchFamily="34" charset="-120"/>
              </a:rPr>
              <a:t>Architecture finalized</a:t>
            </a:r>
            <a:r>
              <a:rPr lang="en-US" sz="1150" dirty="0">
                <a:solidFill>
                  <a:srgbClr val="E2E8F0"/>
                </a:solidFill>
                <a:latin typeface="Calibri" pitchFamily="34" charset="0"/>
                <a:ea typeface="Calibri" pitchFamily="34" charset="-122"/>
                <a:cs typeface="Calibri" pitchFamily="34" charset="-120"/>
              </a:rPr>
              <a:t>    ·    </a:t>
            </a:r>
            <a:r>
              <a:rPr lang="en-US" sz="1150" b="1" dirty="0">
                <a:solidFill>
                  <a:srgbClr val="E08A1E"/>
                </a:solidFill>
                <a:latin typeface="Calibri" pitchFamily="34" charset="0"/>
                <a:ea typeface="Calibri" pitchFamily="34" charset="-122"/>
                <a:cs typeface="Calibri" pitchFamily="34" charset="-120"/>
              </a:rPr>
              <a:t>Implementation in progress</a:t>
            </a:r>
            <a:endParaRPr lang="en-US" sz="1150" dirty="0"/>
          </a:p>
        </p:txBody>
      </p:sp>
      <p:sp>
        <p:nvSpPr>
          <p:cNvPr id="450" name="FutHeader"/>
          <p:cNvSpPr/>
          <p:nvPr/>
        </p:nvSpPr>
        <p:spPr>
          <a:xfrm>
            <a:off x="7620000" y="1117600"/>
            <a:ext cx="2362200" cy="177800"/>
          </a:xfrm>
          <a:prstGeom prst="rect">
            <a:avLst/>
          </a:prstGeom>
          <a:noFill/>
          <a:ln>
            <a:noFill/>
          </a:ln>
        </p:spPr>
        <p:txBody>
          <a:bodyPr wrap="square" rtlCol="0" anchor="ctr"/>
          <a:lstStyle/>
          <a:p>
            <a:pPr marL="0" indent="0" algn="l">
              <a:buNone/>
            </a:pPr>
            <a:r>
              <a:rPr lang="en-US" sz="900" b="1" dirty="0">
                <a:solidFill>
                  <a:srgbClr val="9A6520"/>
                </a:solidFill>
                <a:latin typeface="Calibri" pitchFamily="34" charset="0"/>
              </a:rPr>
              <a:t>FUTURE INTEGRATION</a:t>
            </a:r>
          </a:p>
        </p:txBody>
      </p:sp>
      <p:sp>
        <p:nvSpPr>
          <p:cNvPr id="600" name="AccentLine"/>
          <p:cNvSpPr/>
          <p:nvPr/>
        </p:nvSpPr>
        <p:spPr>
          <a:xfrm>
            <a:off x="533400" y="304800"/>
            <a:ext cx="11074400" cy="12700"/>
          </a:xfrm>
          <a:prstGeom prst="rect">
            <a:avLst/>
          </a:prstGeom>
          <a:solidFill>
            <a:srgbClr val="0E96AC"/>
          </a:solidFill>
          <a:ln>
            <a:noFill/>
          </a:ln>
        </p:spPr>
        <p:txBody>
          <a:bodyPr/>
          <a:lstStyle/>
          <a:p>
            <a:endParaRPr/>
          </a:p>
        </p:txBody>
      </p:sp>
    </p:spTree>
    <p:extLst>
      <p:ext uri="{BB962C8B-B14F-4D97-AF65-F5344CB8AC3E}">
        <p14:creationId xmlns:p14="http://schemas.microsoft.com/office/powerpoint/2010/main" val="3414584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CAD DESIGN DEVELOPMENT</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A Segment Designed Around the Motor</a:t>
            </a:r>
            <a:endParaRPr lang="en-US" sz="3000" dirty="0"/>
          </a:p>
        </p:txBody>
      </p:sp>
      <p:sp>
        <p:nvSpPr>
          <p:cNvPr id="10" name="Text 8"/>
          <p:cNvSpPr/>
          <p:nvPr/>
        </p:nvSpPr>
        <p:spPr>
          <a:xfrm>
            <a:off x="548640" y="1600200"/>
            <a:ext cx="4709160" cy="914400"/>
          </a:xfrm>
          <a:prstGeom prst="rect">
            <a:avLst/>
          </a:prstGeom>
          <a:noFill/>
          <a:ln/>
        </p:spPr>
        <p:txBody>
          <a:bodyPr wrap="square" lIns="0" tIns="0" rIns="0" bIns="0" rtlCol="0" anchor="t"/>
          <a:lstStyle/>
          <a:p>
            <a:pPr marL="0" indent="0">
              <a:lnSpc>
                <a:spcPct val="112000"/>
              </a:lnSpc>
              <a:buNone/>
            </a:pPr>
            <a:r>
              <a:rPr lang="en-US" sz="1350" dirty="0">
                <a:solidFill>
                  <a:srgbClr val="3A4658"/>
                </a:solidFill>
                <a:latin typeface="Calibri" pitchFamily="34" charset="0"/>
                <a:ea typeface="Calibri" pitchFamily="34" charset="-122"/>
                <a:cs typeface="Calibri" pitchFamily="34" charset="-120"/>
              </a:rPr>
              <a:t>The CAD model is built to the exact dimensions of the Dynamixel XL330-M288 servo, using a modular, segment-based architecture focused on manufacturability and scalability.</a:t>
            </a:r>
            <a:endParaRPr lang="en-US" sz="1350" dirty="0"/>
          </a:p>
        </p:txBody>
      </p:sp>
      <p:sp>
        <p:nvSpPr>
          <p:cNvPr id="11" name="Text 9"/>
          <p:cNvSpPr/>
          <p:nvPr/>
        </p:nvSpPr>
        <p:spPr>
          <a:xfrm>
            <a:off x="548640" y="2724912"/>
            <a:ext cx="45720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DESIGN CONSIDERATIONS</a:t>
            </a:r>
            <a:endParaRPr lang="en-US" sz="1200" dirty="0"/>
          </a:p>
        </p:txBody>
      </p:sp>
      <p:sp>
        <p:nvSpPr>
          <p:cNvPr id="12" name="Shape 10"/>
          <p:cNvSpPr/>
          <p:nvPr/>
        </p:nvSpPr>
        <p:spPr>
          <a:xfrm>
            <a:off x="548640" y="3127248"/>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13" name="Shape 11"/>
          <p:cNvSpPr/>
          <p:nvPr/>
        </p:nvSpPr>
        <p:spPr>
          <a:xfrm>
            <a:off x="694944" y="3246120"/>
            <a:ext cx="402336" cy="402336"/>
          </a:xfrm>
          <a:prstGeom prst="ellipse">
            <a:avLst/>
          </a:prstGeom>
          <a:solidFill>
            <a:srgbClr val="0E96AC"/>
          </a:solidFill>
          <a:ln/>
        </p:spPr>
        <p:txBody>
          <a:bodyPr/>
          <a:lstStyle/>
          <a:p>
            <a:endParaRPr lang="en-IN"/>
          </a:p>
        </p:txBody>
      </p:sp>
      <p:pic>
        <p:nvPicPr>
          <p:cNvPr id="14" name="Image 0" descr="preencoded.png"/>
          <p:cNvPicPr>
            <a:picLocks noChangeAspect="1"/>
          </p:cNvPicPr>
          <p:nvPr/>
        </p:nvPicPr>
        <p:blipFill>
          <a:blip r:embed="rId3"/>
          <a:stretch>
            <a:fillRect/>
          </a:stretch>
        </p:blipFill>
        <p:spPr>
          <a:xfrm>
            <a:off x="791505" y="3342681"/>
            <a:ext cx="209215" cy="209215"/>
          </a:xfrm>
          <a:prstGeom prst="rect">
            <a:avLst/>
          </a:prstGeom>
        </p:spPr>
      </p:pic>
      <p:sp>
        <p:nvSpPr>
          <p:cNvPr id="15" name="Text 12"/>
          <p:cNvSpPr/>
          <p:nvPr/>
        </p:nvSpPr>
        <p:spPr>
          <a:xfrm>
            <a:off x="1225296" y="3127248"/>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Motor mounting  </a:t>
            </a:r>
            <a:r>
              <a:rPr lang="en-US" sz="1150" dirty="0">
                <a:solidFill>
                  <a:srgbClr val="6B7890"/>
                </a:solidFill>
                <a:latin typeface="Calibri" pitchFamily="34" charset="0"/>
                <a:ea typeface="Calibri" pitchFamily="34" charset="-122"/>
                <a:cs typeface="Calibri" pitchFamily="34" charset="-120"/>
              </a:rPr>
              <a:t>— Precise seats for XL330 servo bodies.</a:t>
            </a:r>
            <a:endParaRPr lang="en-US" sz="1150" dirty="0"/>
          </a:p>
        </p:txBody>
      </p:sp>
      <p:sp>
        <p:nvSpPr>
          <p:cNvPr id="16" name="Shape 13"/>
          <p:cNvSpPr/>
          <p:nvPr/>
        </p:nvSpPr>
        <p:spPr>
          <a:xfrm>
            <a:off x="548640" y="3877056"/>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17" name="Shape 14"/>
          <p:cNvSpPr/>
          <p:nvPr/>
        </p:nvSpPr>
        <p:spPr>
          <a:xfrm>
            <a:off x="694944" y="3995928"/>
            <a:ext cx="402336" cy="402336"/>
          </a:xfrm>
          <a:prstGeom prst="ellipse">
            <a:avLst/>
          </a:prstGeom>
          <a:solidFill>
            <a:srgbClr val="12A678"/>
          </a:solidFill>
          <a:ln/>
        </p:spPr>
        <p:txBody>
          <a:bodyPr/>
          <a:lstStyle/>
          <a:p>
            <a:endParaRPr lang="en-IN"/>
          </a:p>
        </p:txBody>
      </p:sp>
      <p:pic>
        <p:nvPicPr>
          <p:cNvPr id="18" name="Image 1" descr="preencoded.png"/>
          <p:cNvPicPr>
            <a:picLocks noChangeAspect="1"/>
          </p:cNvPicPr>
          <p:nvPr/>
        </p:nvPicPr>
        <p:blipFill>
          <a:blip r:embed="rId4"/>
          <a:stretch>
            <a:fillRect/>
          </a:stretch>
        </p:blipFill>
        <p:spPr>
          <a:xfrm>
            <a:off x="791505" y="4092489"/>
            <a:ext cx="209215" cy="209215"/>
          </a:xfrm>
          <a:prstGeom prst="rect">
            <a:avLst/>
          </a:prstGeom>
        </p:spPr>
      </p:pic>
      <p:sp>
        <p:nvSpPr>
          <p:cNvPr id="19" name="Text 15"/>
          <p:cNvSpPr/>
          <p:nvPr/>
        </p:nvSpPr>
        <p:spPr>
          <a:xfrm>
            <a:off x="1225296" y="3877056"/>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Structural rigidity  </a:t>
            </a:r>
            <a:r>
              <a:rPr lang="en-US" sz="1150" dirty="0">
                <a:solidFill>
                  <a:srgbClr val="6B7890"/>
                </a:solidFill>
                <a:latin typeface="Calibri" pitchFamily="34" charset="0"/>
                <a:ea typeface="Calibri" pitchFamily="34" charset="-122"/>
                <a:cs typeface="Calibri" pitchFamily="34" charset="-120"/>
              </a:rPr>
              <a:t>— Stiff frame to resist motion loads.</a:t>
            </a:r>
            <a:endParaRPr lang="en-US" sz="1150" dirty="0"/>
          </a:p>
        </p:txBody>
      </p:sp>
      <p:sp>
        <p:nvSpPr>
          <p:cNvPr id="20" name="Shape 16"/>
          <p:cNvSpPr/>
          <p:nvPr/>
        </p:nvSpPr>
        <p:spPr>
          <a:xfrm>
            <a:off x="548640" y="4626864"/>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21" name="Shape 17"/>
          <p:cNvSpPr/>
          <p:nvPr/>
        </p:nvSpPr>
        <p:spPr>
          <a:xfrm>
            <a:off x="694944" y="4745736"/>
            <a:ext cx="402336" cy="402336"/>
          </a:xfrm>
          <a:prstGeom prst="ellipse">
            <a:avLst/>
          </a:prstGeom>
          <a:solidFill>
            <a:srgbClr val="E08A1E"/>
          </a:solidFill>
          <a:ln/>
        </p:spPr>
        <p:txBody>
          <a:bodyPr/>
          <a:lstStyle/>
          <a:p>
            <a:endParaRPr lang="en-IN"/>
          </a:p>
        </p:txBody>
      </p:sp>
      <p:pic>
        <p:nvPicPr>
          <p:cNvPr id="22" name="Image 2" descr="preencoded.png"/>
          <p:cNvPicPr>
            <a:picLocks noChangeAspect="1"/>
          </p:cNvPicPr>
          <p:nvPr/>
        </p:nvPicPr>
        <p:blipFill>
          <a:blip r:embed="rId5"/>
          <a:stretch>
            <a:fillRect/>
          </a:stretch>
        </p:blipFill>
        <p:spPr>
          <a:xfrm>
            <a:off x="791505" y="4842297"/>
            <a:ext cx="209215" cy="209215"/>
          </a:xfrm>
          <a:prstGeom prst="rect">
            <a:avLst/>
          </a:prstGeom>
        </p:spPr>
      </p:pic>
      <p:sp>
        <p:nvSpPr>
          <p:cNvPr id="23" name="Text 18"/>
          <p:cNvSpPr/>
          <p:nvPr/>
        </p:nvSpPr>
        <p:spPr>
          <a:xfrm>
            <a:off x="1225296" y="4626864"/>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Cable routing  </a:t>
            </a:r>
            <a:r>
              <a:rPr lang="en-US" sz="1150" dirty="0">
                <a:solidFill>
                  <a:srgbClr val="6B7890"/>
                </a:solidFill>
                <a:latin typeface="Calibri" pitchFamily="34" charset="0"/>
                <a:ea typeface="Calibri" pitchFamily="34" charset="-122"/>
                <a:cs typeface="Calibri" pitchFamily="34" charset="-120"/>
              </a:rPr>
              <a:t>— Clean daisy-chain channels for wiring.</a:t>
            </a:r>
            <a:endParaRPr lang="en-US" sz="1150" dirty="0"/>
          </a:p>
        </p:txBody>
      </p:sp>
      <p:sp>
        <p:nvSpPr>
          <p:cNvPr id="24" name="Shape 19"/>
          <p:cNvSpPr/>
          <p:nvPr/>
        </p:nvSpPr>
        <p:spPr>
          <a:xfrm>
            <a:off x="548640" y="5376672"/>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25" name="Shape 20"/>
          <p:cNvSpPr/>
          <p:nvPr/>
        </p:nvSpPr>
        <p:spPr>
          <a:xfrm>
            <a:off x="694944" y="5495544"/>
            <a:ext cx="402336" cy="402336"/>
          </a:xfrm>
          <a:prstGeom prst="ellipse">
            <a:avLst/>
          </a:prstGeom>
          <a:solidFill>
            <a:srgbClr val="0E96AC"/>
          </a:solidFill>
          <a:ln/>
        </p:spPr>
        <p:txBody>
          <a:bodyPr/>
          <a:lstStyle/>
          <a:p>
            <a:endParaRPr lang="en-IN"/>
          </a:p>
        </p:txBody>
      </p:sp>
      <p:pic>
        <p:nvPicPr>
          <p:cNvPr id="26" name="Image 3" descr="preencoded.png"/>
          <p:cNvPicPr>
            <a:picLocks noChangeAspect="1"/>
          </p:cNvPicPr>
          <p:nvPr/>
        </p:nvPicPr>
        <p:blipFill>
          <a:blip r:embed="rId3"/>
          <a:stretch>
            <a:fillRect/>
          </a:stretch>
        </p:blipFill>
        <p:spPr>
          <a:xfrm>
            <a:off x="791505" y="5592105"/>
            <a:ext cx="209215" cy="209215"/>
          </a:xfrm>
          <a:prstGeom prst="rect">
            <a:avLst/>
          </a:prstGeom>
        </p:spPr>
      </p:pic>
      <p:sp>
        <p:nvSpPr>
          <p:cNvPr id="27" name="Text 21"/>
          <p:cNvSpPr/>
          <p:nvPr/>
        </p:nvSpPr>
        <p:spPr>
          <a:xfrm>
            <a:off x="1225296" y="5376672"/>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Electronics ready  </a:t>
            </a:r>
            <a:r>
              <a:rPr lang="en-US" sz="1150" dirty="0">
                <a:solidFill>
                  <a:srgbClr val="6B7890"/>
                </a:solidFill>
                <a:latin typeface="Calibri" pitchFamily="34" charset="0"/>
                <a:ea typeface="Calibri" pitchFamily="34" charset="-122"/>
                <a:cs typeface="Calibri" pitchFamily="34" charset="-120"/>
              </a:rPr>
              <a:t>— Space reserved for future boards.</a:t>
            </a:r>
            <a:endParaRPr lang="en-US" sz="1150" dirty="0"/>
          </a:p>
        </p:txBody>
      </p:sp>
      <p:sp>
        <p:nvSpPr>
          <p:cNvPr id="28" name="Shape 22"/>
          <p:cNvSpPr/>
          <p:nvPr/>
        </p:nvSpPr>
        <p:spPr>
          <a:xfrm>
            <a:off x="5651500" y="1714500"/>
            <a:ext cx="5842000" cy="4432300"/>
          </a:xfrm>
          <a:prstGeom prst="roundRect">
            <a:avLst>
              <a:gd name="adj" fmla="val 2041"/>
            </a:avLst>
          </a:prstGeom>
          <a:solidFill>
            <a:srgbClr val="ECF1F6"/>
          </a:solidFill>
          <a:ln w="19050">
            <a:solidFill>
              <a:srgbClr val="0E96AC"/>
            </a:solidFill>
            <a:prstDash val="dash"/>
          </a:ln>
        </p:spPr>
        <p:txBody>
          <a:bodyPr/>
          <a:lstStyle/>
          <a:p>
            <a:endParaRPr lang="en-IN"/>
          </a:p>
        </p:txBody>
      </p:sp>
      <p:sp>
        <p:nvSpPr>
          <p:cNvPr id="29" name="Shape 23"/>
          <p:cNvSpPr/>
          <p:nvPr/>
        </p:nvSpPr>
        <p:spPr>
          <a:xfrm>
            <a:off x="-1270000" y="-1270000"/>
            <a:ext cx="381000" cy="381000"/>
          </a:xfrm>
          <a:prstGeom prst="ellipse">
            <a:avLst/>
          </a:prstGeom>
          <a:solidFill>
            <a:srgbClr val="FFFFFF"/>
          </a:solidFill>
          <a:ln/>
        </p:spPr>
        <p:txBody>
          <a:bodyPr/>
          <a:lstStyle/>
          <a:p>
            <a:endParaRPr lang="en-IN"/>
          </a:p>
        </p:txBody>
      </p:sp>
      <p:pic>
        <p:nvPicPr>
          <p:cNvPr id="30" name="Image 4" descr="preencoded.png"/>
          <p:cNvPicPr>
            <a:picLocks noChangeAspect="1"/>
          </p:cNvPicPr>
          <p:nvPr/>
        </p:nvPicPr>
        <p:blipFill>
          <a:blip r:embed="rId6"/>
          <a:stretch>
            <a:fillRect/>
          </a:stretch>
        </p:blipFill>
        <p:spPr>
          <a:xfrm>
            <a:off x="-1270000" y="-1270000"/>
            <a:ext cx="434340" cy="434340"/>
          </a:xfrm>
          <a:prstGeom prst="rect">
            <a:avLst/>
          </a:prstGeom>
        </p:spPr>
      </p:pic>
      <p:sp>
        <p:nvSpPr>
          <p:cNvPr id="31" name="Text 24"/>
          <p:cNvSpPr/>
          <p:nvPr/>
        </p:nvSpPr>
        <p:spPr>
          <a:xfrm>
            <a:off x="5575300" y="-762000"/>
            <a:ext cx="6083300" cy="254000"/>
          </a:xfrm>
          <a:prstGeom prst="rect">
            <a:avLst/>
          </a:prstGeom>
          <a:noFill/>
          <a:ln/>
        </p:spPr>
        <p:txBody>
          <a:bodyPr wrap="square" lIns="0" tIns="0" rIns="0" bIns="0" rtlCol="0" anchor="ctr"/>
          <a:lstStyle/>
          <a:p>
            <a:pPr marL="0" indent="0" algn="ctr">
              <a:buNone/>
            </a:pPr>
            <a:r>
              <a:rPr lang="en-US" sz="1300" b="1" kern="0" spc="100" dirty="0">
                <a:solidFill>
                  <a:srgbClr val="0E96AC"/>
                </a:solidFill>
                <a:latin typeface="Calibri" pitchFamily="34" charset="0"/>
              </a:rPr>
              <a:t>ASSEMBLY FLOW</a:t>
            </a:r>
          </a:p>
        </p:txBody>
      </p:sp>
      <p:sp>
        <p:nvSpPr>
          <p:cNvPr id="32" name="Text 25"/>
          <p:cNvSpPr/>
          <p:nvPr/>
        </p:nvSpPr>
        <p:spPr>
          <a:xfrm>
            <a:off x="5651500" y="-635000"/>
            <a:ext cx="5842000" cy="203200"/>
          </a:xfrm>
          <a:prstGeom prst="rect">
            <a:avLst/>
          </a:prstGeom>
          <a:noFill/>
          <a:ln/>
        </p:spPr>
        <p:txBody>
          <a:bodyPr wrap="square" lIns="0" tIns="0" rIns="0" bIns="0" rtlCol="0" anchor="ctr"/>
          <a:lstStyle/>
          <a:p>
            <a:pPr marL="0" indent="0" algn="ctr">
              <a:lnSpc>
                <a:spcPct val="100000"/>
              </a:lnSpc>
              <a:buNone/>
            </a:pPr>
            <a:r>
              <a:rPr lang="en-US" sz="1000" i="1" dirty="0">
                <a:solidFill>
                  <a:srgbClr val="6B7890"/>
                </a:solidFill>
                <a:latin typeface="Calibri" pitchFamily="34" charset="0"/>
              </a:rPr>
              <a:t>Motor → Segment Parts → Full Chain Assembly</a:t>
            </a:r>
          </a:p>
        </p:txBody>
      </p:sp>
      <p:pic>
        <p:nvPicPr>
          <p:cNvPr id="34" name="Picture 33" descr="The image depicts a simple, sturdy, black, rectangular wooden shelving unit with a rectangular shelf in the middle.&#10;&#10;AI-generated content may be incorrect.">
            <a:extLst>
              <a:ext uri="{FF2B5EF4-FFF2-40B4-BE49-F238E27FC236}">
                <a16:creationId xmlns:a16="http://schemas.microsoft.com/office/drawing/2014/main" id="{43A6F9E7-B592-AE80-4ECD-3893A8BAB62C}"/>
              </a:ext>
            </a:extLst>
          </p:cNvPr>
          <p:cNvPicPr>
            <a:picLocks noChangeAspect="1"/>
          </p:cNvPicPr>
          <p:nvPr/>
        </p:nvPicPr>
        <p:blipFill>
          <a:blip r:embed="rId7"/>
          <a:stretch>
            <a:fillRect/>
          </a:stretch>
        </p:blipFill>
        <p:spPr>
          <a:xfrm>
            <a:off x="8128000" y="1714500"/>
            <a:ext cx="1651000" cy="1968500"/>
          </a:xfrm>
          <a:prstGeom prst="rect">
            <a:avLst/>
          </a:prstGeom>
        </p:spPr>
      </p:pic>
      <p:pic>
        <p:nvPicPr>
          <p:cNvPr id="36" name="Picture 35" descr="The image depicts a simple, grey, rectangular, flat-sided, metallic-looking panel or bracket, likely with some sort of mechanical attachment or mounting hardware visible, placed on a plain, light-colored background.&#10;&#10;AI-generated content may be incorrect.">
            <a:extLst>
              <a:ext uri="{FF2B5EF4-FFF2-40B4-BE49-F238E27FC236}">
                <a16:creationId xmlns:a16="http://schemas.microsoft.com/office/drawing/2014/main" id="{4240D5FB-60B3-92E2-D431-2BF9CD9185A9}"/>
              </a:ext>
            </a:extLst>
          </p:cNvPr>
          <p:cNvPicPr>
            <a:picLocks noChangeAspect="1"/>
          </p:cNvPicPr>
          <p:nvPr/>
        </p:nvPicPr>
        <p:blipFill>
          <a:blip r:embed="rId8"/>
          <a:srcRect l="24792" t="11107" r="14359"/>
          <a:stretch>
            <a:fillRect/>
          </a:stretch>
        </p:blipFill>
        <p:spPr>
          <a:xfrm>
            <a:off x="9842500" y="1714500"/>
            <a:ext cx="1689100" cy="1968500"/>
          </a:xfrm>
          <a:prstGeom prst="rect">
            <a:avLst/>
          </a:prstGeom>
        </p:spPr>
      </p:pic>
      <p:pic>
        <p:nvPicPr>
          <p:cNvPr id="42" name="Picture 41" descr="The image depicts a simple, abstract representation of a zigzag pattern or a wave-like structure, rendered in a monochromatic, minimalistic style.&#10;&#10;AI-generated content may be incorrect.">
            <a:extLst>
              <a:ext uri="{FF2B5EF4-FFF2-40B4-BE49-F238E27FC236}">
                <a16:creationId xmlns:a16="http://schemas.microsoft.com/office/drawing/2014/main" id="{F9FF112A-F15F-989B-A8A9-AB7A565FBEC9}"/>
              </a:ext>
            </a:extLst>
          </p:cNvPr>
          <p:cNvPicPr>
            <a:picLocks noChangeAspect="1"/>
          </p:cNvPicPr>
          <p:nvPr/>
        </p:nvPicPr>
        <p:blipFill>
          <a:blip r:embed="rId9"/>
          <a:srcRect t="15390"/>
          <a:stretch>
            <a:fillRect/>
          </a:stretch>
        </p:blipFill>
        <p:spPr>
          <a:xfrm>
            <a:off x="5651500" y="3810000"/>
            <a:ext cx="5842000" cy="2184400"/>
          </a:xfrm>
          <a:prstGeom prst="rect">
            <a:avLst/>
          </a:prstGeom>
        </p:spPr>
      </p:pic>
      <p:pic>
        <p:nvPicPr>
          <p:cNvPr id="44" name="Picture 43" descr="The image depicts a gray, rectangular frame with an open, hinged structure, likely part of a larger assembly.">
            <a:extLst>
              <a:ext uri="{FF2B5EF4-FFF2-40B4-BE49-F238E27FC236}">
                <a16:creationId xmlns:a16="http://schemas.microsoft.com/office/drawing/2014/main" id="{F0FF4D60-EA60-6E41-F77E-D580B8866D10}"/>
              </a:ext>
            </a:extLst>
          </p:cNvPr>
          <p:cNvPicPr>
            <a:picLocks noChangeAspect="1"/>
          </p:cNvPicPr>
          <p:nvPr/>
        </p:nvPicPr>
        <p:blipFill>
          <a:blip r:embed="rId10"/>
          <a:stretch>
            <a:fillRect/>
          </a:stretch>
        </p:blipFill>
        <p:spPr>
          <a:xfrm>
            <a:off x="7239000" y="2838450"/>
            <a:ext cx="889000" cy="800100"/>
          </a:xfrm>
          <a:prstGeom prst="rect">
            <a:avLst/>
          </a:prstGeom>
        </p:spPr>
      </p:pic>
      <p:pic>
        <p:nvPicPr>
          <p:cNvPr id="9" name="Picture 8">
            <a:extLst>
              <a:ext uri="{FF2B5EF4-FFF2-40B4-BE49-F238E27FC236}">
                <a16:creationId xmlns:a16="http://schemas.microsoft.com/office/drawing/2014/main" id="{17BCD354-05DD-7C00-DFCC-9839F5606164}"/>
              </a:ext>
            </a:extLst>
          </p:cNvPr>
          <p:cNvPicPr>
            <a:picLocks noChangeAspect="1"/>
          </p:cNvPicPr>
          <p:nvPr/>
        </p:nvPicPr>
        <p:blipFill>
          <a:blip r:embed="rId11"/>
          <a:stretch>
            <a:fillRect/>
          </a:stretch>
        </p:blipFill>
        <p:spPr>
          <a:xfrm>
            <a:off x="5651500" y="1714500"/>
            <a:ext cx="1569048" cy="1968500"/>
          </a:xfrm>
          <a:prstGeom prst="rect">
            <a:avLst/>
          </a:prstGeom>
        </p:spPr>
      </p:pic>
      <p:sp>
        <p:nvSpPr>
          <p:cNvPr id="33" name="Arrow: Right 32">
            <a:extLst>
              <a:ext uri="{FF2B5EF4-FFF2-40B4-BE49-F238E27FC236}">
                <a16:creationId xmlns:a16="http://schemas.microsoft.com/office/drawing/2014/main" id="{10B56E54-A4EF-4F38-BCCE-38D5841E70A3}"/>
              </a:ext>
            </a:extLst>
          </p:cNvPr>
          <p:cNvSpPr/>
          <p:nvPr/>
        </p:nvSpPr>
        <p:spPr>
          <a:xfrm>
            <a:off x="7899400" y="2489200"/>
            <a:ext cx="228600" cy="1778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ectangle 34">
            <a:extLst>
              <a:ext uri="{FF2B5EF4-FFF2-40B4-BE49-F238E27FC236}">
                <a16:creationId xmlns:a16="http://schemas.microsoft.com/office/drawing/2014/main" id="{B961D7F9-AF0B-4F55-8E54-70F15AF52D36}"/>
              </a:ext>
            </a:extLst>
          </p:cNvPr>
          <p:cNvSpPr/>
          <p:nvPr/>
        </p:nvSpPr>
        <p:spPr>
          <a:xfrm>
            <a:off x="5651499" y="5867400"/>
            <a:ext cx="5845517" cy="2794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7" name="TextBox 36">
            <a:extLst>
              <a:ext uri="{FF2B5EF4-FFF2-40B4-BE49-F238E27FC236}">
                <a16:creationId xmlns:a16="http://schemas.microsoft.com/office/drawing/2014/main" id="{B276ADDA-BC70-4DB9-A06D-4632200C6F1E}"/>
              </a:ext>
            </a:extLst>
          </p:cNvPr>
          <p:cNvSpPr txBox="1"/>
          <p:nvPr/>
        </p:nvSpPr>
        <p:spPr>
          <a:xfrm>
            <a:off x="5575300" y="5880100"/>
            <a:ext cx="2032000" cy="203200"/>
          </a:xfrm>
          <a:prstGeom prst="rect">
            <a:avLst/>
          </a:prstGeom>
          <a:noFill/>
        </p:spPr>
        <p:txBody>
          <a:bodyPr vertOverflow="overflow" vert="horz" wrap="square" rtlCol="0" anchor="t">
            <a:noAutofit/>
          </a:bodyPr>
          <a:lstStyle/>
          <a:p>
            <a:pPr algn="l"/>
            <a:r>
              <a:rPr lang="en-IN" sz="1000" b="1">
                <a:solidFill>
                  <a:srgbClr val="FFFFFF"/>
                </a:solidFill>
              </a:rPr>
              <a:t>① Motor</a:t>
            </a:r>
          </a:p>
        </p:txBody>
      </p:sp>
      <p:sp>
        <p:nvSpPr>
          <p:cNvPr id="38" name="Arrow: Down 37">
            <a:extLst>
              <a:ext uri="{FF2B5EF4-FFF2-40B4-BE49-F238E27FC236}">
                <a16:creationId xmlns:a16="http://schemas.microsoft.com/office/drawing/2014/main" id="{FBF37818-9CB0-4641-AE4D-2E2CE8273CA3}"/>
              </a:ext>
            </a:extLst>
          </p:cNvPr>
          <p:cNvSpPr/>
          <p:nvPr/>
        </p:nvSpPr>
        <p:spPr>
          <a:xfrm>
            <a:off x="9486900" y="3657600"/>
            <a:ext cx="177800" cy="228600"/>
          </a:xfrm>
          <a:prstGeom prst="down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9" name="TextBox 38">
            <a:extLst>
              <a:ext uri="{FF2B5EF4-FFF2-40B4-BE49-F238E27FC236}">
                <a16:creationId xmlns:a16="http://schemas.microsoft.com/office/drawing/2014/main" id="{53BA8EEA-9717-4EAB-A997-7ABD4D028D86}"/>
              </a:ext>
            </a:extLst>
          </p:cNvPr>
          <p:cNvSpPr txBox="1"/>
          <p:nvPr/>
        </p:nvSpPr>
        <p:spPr>
          <a:xfrm>
            <a:off x="7607300" y="5880100"/>
            <a:ext cx="2032000" cy="203200"/>
          </a:xfrm>
          <a:prstGeom prst="rect">
            <a:avLst/>
          </a:prstGeom>
          <a:noFill/>
        </p:spPr>
        <p:txBody>
          <a:bodyPr vertOverflow="overflow" vert="horz" wrap="square" rtlCol="0" anchor="t">
            <a:noAutofit/>
          </a:bodyPr>
          <a:lstStyle/>
          <a:p>
            <a:pPr algn="l"/>
            <a:r>
              <a:rPr lang="en-IN" sz="1000" b="1">
                <a:solidFill>
                  <a:srgbClr val="FFFFFF"/>
                </a:solidFill>
              </a:rPr>
              <a:t>② Segment Parts</a:t>
            </a:r>
          </a:p>
        </p:txBody>
      </p:sp>
      <p:sp>
        <p:nvSpPr>
          <p:cNvPr id="40" name="TextBox 39">
            <a:extLst>
              <a:ext uri="{FF2B5EF4-FFF2-40B4-BE49-F238E27FC236}">
                <a16:creationId xmlns:a16="http://schemas.microsoft.com/office/drawing/2014/main" id="{CF713C95-0380-4CB5-960A-9756BEFA1FCB}"/>
              </a:ext>
            </a:extLst>
          </p:cNvPr>
          <p:cNvSpPr txBox="1"/>
          <p:nvPr/>
        </p:nvSpPr>
        <p:spPr>
          <a:xfrm>
            <a:off x="7874000" y="-762000"/>
            <a:ext cx="2095500" cy="203200"/>
          </a:xfrm>
          <a:prstGeom prst="rect">
            <a:avLst/>
          </a:prstGeom>
          <a:noFill/>
        </p:spPr>
        <p:txBody>
          <a:bodyPr vertOverflow="overflow" vert="horz" wrap="square" rtlCol="0" anchor="t">
            <a:noAutofit/>
          </a:bodyPr>
          <a:lstStyle/>
          <a:p>
            <a:pPr algn="l"/>
            <a:r>
              <a:rPr lang="en-IN" sz="1000">
                <a:solidFill>
                  <a:srgbClr val="6B7890"/>
                </a:solidFill>
              </a:rPr>
              <a:t>③ Full Assembly</a:t>
            </a:r>
          </a:p>
        </p:txBody>
      </p:sp>
      <p:sp>
        <p:nvSpPr>
          <p:cNvPr id="4" name="TextBox 3">
            <a:extLst>
              <a:ext uri="{FF2B5EF4-FFF2-40B4-BE49-F238E27FC236}">
                <a16:creationId xmlns:a16="http://schemas.microsoft.com/office/drawing/2014/main" id="{8B27E486-825F-43C2-9B8F-369DBCC6DF83}"/>
              </a:ext>
            </a:extLst>
          </p:cNvPr>
          <p:cNvSpPr txBox="1"/>
          <p:nvPr/>
        </p:nvSpPr>
        <p:spPr>
          <a:xfrm>
            <a:off x="9639300" y="5880100"/>
            <a:ext cx="1968500" cy="203200"/>
          </a:xfrm>
          <a:prstGeom prst="rect">
            <a:avLst/>
          </a:prstGeom>
          <a:noFill/>
        </p:spPr>
        <p:txBody>
          <a:bodyPr vertOverflow="overflow" vert="horz" wrap="square" rtlCol="0" anchor="t">
            <a:noAutofit/>
          </a:bodyPr>
          <a:lstStyle/>
          <a:p>
            <a:pPr algn="l"/>
            <a:r>
              <a:rPr lang="en-IN" sz="1000" b="1">
                <a:solidFill>
                  <a:srgbClr val="FFFFFF"/>
                </a:solidFill>
              </a:rPr>
              <a:t>③ Full Assembly</a:t>
            </a:r>
          </a:p>
        </p:txBody>
      </p:sp>
    </p:spTree>
    <p:extLst>
      <p:ext uri="{BB962C8B-B14F-4D97-AF65-F5344CB8AC3E}">
        <p14:creationId xmlns:p14="http://schemas.microsoft.com/office/powerpoint/2010/main" val="3117400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PROTOTYPE FABRICATION</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From Model to Printed Hardware</a:t>
            </a:r>
            <a:endParaRPr lang="en-US" sz="3000" dirty="0"/>
          </a:p>
        </p:txBody>
      </p:sp>
      <p:sp>
        <p:nvSpPr>
          <p:cNvPr id="10" name="Shape 8"/>
          <p:cNvSpPr/>
          <p:nvPr/>
        </p:nvSpPr>
        <p:spPr>
          <a:xfrm>
            <a:off x="548640" y="1600200"/>
            <a:ext cx="5074920" cy="2148840"/>
          </a:xfrm>
          <a:prstGeom prst="roundRect">
            <a:avLst>
              <a:gd name="adj" fmla="val 4255"/>
            </a:avLst>
          </a:prstGeom>
          <a:solidFill>
            <a:srgbClr val="ECF1F6"/>
          </a:solidFill>
          <a:ln w="19050">
            <a:solidFill>
              <a:srgbClr val="0E96AC"/>
            </a:solidFill>
            <a:prstDash val="dash"/>
          </a:ln>
        </p:spPr>
      </p:sp>
      <p:sp>
        <p:nvSpPr>
          <p:cNvPr id="11" name="Shape 9"/>
          <p:cNvSpPr/>
          <p:nvPr/>
        </p:nvSpPr>
        <p:spPr>
          <a:xfrm>
            <a:off x="2651760" y="1920240"/>
            <a:ext cx="868680" cy="868680"/>
          </a:xfrm>
          <a:prstGeom prst="ellipse">
            <a:avLst/>
          </a:prstGeom>
          <a:solidFill>
            <a:srgbClr val="FFFFFF"/>
          </a:solidFill>
          <a:ln/>
        </p:spPr>
      </p:sp>
      <p:pic>
        <p:nvPicPr>
          <p:cNvPr id="12" name="Image 0" descr="preencoded.png"/>
          <p:cNvPicPr>
            <a:picLocks noChangeAspect="1"/>
          </p:cNvPicPr>
          <p:nvPr/>
        </p:nvPicPr>
        <p:blipFill>
          <a:blip r:embed="rId3"/>
          <a:stretch>
            <a:fillRect/>
          </a:stretch>
        </p:blipFill>
        <p:spPr>
          <a:xfrm>
            <a:off x="2868930" y="2137410"/>
            <a:ext cx="434340" cy="434340"/>
          </a:xfrm>
          <a:prstGeom prst="rect">
            <a:avLst/>
          </a:prstGeom>
        </p:spPr>
      </p:pic>
      <p:sp>
        <p:nvSpPr>
          <p:cNvPr id="13" name="Text 10"/>
          <p:cNvSpPr/>
          <p:nvPr/>
        </p:nvSpPr>
        <p:spPr>
          <a:xfrm>
            <a:off x="822960" y="2903220"/>
            <a:ext cx="4526280" cy="320040"/>
          </a:xfrm>
          <a:prstGeom prst="rect">
            <a:avLst/>
          </a:prstGeom>
          <a:noFill/>
          <a:ln/>
        </p:spPr>
        <p:txBody>
          <a:bodyPr wrap="square" lIns="0" tIns="0" rIns="0" bIns="0" rtlCol="0" anchor="ctr"/>
          <a:lstStyle/>
          <a:p>
            <a:pPr marL="0" indent="0" algn="ctr">
              <a:buNone/>
            </a:pPr>
            <a:r>
              <a:rPr lang="en-US" sz="1300" b="1" kern="0" spc="100" dirty="0">
                <a:solidFill>
                  <a:srgbClr val="0E96AC"/>
                </a:solidFill>
                <a:latin typeface="Calibri" pitchFamily="34" charset="0"/>
                <a:ea typeface="Calibri" pitchFamily="34" charset="-122"/>
                <a:cs typeface="Calibri" pitchFamily="34" charset="-120"/>
              </a:rPr>
              <a:t>PRINTED SEGMENT — PHOTO 1</a:t>
            </a:r>
            <a:endParaRPr lang="en-US" sz="1300" dirty="0"/>
          </a:p>
        </p:txBody>
      </p:sp>
      <p:sp>
        <p:nvSpPr>
          <p:cNvPr id="14" name="Text 11"/>
          <p:cNvSpPr/>
          <p:nvPr/>
        </p:nvSpPr>
        <p:spPr>
          <a:xfrm>
            <a:off x="914400" y="3223260"/>
            <a:ext cx="4343400" cy="548640"/>
          </a:xfrm>
          <a:prstGeom prst="rect">
            <a:avLst/>
          </a:prstGeom>
          <a:noFill/>
          <a:ln/>
        </p:spPr>
        <p:txBody>
          <a:bodyPr wrap="square" lIns="0" tIns="0" rIns="0" bIns="0" rtlCol="0" anchor="ctr"/>
          <a:lstStyle/>
          <a:p>
            <a:pPr marL="0" indent="0" algn="ctr">
              <a:lnSpc>
                <a:spcPct val="100000"/>
              </a:lnSpc>
              <a:buNone/>
            </a:pPr>
            <a:r>
              <a:rPr lang="en-US" sz="1050" i="1" dirty="0">
                <a:solidFill>
                  <a:srgbClr val="6B7890"/>
                </a:solidFill>
                <a:latin typeface="Calibri" pitchFamily="34" charset="0"/>
                <a:ea typeface="Calibri" pitchFamily="34" charset="-122"/>
                <a:cs typeface="Calibri" pitchFamily="34" charset="-120"/>
              </a:rPr>
              <a:t>Insert photo of the first 3D-printed segment</a:t>
            </a:r>
            <a:endParaRPr lang="en-US" sz="1050" dirty="0"/>
          </a:p>
        </p:txBody>
      </p:sp>
      <p:sp>
        <p:nvSpPr>
          <p:cNvPr id="15" name="Shape 12"/>
          <p:cNvSpPr/>
          <p:nvPr/>
        </p:nvSpPr>
        <p:spPr>
          <a:xfrm>
            <a:off x="548640" y="3913632"/>
            <a:ext cx="5074920" cy="2148840"/>
          </a:xfrm>
          <a:prstGeom prst="roundRect">
            <a:avLst>
              <a:gd name="adj" fmla="val 4255"/>
            </a:avLst>
          </a:prstGeom>
          <a:solidFill>
            <a:srgbClr val="ECF1F6"/>
          </a:solidFill>
          <a:ln w="19050">
            <a:solidFill>
              <a:srgbClr val="E08A1E"/>
            </a:solidFill>
            <a:prstDash val="dash"/>
          </a:ln>
        </p:spPr>
      </p:sp>
      <p:sp>
        <p:nvSpPr>
          <p:cNvPr id="16" name="Shape 13"/>
          <p:cNvSpPr/>
          <p:nvPr/>
        </p:nvSpPr>
        <p:spPr>
          <a:xfrm>
            <a:off x="2651760" y="4233672"/>
            <a:ext cx="868680" cy="868680"/>
          </a:xfrm>
          <a:prstGeom prst="ellipse">
            <a:avLst/>
          </a:prstGeom>
          <a:solidFill>
            <a:srgbClr val="FFFFFF"/>
          </a:solidFill>
          <a:ln/>
        </p:spPr>
      </p:sp>
      <p:pic>
        <p:nvPicPr>
          <p:cNvPr id="17" name="Image 1" descr="preencoded.png"/>
          <p:cNvPicPr>
            <a:picLocks noChangeAspect="1"/>
          </p:cNvPicPr>
          <p:nvPr/>
        </p:nvPicPr>
        <p:blipFill>
          <a:blip r:embed="rId4"/>
          <a:stretch>
            <a:fillRect/>
          </a:stretch>
        </p:blipFill>
        <p:spPr>
          <a:xfrm>
            <a:off x="2868930" y="4450842"/>
            <a:ext cx="434340" cy="434340"/>
          </a:xfrm>
          <a:prstGeom prst="rect">
            <a:avLst/>
          </a:prstGeom>
        </p:spPr>
      </p:pic>
      <p:sp>
        <p:nvSpPr>
          <p:cNvPr id="18" name="Text 14"/>
          <p:cNvSpPr/>
          <p:nvPr/>
        </p:nvSpPr>
        <p:spPr>
          <a:xfrm>
            <a:off x="822960" y="5216652"/>
            <a:ext cx="4526280" cy="320040"/>
          </a:xfrm>
          <a:prstGeom prst="rect">
            <a:avLst/>
          </a:prstGeom>
          <a:noFill/>
          <a:ln/>
        </p:spPr>
        <p:txBody>
          <a:bodyPr wrap="square" lIns="0" tIns="0" rIns="0" bIns="0" rtlCol="0" anchor="ctr"/>
          <a:lstStyle/>
          <a:p>
            <a:pPr marL="0" indent="0" algn="ctr">
              <a:buNone/>
            </a:pPr>
            <a:r>
              <a:rPr lang="en-US" sz="1300" b="1" kern="0" spc="100" dirty="0">
                <a:solidFill>
                  <a:srgbClr val="E08A1E"/>
                </a:solidFill>
                <a:latin typeface="Calibri" pitchFamily="34" charset="0"/>
                <a:ea typeface="Calibri" pitchFamily="34" charset="-122"/>
                <a:cs typeface="Calibri" pitchFamily="34" charset="-120"/>
              </a:rPr>
              <a:t>PRINTED SEGMENT — PHOTO 2</a:t>
            </a:r>
            <a:endParaRPr lang="en-US" sz="1300" dirty="0"/>
          </a:p>
        </p:txBody>
      </p:sp>
      <p:sp>
        <p:nvSpPr>
          <p:cNvPr id="19" name="Text 15"/>
          <p:cNvSpPr/>
          <p:nvPr/>
        </p:nvSpPr>
        <p:spPr>
          <a:xfrm>
            <a:off x="914400" y="5536692"/>
            <a:ext cx="4343400" cy="548640"/>
          </a:xfrm>
          <a:prstGeom prst="rect">
            <a:avLst/>
          </a:prstGeom>
          <a:noFill/>
          <a:ln/>
        </p:spPr>
        <p:txBody>
          <a:bodyPr wrap="square" lIns="0" tIns="0" rIns="0" bIns="0" rtlCol="0" anchor="ctr"/>
          <a:lstStyle/>
          <a:p>
            <a:pPr marL="0" indent="0" algn="ctr">
              <a:lnSpc>
                <a:spcPct val="100000"/>
              </a:lnSpc>
              <a:buNone/>
            </a:pPr>
            <a:r>
              <a:rPr lang="en-US" sz="1050" i="1" dirty="0">
                <a:solidFill>
                  <a:srgbClr val="6B7890"/>
                </a:solidFill>
                <a:latin typeface="Calibri" pitchFamily="34" charset="0"/>
                <a:ea typeface="Calibri" pitchFamily="34" charset="-122"/>
                <a:cs typeface="Calibri" pitchFamily="34" charset="-120"/>
              </a:rPr>
              <a:t>Insert photo of the second segment / assembly</a:t>
            </a:r>
            <a:endParaRPr lang="en-US" sz="1050" dirty="0"/>
          </a:p>
        </p:txBody>
      </p:sp>
      <p:sp>
        <p:nvSpPr>
          <p:cNvPr id="20" name="Text 16"/>
          <p:cNvSpPr/>
          <p:nvPr/>
        </p:nvSpPr>
        <p:spPr>
          <a:xfrm>
            <a:off x="5943600" y="1600200"/>
            <a:ext cx="54864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FABRICATION STATUS</a:t>
            </a:r>
            <a:endParaRPr lang="en-US" sz="1200" dirty="0"/>
          </a:p>
        </p:txBody>
      </p:sp>
      <p:sp>
        <p:nvSpPr>
          <p:cNvPr id="21" name="Shape 17"/>
          <p:cNvSpPr/>
          <p:nvPr/>
        </p:nvSpPr>
        <p:spPr>
          <a:xfrm>
            <a:off x="5943600" y="208483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22" name="Shape 18"/>
          <p:cNvSpPr/>
          <p:nvPr/>
        </p:nvSpPr>
        <p:spPr>
          <a:xfrm>
            <a:off x="6144768" y="2276856"/>
            <a:ext cx="457200" cy="457200"/>
          </a:xfrm>
          <a:prstGeom prst="ellipse">
            <a:avLst/>
          </a:prstGeom>
          <a:solidFill>
            <a:srgbClr val="12A678"/>
          </a:solidFill>
          <a:ln/>
        </p:spPr>
      </p:sp>
      <p:pic>
        <p:nvPicPr>
          <p:cNvPr id="23" name="Image 2" descr="preencoded.png"/>
          <p:cNvPicPr>
            <a:picLocks noChangeAspect="1"/>
          </p:cNvPicPr>
          <p:nvPr/>
        </p:nvPicPr>
        <p:blipFill>
          <a:blip r:embed="rId5"/>
          <a:stretch>
            <a:fillRect/>
          </a:stretch>
        </p:blipFill>
        <p:spPr>
          <a:xfrm>
            <a:off x="6254496" y="2386584"/>
            <a:ext cx="237744" cy="237744"/>
          </a:xfrm>
          <a:prstGeom prst="rect">
            <a:avLst/>
          </a:prstGeom>
        </p:spPr>
      </p:pic>
      <p:sp>
        <p:nvSpPr>
          <p:cNvPr id="24" name="Text 19"/>
          <p:cNvSpPr/>
          <p:nvPr/>
        </p:nvSpPr>
        <p:spPr>
          <a:xfrm>
            <a:off x="6748272" y="221284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Two prototype segments 3D printed</a:t>
            </a:r>
            <a:endParaRPr lang="en-US" sz="1350" dirty="0"/>
          </a:p>
        </p:txBody>
      </p:sp>
      <p:sp>
        <p:nvSpPr>
          <p:cNvPr id="25" name="Text 20"/>
          <p:cNvSpPr/>
          <p:nvPr/>
        </p:nvSpPr>
        <p:spPr>
          <a:xfrm>
            <a:off x="6748272" y="252374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Both segments produced from the CAD model.</a:t>
            </a:r>
            <a:endParaRPr lang="en-US" sz="1100" dirty="0"/>
          </a:p>
        </p:txBody>
      </p:sp>
      <p:sp>
        <p:nvSpPr>
          <p:cNvPr id="26" name="Text 21"/>
          <p:cNvSpPr/>
          <p:nvPr/>
        </p:nvSpPr>
        <p:spPr>
          <a:xfrm>
            <a:off x="10972800" y="2231136"/>
            <a:ext cx="548640" cy="228600"/>
          </a:xfrm>
          <a:prstGeom prst="rect">
            <a:avLst/>
          </a:prstGeom>
          <a:noFill/>
          <a:ln/>
        </p:spPr>
        <p:txBody>
          <a:bodyPr wrap="square" lIns="0" tIns="0" rIns="0" bIns="0" rtlCol="0" anchor="ctr"/>
          <a:lstStyle/>
          <a:p>
            <a:pPr marL="0" indent="0" algn="r">
              <a:buNone/>
            </a:pPr>
            <a:r>
              <a:rPr lang="en-US" sz="800" b="1" kern="0" spc="100" dirty="0">
                <a:solidFill>
                  <a:srgbClr val="12A678"/>
                </a:solidFill>
                <a:latin typeface="Calibri" pitchFamily="34" charset="0"/>
                <a:ea typeface="Calibri" pitchFamily="34" charset="-122"/>
                <a:cs typeface="Calibri" pitchFamily="34" charset="-120"/>
              </a:rPr>
              <a:t>DONE</a:t>
            </a:r>
            <a:endParaRPr lang="en-US" sz="800" dirty="0"/>
          </a:p>
        </p:txBody>
      </p:sp>
      <p:sp>
        <p:nvSpPr>
          <p:cNvPr id="27" name="Shape 22"/>
          <p:cNvSpPr/>
          <p:nvPr/>
        </p:nvSpPr>
        <p:spPr>
          <a:xfrm>
            <a:off x="5943600" y="304495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28" name="Shape 23"/>
          <p:cNvSpPr/>
          <p:nvPr/>
        </p:nvSpPr>
        <p:spPr>
          <a:xfrm>
            <a:off x="6144768" y="3236976"/>
            <a:ext cx="457200" cy="457200"/>
          </a:xfrm>
          <a:prstGeom prst="ellipse">
            <a:avLst/>
          </a:prstGeom>
          <a:solidFill>
            <a:srgbClr val="12A678"/>
          </a:solidFill>
          <a:ln/>
        </p:spPr>
      </p:sp>
      <p:pic>
        <p:nvPicPr>
          <p:cNvPr id="29" name="Image 3" descr="preencoded.png"/>
          <p:cNvPicPr>
            <a:picLocks noChangeAspect="1"/>
          </p:cNvPicPr>
          <p:nvPr/>
        </p:nvPicPr>
        <p:blipFill>
          <a:blip r:embed="rId6"/>
          <a:stretch>
            <a:fillRect/>
          </a:stretch>
        </p:blipFill>
        <p:spPr>
          <a:xfrm>
            <a:off x="6254496" y="3346704"/>
            <a:ext cx="237744" cy="237744"/>
          </a:xfrm>
          <a:prstGeom prst="rect">
            <a:avLst/>
          </a:prstGeom>
        </p:spPr>
      </p:pic>
      <p:sp>
        <p:nvSpPr>
          <p:cNvPr id="30" name="Text 24"/>
          <p:cNvSpPr/>
          <p:nvPr/>
        </p:nvSpPr>
        <p:spPr>
          <a:xfrm>
            <a:off x="6748272" y="317296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Initial dimensional verification done</a:t>
            </a:r>
            <a:endParaRPr lang="en-US" sz="1350" dirty="0"/>
          </a:p>
        </p:txBody>
      </p:sp>
      <p:sp>
        <p:nvSpPr>
          <p:cNvPr id="31" name="Text 25"/>
          <p:cNvSpPr/>
          <p:nvPr/>
        </p:nvSpPr>
        <p:spPr>
          <a:xfrm>
            <a:off x="6748272" y="348386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Printed parts measured against design specs.</a:t>
            </a:r>
            <a:endParaRPr lang="en-US" sz="1100" dirty="0"/>
          </a:p>
        </p:txBody>
      </p:sp>
      <p:sp>
        <p:nvSpPr>
          <p:cNvPr id="32" name="Text 26"/>
          <p:cNvSpPr/>
          <p:nvPr/>
        </p:nvSpPr>
        <p:spPr>
          <a:xfrm>
            <a:off x="10972800" y="3191256"/>
            <a:ext cx="548640" cy="228600"/>
          </a:xfrm>
          <a:prstGeom prst="rect">
            <a:avLst/>
          </a:prstGeom>
          <a:noFill/>
          <a:ln/>
        </p:spPr>
        <p:txBody>
          <a:bodyPr wrap="square" lIns="0" tIns="0" rIns="0" bIns="0" rtlCol="0" anchor="ctr"/>
          <a:lstStyle/>
          <a:p>
            <a:pPr marL="0" indent="0" algn="r">
              <a:buNone/>
            </a:pPr>
            <a:r>
              <a:rPr lang="en-US" sz="800" b="1" kern="0" spc="100" dirty="0">
                <a:solidFill>
                  <a:srgbClr val="12A678"/>
                </a:solidFill>
                <a:latin typeface="Calibri" pitchFamily="34" charset="0"/>
                <a:ea typeface="Calibri" pitchFamily="34" charset="-122"/>
                <a:cs typeface="Calibri" pitchFamily="34" charset="-120"/>
              </a:rPr>
              <a:t>DONE</a:t>
            </a:r>
            <a:endParaRPr lang="en-US" sz="800" dirty="0"/>
          </a:p>
        </p:txBody>
      </p:sp>
      <p:sp>
        <p:nvSpPr>
          <p:cNvPr id="33" name="Shape 27"/>
          <p:cNvSpPr/>
          <p:nvPr/>
        </p:nvSpPr>
        <p:spPr>
          <a:xfrm>
            <a:off x="5943600" y="400507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34" name="Shape 28"/>
          <p:cNvSpPr/>
          <p:nvPr/>
        </p:nvSpPr>
        <p:spPr>
          <a:xfrm>
            <a:off x="6144768" y="4197096"/>
            <a:ext cx="457200" cy="457200"/>
          </a:xfrm>
          <a:prstGeom prst="ellipse">
            <a:avLst/>
          </a:prstGeom>
          <a:solidFill>
            <a:srgbClr val="E08A1E"/>
          </a:solidFill>
          <a:ln/>
        </p:spPr>
      </p:sp>
      <p:pic>
        <p:nvPicPr>
          <p:cNvPr id="35" name="Image 4" descr="preencoded.png"/>
          <p:cNvPicPr>
            <a:picLocks noChangeAspect="1"/>
          </p:cNvPicPr>
          <p:nvPr/>
        </p:nvPicPr>
        <p:blipFill>
          <a:blip r:embed="rId7"/>
          <a:stretch>
            <a:fillRect/>
          </a:stretch>
        </p:blipFill>
        <p:spPr>
          <a:xfrm>
            <a:off x="6254496" y="4306824"/>
            <a:ext cx="237744" cy="237744"/>
          </a:xfrm>
          <a:prstGeom prst="rect">
            <a:avLst/>
          </a:prstGeom>
        </p:spPr>
      </p:pic>
      <p:sp>
        <p:nvSpPr>
          <p:cNvPr id="36" name="Text 29"/>
          <p:cNvSpPr/>
          <p:nvPr/>
        </p:nvSpPr>
        <p:spPr>
          <a:xfrm>
            <a:off x="6748272" y="413308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Physical validation of CAD initiated</a:t>
            </a:r>
            <a:endParaRPr lang="en-US" sz="1350" dirty="0"/>
          </a:p>
        </p:txBody>
      </p:sp>
      <p:sp>
        <p:nvSpPr>
          <p:cNvPr id="37" name="Text 30"/>
          <p:cNvSpPr/>
          <p:nvPr/>
        </p:nvSpPr>
        <p:spPr>
          <a:xfrm>
            <a:off x="6748272" y="444398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Checking fit, tolerances and assembly.</a:t>
            </a:r>
            <a:endParaRPr lang="en-US" sz="1100" dirty="0"/>
          </a:p>
        </p:txBody>
      </p:sp>
      <p:sp>
        <p:nvSpPr>
          <p:cNvPr id="38" name="Text 31"/>
          <p:cNvSpPr/>
          <p:nvPr/>
        </p:nvSpPr>
        <p:spPr>
          <a:xfrm>
            <a:off x="10972800" y="4151376"/>
            <a:ext cx="548640" cy="228600"/>
          </a:xfrm>
          <a:prstGeom prst="rect">
            <a:avLst/>
          </a:prstGeom>
          <a:noFill/>
          <a:ln/>
        </p:spPr>
        <p:txBody>
          <a:bodyPr wrap="square" lIns="0" tIns="0" rIns="0" bIns="0" rtlCol="0" anchor="ctr"/>
          <a:lstStyle/>
          <a:p>
            <a:pPr marL="0" indent="0" algn="r">
              <a:buNone/>
            </a:pPr>
            <a:r>
              <a:rPr lang="en-US" sz="800" b="1" kern="0" spc="100" dirty="0">
                <a:solidFill>
                  <a:srgbClr val="E08A1E"/>
                </a:solidFill>
                <a:latin typeface="Calibri" pitchFamily="34" charset="0"/>
                <a:ea typeface="Calibri" pitchFamily="34" charset="-122"/>
                <a:cs typeface="Calibri" pitchFamily="34" charset="-120"/>
              </a:rPr>
              <a:t>NEXT</a:t>
            </a:r>
            <a:endParaRPr lang="en-US" sz="800" dirty="0"/>
          </a:p>
        </p:txBody>
      </p:sp>
      <p:sp>
        <p:nvSpPr>
          <p:cNvPr id="39" name="Shape 32"/>
          <p:cNvSpPr/>
          <p:nvPr/>
        </p:nvSpPr>
        <p:spPr>
          <a:xfrm>
            <a:off x="5943600" y="496519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40" name="Shape 33"/>
          <p:cNvSpPr/>
          <p:nvPr/>
        </p:nvSpPr>
        <p:spPr>
          <a:xfrm>
            <a:off x="6144768" y="5157216"/>
            <a:ext cx="457200" cy="457200"/>
          </a:xfrm>
          <a:prstGeom prst="ellipse">
            <a:avLst/>
          </a:prstGeom>
          <a:solidFill>
            <a:srgbClr val="E08A1E"/>
          </a:solidFill>
          <a:ln/>
        </p:spPr>
      </p:sp>
      <p:pic>
        <p:nvPicPr>
          <p:cNvPr id="41" name="Image 5" descr="preencoded.png"/>
          <p:cNvPicPr>
            <a:picLocks noChangeAspect="1"/>
          </p:cNvPicPr>
          <p:nvPr/>
        </p:nvPicPr>
        <p:blipFill>
          <a:blip r:embed="rId8"/>
          <a:stretch>
            <a:fillRect/>
          </a:stretch>
        </p:blipFill>
        <p:spPr>
          <a:xfrm>
            <a:off x="6254496" y="5266944"/>
            <a:ext cx="237744" cy="237744"/>
          </a:xfrm>
          <a:prstGeom prst="rect">
            <a:avLst/>
          </a:prstGeom>
        </p:spPr>
      </p:pic>
      <p:sp>
        <p:nvSpPr>
          <p:cNvPr id="42" name="Text 34"/>
          <p:cNvSpPr/>
          <p:nvPr/>
        </p:nvSpPr>
        <p:spPr>
          <a:xfrm>
            <a:off x="6748272" y="509320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Preparing for motor-integration tests</a:t>
            </a:r>
            <a:endParaRPr lang="en-US" sz="1350" dirty="0"/>
          </a:p>
        </p:txBody>
      </p:sp>
      <p:sp>
        <p:nvSpPr>
          <p:cNvPr id="43" name="Text 35"/>
          <p:cNvSpPr/>
          <p:nvPr/>
        </p:nvSpPr>
        <p:spPr>
          <a:xfrm>
            <a:off x="6748272" y="540410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Next: seat XL330 servos into segments.</a:t>
            </a:r>
            <a:endParaRPr lang="en-US" sz="1100" dirty="0"/>
          </a:p>
        </p:txBody>
      </p:sp>
      <p:sp>
        <p:nvSpPr>
          <p:cNvPr id="44" name="Text 36"/>
          <p:cNvSpPr/>
          <p:nvPr/>
        </p:nvSpPr>
        <p:spPr>
          <a:xfrm>
            <a:off x="10972800" y="5111496"/>
            <a:ext cx="548640" cy="228600"/>
          </a:xfrm>
          <a:prstGeom prst="rect">
            <a:avLst/>
          </a:prstGeom>
          <a:noFill/>
          <a:ln/>
        </p:spPr>
        <p:txBody>
          <a:bodyPr wrap="square" lIns="0" tIns="0" rIns="0" bIns="0" rtlCol="0" anchor="ctr"/>
          <a:lstStyle/>
          <a:p>
            <a:pPr marL="0" indent="0" algn="r">
              <a:buNone/>
            </a:pPr>
            <a:r>
              <a:rPr lang="en-US" sz="800" b="1" kern="0" spc="100" dirty="0">
                <a:solidFill>
                  <a:srgbClr val="E08A1E"/>
                </a:solidFill>
                <a:latin typeface="Calibri" pitchFamily="34" charset="0"/>
                <a:ea typeface="Calibri" pitchFamily="34" charset="-122"/>
                <a:cs typeface="Calibri" pitchFamily="34" charset="-120"/>
              </a:rPr>
              <a:t>NEXT</a:t>
            </a:r>
            <a:endParaRPr lang="en-US" sz="800" dirty="0"/>
          </a:p>
        </p:txBody>
      </p:sp>
      <p:pic>
        <p:nvPicPr>
          <p:cNvPr id="5" name="Picture 4" descr="The image shows a white, rectangular piece of furniture, possibly a desk or shelf, resting on a patterned carpet with a few scattered fabric scraps nearby.">
            <a:extLst>
              <a:ext uri="{FF2B5EF4-FFF2-40B4-BE49-F238E27FC236}">
                <a16:creationId xmlns:a16="http://schemas.microsoft.com/office/drawing/2014/main" id="{2B7CD62D-6348-4C50-4F1E-F52677B2E6DA}"/>
              </a:ext>
            </a:extLst>
          </p:cNvPr>
          <p:cNvPicPr>
            <a:picLocks noChangeAspect="1"/>
          </p:cNvPicPr>
          <p:nvPr/>
        </p:nvPicPr>
        <p:blipFill>
          <a:blip r:embed="rId9"/>
          <a:srcRect l="23494" t="18612" r="28325" b="16104"/>
          <a:stretch>
            <a:fillRect/>
          </a:stretch>
        </p:blipFill>
        <p:spPr>
          <a:xfrm>
            <a:off x="576072" y="1606526"/>
            <a:ext cx="5047487" cy="2101366"/>
          </a:xfrm>
          <a:prstGeom prst="rect">
            <a:avLst/>
          </a:prstGeom>
        </p:spPr>
      </p:pic>
      <p:pic>
        <p:nvPicPr>
          <p:cNvPr id="7" name="Picture 6" descr="The image shows a white, rectangular plastic structure lying flat on a patterned carpeted floor.&#10;&#10;AI-generated content may be incorrect.">
            <a:extLst>
              <a:ext uri="{FF2B5EF4-FFF2-40B4-BE49-F238E27FC236}">
                <a16:creationId xmlns:a16="http://schemas.microsoft.com/office/drawing/2014/main" id="{B31C5E51-FD00-4342-13F3-2A959BDD17D3}"/>
              </a:ext>
            </a:extLst>
          </p:cNvPr>
          <p:cNvPicPr>
            <a:picLocks noChangeAspect="1"/>
          </p:cNvPicPr>
          <p:nvPr/>
        </p:nvPicPr>
        <p:blipFill>
          <a:blip r:embed="rId10"/>
          <a:srcRect l="17223" t="9297" r="24652" b="21573"/>
          <a:stretch>
            <a:fillRect/>
          </a:stretch>
        </p:blipFill>
        <p:spPr>
          <a:xfrm>
            <a:off x="576072" y="3970730"/>
            <a:ext cx="5001768" cy="20313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8FB"/>
        </a:solidFill>
        <a:effectLst/>
      </p:bgPr>
    </p:bg>
    <p:spTree>
      <p:nvGrpSpPr>
        <p:cNvPr id="1" name=""/>
        <p:cNvGrpSpPr/>
        <p:nvPr/>
      </p:nvGrpSpPr>
      <p:grpSpPr>
        <a:xfrm>
          <a:off x="0" y="0"/>
          <a:ext cx="0" cy="0"/>
          <a:chOff x="0" y="0"/>
          <a:chExt cx="0" cy="0"/>
        </a:xfrm>
      </p:grpSpPr>
      <p:sp>
        <p:nvSpPr>
          <p:cNvPr id="300" name="LeftBg"/>
          <p:cNvSpPr/>
          <p:nvPr/>
        </p:nvSpPr>
        <p:spPr>
          <a:xfrm>
            <a:off x="101600" y="787400"/>
            <a:ext cx="4699000" cy="5943600"/>
          </a:xfrm>
          <a:prstGeom prst="roundRect">
            <a:avLst>
              <a:gd name="adj" fmla="val 3000"/>
            </a:avLst>
          </a:prstGeom>
          <a:solidFill>
            <a:srgbClr val="F4F7FB"/>
          </a:solidFill>
          <a:ln w="9525">
            <a:solidFill>
              <a:srgbClr val="DDE5F0"/>
            </a:solidFill>
          </a:ln>
        </p:spPr>
        <p:txBody>
          <a:bodyPr/>
          <a:lstStyle/>
          <a:p>
            <a:endParaRPr/>
          </a:p>
        </p:txBody>
      </p:sp>
      <p:sp>
        <p:nvSpPr>
          <p:cNvPr id="10" name="Shape 8"/>
          <p:cNvSpPr/>
          <p:nvPr/>
        </p:nvSpPr>
        <p:spPr>
          <a:xfrm>
            <a:off x="177800" y="9398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11" name="Shape 9"/>
          <p:cNvSpPr/>
          <p:nvPr/>
        </p:nvSpPr>
        <p:spPr>
          <a:xfrm>
            <a:off x="279400" y="1104900"/>
            <a:ext cx="393700" cy="393700"/>
          </a:xfrm>
          <a:prstGeom prst="ellipse">
            <a:avLst/>
          </a:prstGeom>
          <a:solidFill>
            <a:srgbClr val="0E96AC"/>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381000" y="1206500"/>
            <a:ext cx="190500" cy="190500"/>
          </a:xfrm>
          <a:prstGeom prst="rect">
            <a:avLst/>
          </a:prstGeom>
        </p:spPr>
      </p:pic>
      <p:sp>
        <p:nvSpPr>
          <p:cNvPr id="13" name="Text 10"/>
          <p:cNvSpPr/>
          <p:nvPr/>
        </p:nvSpPr>
        <p:spPr>
          <a:xfrm>
            <a:off x="762000" y="10414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Raspberry Pi 5 received &amp; configured</a:t>
            </a:r>
            <a:endParaRPr lang="en-US" sz="1250" dirty="0"/>
          </a:p>
        </p:txBody>
      </p:sp>
      <p:pic>
        <p:nvPicPr>
          <p:cNvPr id="14" name="Image 1" descr="preencoded.png"/>
          <p:cNvPicPr>
            <a:picLocks noChangeAspect="1"/>
          </p:cNvPicPr>
          <p:nvPr/>
        </p:nvPicPr>
        <p:blipFill>
          <a:blip r:embed="rId4"/>
          <a:stretch>
            <a:fillRect/>
          </a:stretch>
        </p:blipFill>
        <p:spPr>
          <a:xfrm>
            <a:off x="4368800" y="1193800"/>
            <a:ext cx="215900" cy="215900"/>
          </a:xfrm>
          <a:prstGeom prst="rect">
            <a:avLst/>
          </a:prstGeom>
        </p:spPr>
      </p:pic>
      <p:sp>
        <p:nvSpPr>
          <p:cNvPr id="15" name="Shape 11"/>
          <p:cNvSpPr/>
          <p:nvPr/>
        </p:nvSpPr>
        <p:spPr>
          <a:xfrm>
            <a:off x="177800" y="18542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16" name="Shape 12"/>
          <p:cNvSpPr/>
          <p:nvPr/>
        </p:nvSpPr>
        <p:spPr>
          <a:xfrm>
            <a:off x="279400" y="2019300"/>
            <a:ext cx="393700" cy="393700"/>
          </a:xfrm>
          <a:prstGeom prst="ellipse">
            <a:avLst/>
          </a:prstGeom>
          <a:solidFill>
            <a:srgbClr val="0E96AC"/>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381000" y="2120900"/>
            <a:ext cx="190500" cy="190500"/>
          </a:xfrm>
          <a:prstGeom prst="rect">
            <a:avLst/>
          </a:prstGeom>
        </p:spPr>
      </p:pic>
      <p:sp>
        <p:nvSpPr>
          <p:cNvPr id="18" name="Text 13"/>
          <p:cNvSpPr/>
          <p:nvPr/>
        </p:nvSpPr>
        <p:spPr>
          <a:xfrm>
            <a:off x="762000" y="19558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Raspberry Pi OS installation completed</a:t>
            </a:r>
            <a:endParaRPr lang="en-US" sz="1250" dirty="0"/>
          </a:p>
        </p:txBody>
      </p:sp>
      <p:pic>
        <p:nvPicPr>
          <p:cNvPr id="19" name="Image 3" descr="preencoded.png"/>
          <p:cNvPicPr>
            <a:picLocks noChangeAspect="1"/>
          </p:cNvPicPr>
          <p:nvPr/>
        </p:nvPicPr>
        <p:blipFill>
          <a:blip r:embed="rId4"/>
          <a:stretch>
            <a:fillRect/>
          </a:stretch>
        </p:blipFill>
        <p:spPr>
          <a:xfrm>
            <a:off x="4368800" y="2108200"/>
            <a:ext cx="215900" cy="215900"/>
          </a:xfrm>
          <a:prstGeom prst="rect">
            <a:avLst/>
          </a:prstGeom>
        </p:spPr>
      </p:pic>
      <p:sp>
        <p:nvSpPr>
          <p:cNvPr id="20" name="Shape 14"/>
          <p:cNvSpPr/>
          <p:nvPr/>
        </p:nvSpPr>
        <p:spPr>
          <a:xfrm>
            <a:off x="177800" y="27686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21" name="Shape 15"/>
          <p:cNvSpPr/>
          <p:nvPr/>
        </p:nvSpPr>
        <p:spPr>
          <a:xfrm>
            <a:off x="279400" y="2933700"/>
            <a:ext cx="393700" cy="393700"/>
          </a:xfrm>
          <a:prstGeom prst="ellipse">
            <a:avLst/>
          </a:prstGeom>
          <a:solidFill>
            <a:srgbClr val="0E96AC"/>
          </a:solidFill>
          <a:ln/>
        </p:spPr>
        <p:txBody>
          <a:bodyPr/>
          <a:lstStyle/>
          <a:p>
            <a:endParaRPr lang="en-IN"/>
          </a:p>
        </p:txBody>
      </p:sp>
      <p:pic>
        <p:nvPicPr>
          <p:cNvPr id="22" name="Image 4" descr="preencoded.png"/>
          <p:cNvPicPr>
            <a:picLocks noChangeAspect="1"/>
          </p:cNvPicPr>
          <p:nvPr/>
        </p:nvPicPr>
        <p:blipFill>
          <a:blip r:embed="rId6"/>
          <a:stretch>
            <a:fillRect/>
          </a:stretch>
        </p:blipFill>
        <p:spPr>
          <a:xfrm>
            <a:off x="381000" y="3035300"/>
            <a:ext cx="190500" cy="190500"/>
          </a:xfrm>
          <a:prstGeom prst="rect">
            <a:avLst/>
          </a:prstGeom>
        </p:spPr>
      </p:pic>
      <p:sp>
        <p:nvSpPr>
          <p:cNvPr id="23" name="Text 16"/>
          <p:cNvSpPr/>
          <p:nvPr/>
        </p:nvSpPr>
        <p:spPr>
          <a:xfrm>
            <a:off x="762000" y="28702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Wi-Fi connectivity established</a:t>
            </a:r>
            <a:endParaRPr lang="en-US" sz="1250" dirty="0"/>
          </a:p>
        </p:txBody>
      </p:sp>
      <p:pic>
        <p:nvPicPr>
          <p:cNvPr id="24" name="Image 5" descr="preencoded.png"/>
          <p:cNvPicPr>
            <a:picLocks noChangeAspect="1"/>
          </p:cNvPicPr>
          <p:nvPr/>
        </p:nvPicPr>
        <p:blipFill>
          <a:blip r:embed="rId4"/>
          <a:stretch>
            <a:fillRect/>
          </a:stretch>
        </p:blipFill>
        <p:spPr>
          <a:xfrm>
            <a:off x="4368800" y="3022600"/>
            <a:ext cx="215900" cy="215900"/>
          </a:xfrm>
          <a:prstGeom prst="rect">
            <a:avLst/>
          </a:prstGeom>
        </p:spPr>
      </p:pic>
      <p:sp>
        <p:nvSpPr>
          <p:cNvPr id="25" name="Shape 17"/>
          <p:cNvSpPr/>
          <p:nvPr/>
        </p:nvSpPr>
        <p:spPr>
          <a:xfrm>
            <a:off x="177800" y="36830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26" name="Shape 18"/>
          <p:cNvSpPr/>
          <p:nvPr/>
        </p:nvSpPr>
        <p:spPr>
          <a:xfrm>
            <a:off x="279400" y="3848100"/>
            <a:ext cx="393700" cy="393700"/>
          </a:xfrm>
          <a:prstGeom prst="ellipse">
            <a:avLst/>
          </a:prstGeom>
          <a:solidFill>
            <a:srgbClr val="0E96AC"/>
          </a:solidFill>
          <a:ln/>
        </p:spPr>
        <p:txBody>
          <a:bodyPr/>
          <a:lstStyle/>
          <a:p>
            <a:endParaRPr lang="en-IN"/>
          </a:p>
        </p:txBody>
      </p:sp>
      <p:pic>
        <p:nvPicPr>
          <p:cNvPr id="27" name="Image 6" descr="preencoded.png"/>
          <p:cNvPicPr>
            <a:picLocks noChangeAspect="1"/>
          </p:cNvPicPr>
          <p:nvPr/>
        </p:nvPicPr>
        <p:blipFill>
          <a:blip r:embed="rId7"/>
          <a:stretch>
            <a:fillRect/>
          </a:stretch>
        </p:blipFill>
        <p:spPr>
          <a:xfrm>
            <a:off x="381000" y="3949700"/>
            <a:ext cx="190500" cy="190500"/>
          </a:xfrm>
          <a:prstGeom prst="rect">
            <a:avLst/>
          </a:prstGeom>
        </p:spPr>
      </p:pic>
      <p:sp>
        <p:nvSpPr>
          <p:cNvPr id="28" name="Text 19"/>
          <p:cNvSpPr/>
          <p:nvPr/>
        </p:nvSpPr>
        <p:spPr>
          <a:xfrm>
            <a:off x="762000" y="37846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SSH &amp; remote access explored</a:t>
            </a:r>
            <a:endParaRPr lang="en-US" sz="1250" dirty="0"/>
          </a:p>
        </p:txBody>
      </p:sp>
      <p:pic>
        <p:nvPicPr>
          <p:cNvPr id="29" name="Image 7" descr="preencoded.png"/>
          <p:cNvPicPr>
            <a:picLocks noChangeAspect="1"/>
          </p:cNvPicPr>
          <p:nvPr/>
        </p:nvPicPr>
        <p:blipFill>
          <a:blip r:embed="rId4"/>
          <a:stretch>
            <a:fillRect/>
          </a:stretch>
        </p:blipFill>
        <p:spPr>
          <a:xfrm>
            <a:off x="4368800" y="3937000"/>
            <a:ext cx="215900" cy="215900"/>
          </a:xfrm>
          <a:prstGeom prst="rect">
            <a:avLst/>
          </a:prstGeom>
        </p:spPr>
      </p:pic>
      <p:sp>
        <p:nvSpPr>
          <p:cNvPr id="30" name="Shape 20"/>
          <p:cNvSpPr/>
          <p:nvPr/>
        </p:nvSpPr>
        <p:spPr>
          <a:xfrm>
            <a:off x="177800" y="45974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31" name="Shape 21"/>
          <p:cNvSpPr/>
          <p:nvPr/>
        </p:nvSpPr>
        <p:spPr>
          <a:xfrm>
            <a:off x="279400" y="4762500"/>
            <a:ext cx="393700" cy="393700"/>
          </a:xfrm>
          <a:prstGeom prst="ellipse">
            <a:avLst/>
          </a:prstGeom>
          <a:solidFill>
            <a:srgbClr val="0E96AC"/>
          </a:solidFill>
          <a:ln/>
        </p:spPr>
        <p:txBody>
          <a:bodyPr/>
          <a:lstStyle/>
          <a:p>
            <a:endParaRPr lang="en-IN"/>
          </a:p>
        </p:txBody>
      </p:sp>
      <p:pic>
        <p:nvPicPr>
          <p:cNvPr id="32" name="Image 8" descr="preencoded.png"/>
          <p:cNvPicPr>
            <a:picLocks noChangeAspect="1"/>
          </p:cNvPicPr>
          <p:nvPr/>
        </p:nvPicPr>
        <p:blipFill>
          <a:blip r:embed="rId8"/>
          <a:stretch>
            <a:fillRect/>
          </a:stretch>
        </p:blipFill>
        <p:spPr>
          <a:xfrm>
            <a:off x="381000" y="4864100"/>
            <a:ext cx="190500" cy="190500"/>
          </a:xfrm>
          <a:prstGeom prst="rect">
            <a:avLst/>
          </a:prstGeom>
        </p:spPr>
      </p:pic>
      <p:sp>
        <p:nvSpPr>
          <p:cNvPr id="33" name="Text 22"/>
          <p:cNvSpPr/>
          <p:nvPr/>
        </p:nvSpPr>
        <p:spPr>
          <a:xfrm>
            <a:off x="762000" y="46990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Basic GPIO &amp; intro projects performed</a:t>
            </a:r>
            <a:endParaRPr lang="en-US" sz="1250" dirty="0"/>
          </a:p>
        </p:txBody>
      </p:sp>
      <p:pic>
        <p:nvPicPr>
          <p:cNvPr id="34" name="Image 9" descr="preencoded.png"/>
          <p:cNvPicPr>
            <a:picLocks noChangeAspect="1"/>
          </p:cNvPicPr>
          <p:nvPr/>
        </p:nvPicPr>
        <p:blipFill>
          <a:blip r:embed="rId4"/>
          <a:stretch>
            <a:fillRect/>
          </a:stretch>
        </p:blipFill>
        <p:spPr>
          <a:xfrm>
            <a:off x="4368800" y="4851400"/>
            <a:ext cx="215900" cy="215900"/>
          </a:xfrm>
          <a:prstGeom prst="rect">
            <a:avLst/>
          </a:prstGeom>
        </p:spPr>
      </p:pic>
      <p:sp>
        <p:nvSpPr>
          <p:cNvPr id="35" name="Shape 23"/>
          <p:cNvSpPr/>
          <p:nvPr/>
        </p:nvSpPr>
        <p:spPr>
          <a:xfrm>
            <a:off x="177800" y="55118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36" name="Shape 24"/>
          <p:cNvSpPr/>
          <p:nvPr/>
        </p:nvSpPr>
        <p:spPr>
          <a:xfrm>
            <a:off x="279400" y="5676900"/>
            <a:ext cx="393700" cy="393700"/>
          </a:xfrm>
          <a:prstGeom prst="ellipse">
            <a:avLst/>
          </a:prstGeom>
          <a:solidFill>
            <a:srgbClr val="0E96AC"/>
          </a:solidFill>
          <a:ln/>
        </p:spPr>
        <p:txBody>
          <a:bodyPr/>
          <a:lstStyle/>
          <a:p>
            <a:endParaRPr lang="en-IN"/>
          </a:p>
        </p:txBody>
      </p:sp>
      <p:pic>
        <p:nvPicPr>
          <p:cNvPr id="37" name="Image 10" descr="preencoded.png"/>
          <p:cNvPicPr>
            <a:picLocks noChangeAspect="1"/>
          </p:cNvPicPr>
          <p:nvPr/>
        </p:nvPicPr>
        <p:blipFill>
          <a:blip r:embed="rId9"/>
          <a:stretch>
            <a:fillRect/>
          </a:stretch>
        </p:blipFill>
        <p:spPr>
          <a:xfrm>
            <a:off x="381000" y="5778500"/>
            <a:ext cx="190500" cy="190500"/>
          </a:xfrm>
          <a:prstGeom prst="rect">
            <a:avLst/>
          </a:prstGeom>
        </p:spPr>
      </p:pic>
      <p:sp>
        <p:nvSpPr>
          <p:cNvPr id="38" name="Text 25"/>
          <p:cNvSpPr/>
          <p:nvPr/>
        </p:nvSpPr>
        <p:spPr>
          <a:xfrm>
            <a:off x="762000" y="56134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Linux environment &amp; Python familiarity</a:t>
            </a:r>
            <a:endParaRPr lang="en-US" sz="1250" dirty="0"/>
          </a:p>
        </p:txBody>
      </p:sp>
      <p:pic>
        <p:nvPicPr>
          <p:cNvPr id="39" name="Image 11" descr="preencoded.png"/>
          <p:cNvPicPr>
            <a:picLocks noChangeAspect="1"/>
          </p:cNvPicPr>
          <p:nvPr/>
        </p:nvPicPr>
        <p:blipFill>
          <a:blip r:embed="rId4"/>
          <a:stretch>
            <a:fillRect/>
          </a:stretch>
        </p:blipFill>
        <p:spPr>
          <a:xfrm>
            <a:off x="4368800" y="5765800"/>
            <a:ext cx="215900" cy="215900"/>
          </a:xfrm>
          <a:prstGeom prst="rect">
            <a:avLst/>
          </a:prstGeom>
        </p:spPr>
      </p:pic>
      <p:sp>
        <p:nvSpPr>
          <p:cNvPr id="310" name="Card0"/>
          <p:cNvSpPr/>
          <p:nvPr/>
        </p:nvSpPr>
        <p:spPr>
          <a:xfrm>
            <a:off x="5080000" y="1003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1" name="Card1"/>
          <p:cNvSpPr/>
          <p:nvPr/>
        </p:nvSpPr>
        <p:spPr>
          <a:xfrm>
            <a:off x="8458200" y="1003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2" name="Card2"/>
          <p:cNvSpPr/>
          <p:nvPr/>
        </p:nvSpPr>
        <p:spPr>
          <a:xfrm>
            <a:off x="5080000" y="3162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3" name="Card3"/>
          <p:cNvSpPr/>
          <p:nvPr/>
        </p:nvSpPr>
        <p:spPr>
          <a:xfrm>
            <a:off x="8458200" y="3162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pic>
        <p:nvPicPr>
          <p:cNvPr id="46" name="Picture 45" descr="The image shows a schematic diagram of the Raspberry Pi GPIO pinout, detailing the connections between various pins and components such as power, ground, and communication interfaces.&#10;&#10;AI-generated content may be incorrect.">
            <a:extLst>
              <a:ext uri="{FF2B5EF4-FFF2-40B4-BE49-F238E27FC236}">
                <a16:creationId xmlns:a16="http://schemas.microsoft.com/office/drawing/2014/main" id="{DE1F7E33-CA39-C0EF-A173-4BAD70E88A32}"/>
              </a:ext>
            </a:extLst>
          </p:cNvPr>
          <p:cNvPicPr>
            <a:picLocks noChangeAspect="1"/>
          </p:cNvPicPr>
          <p:nvPr/>
        </p:nvPicPr>
        <p:blipFill>
          <a:blip r:embed="rId10"/>
          <a:srcRect r="60211"/>
          <a:stretch>
            <a:fillRect/>
          </a:stretch>
        </p:blipFill>
        <p:spPr>
          <a:xfrm>
            <a:off x="5105400" y="1028700"/>
            <a:ext cx="3200400" cy="1778000"/>
          </a:xfrm>
          <a:prstGeom prst="rect">
            <a:avLst/>
          </a:prstGeom>
        </p:spPr>
      </p:pic>
      <p:pic>
        <p:nvPicPr>
          <p:cNvPr id="5" name="Picture 4" descr="The image shows a Windows command prompt window, with a user logged into a remote Linux system via SSH, navigating through directories and listing files on a desktop.&#10;&#10;AI-generated content may be incorrect.">
            <a:extLst>
              <a:ext uri="{FF2B5EF4-FFF2-40B4-BE49-F238E27FC236}">
                <a16:creationId xmlns:a16="http://schemas.microsoft.com/office/drawing/2014/main" id="{476EAFDA-9F87-F6F2-3722-50C8B96B4274}"/>
              </a:ext>
            </a:extLst>
          </p:cNvPr>
          <p:cNvPicPr>
            <a:picLocks noChangeAspect="1"/>
          </p:cNvPicPr>
          <p:nvPr/>
        </p:nvPicPr>
        <p:blipFill>
          <a:blip r:embed="rId11"/>
          <a:srcRect b="23740"/>
          <a:stretch>
            <a:fillRect/>
          </a:stretch>
        </p:blipFill>
        <p:spPr>
          <a:xfrm>
            <a:off x="5105400" y="3187700"/>
            <a:ext cx="3200400" cy="1778000"/>
          </a:xfrm>
          <a:prstGeom prst="rect">
            <a:avLst/>
          </a:prstGeom>
        </p:spPr>
      </p:pic>
      <p:pic>
        <p:nvPicPr>
          <p:cNvPr id="7" name="Picture 6" descr="The image shows a purple rectangular device, presumably a Raspberry Pi E, with four black USB ports, placed on a wooden surface.">
            <a:extLst>
              <a:ext uri="{FF2B5EF4-FFF2-40B4-BE49-F238E27FC236}">
                <a16:creationId xmlns:a16="http://schemas.microsoft.com/office/drawing/2014/main" id="{2B20CD64-9A81-0E6C-1B7D-03F8DCC66540}"/>
              </a:ext>
            </a:extLst>
          </p:cNvPr>
          <p:cNvPicPr>
            <a:picLocks noChangeAspect="1"/>
          </p:cNvPicPr>
          <p:nvPr/>
        </p:nvPicPr>
        <p:blipFill>
          <a:blip r:embed="rId12"/>
          <a:srcRect l="19186" t="3630" r="28657" b="6275"/>
          <a:stretch>
            <a:fillRect/>
          </a:stretch>
        </p:blipFill>
        <p:spPr>
          <a:xfrm>
            <a:off x="8483600" y="3187700"/>
            <a:ext cx="3200400" cy="1778000"/>
          </a:xfrm>
          <a:prstGeom prst="rect">
            <a:avLst/>
          </a:prstGeom>
        </p:spPr>
      </p:pic>
      <p:pic>
        <p:nvPicPr>
          <p:cNvPr id="9" name="Picture 8" descr="The image shows a schematic diagram of the Raspberry Pi GPIO pinout, detailing the connections between various pins and components such as power, ground, and communication interfaces.&#10;&#10;AI-generated content may be incorrect.">
            <a:extLst>
              <a:ext uri="{FF2B5EF4-FFF2-40B4-BE49-F238E27FC236}">
                <a16:creationId xmlns:a16="http://schemas.microsoft.com/office/drawing/2014/main" id="{FEAE6426-EE78-D26E-1075-61019A1547A7}"/>
              </a:ext>
            </a:extLst>
          </p:cNvPr>
          <p:cNvPicPr>
            <a:picLocks noChangeAspect="1"/>
          </p:cNvPicPr>
          <p:nvPr/>
        </p:nvPicPr>
        <p:blipFill>
          <a:blip r:embed="rId10"/>
          <a:srcRect l="37886"/>
          <a:stretch>
            <a:fillRect/>
          </a:stretch>
        </p:blipFill>
        <p:spPr>
          <a:xfrm>
            <a:off x="8483600" y="1028700"/>
            <a:ext cx="3200400" cy="1778000"/>
          </a:xfrm>
          <a:prstGeom prst="rect">
            <a:avLst/>
          </a:prstGeom>
        </p:spPr>
      </p:pic>
      <p:sp>
        <p:nvSpPr>
          <p:cNvPr id="301" name="Divider"/>
          <p:cNvSpPr/>
          <p:nvPr/>
        </p:nvSpPr>
        <p:spPr>
          <a:xfrm>
            <a:off x="4864100" y="127000"/>
            <a:ext cx="25400" cy="6629400"/>
          </a:xfrm>
          <a:prstGeom prst="rect">
            <a:avLst/>
          </a:prstGeom>
          <a:solidFill>
            <a:srgbClr val="DDE5F0"/>
          </a:solidFill>
          <a:ln>
            <a:noFill/>
          </a:ln>
        </p:spPr>
        <p:txBody>
          <a:bodyPr/>
          <a:lstStyle/>
          <a:p>
            <a:endParaRPr/>
          </a:p>
        </p:txBody>
      </p:sp>
      <p:sp>
        <p:nvSpPr>
          <p:cNvPr id="330" name="BannerBg"/>
          <p:cNvSpPr/>
          <p:nvPr/>
        </p:nvSpPr>
        <p:spPr>
          <a:xfrm>
            <a:off x="5054600" y="5397500"/>
            <a:ext cx="6680200" cy="381000"/>
          </a:xfrm>
          <a:prstGeom prst="roundRect">
            <a:avLst>
              <a:gd name="adj" fmla="val 10000"/>
            </a:avLst>
          </a:prstGeom>
          <a:solidFill>
            <a:srgbClr val="D4EDDA"/>
          </a:solidFill>
          <a:ln w="12700">
            <a:solidFill>
              <a:srgbClr val="28A745"/>
            </a:solidFill>
          </a:ln>
        </p:spPr>
        <p:txBody>
          <a:bodyPr/>
          <a:lstStyle/>
          <a:p>
            <a:endParaRPr/>
          </a:p>
        </p:txBody>
      </p:sp>
      <p:sp>
        <p:nvSpPr>
          <p:cNvPr id="331" name="BannerText"/>
          <p:cNvSpPr/>
          <p:nvPr/>
        </p:nvSpPr>
        <p:spPr>
          <a:xfrm>
            <a:off x="5105400" y="5473700"/>
            <a:ext cx="6578600" cy="279400"/>
          </a:xfrm>
          <a:prstGeom prst="rect">
            <a:avLst/>
          </a:prstGeom>
          <a:noFill/>
        </p:spPr>
        <p:txBody>
          <a:bodyPr wrap="square" rtlCol="0"/>
          <a:lstStyle/>
          <a:p>
            <a:pPr marL="0" indent="0" algn="ctr">
              <a:buNone/>
            </a:pPr>
            <a:r>
              <a:rPr lang="en-US" sz="1000" b="1" dirty="0">
                <a:solidFill>
                  <a:srgbClr val="0A3D1F"/>
                </a:solidFill>
                <a:latin typeface="Calibri" pitchFamily="34" charset="0"/>
              </a:rPr>
              <a:t>Raspberry Pi Platform Successfully Configured and Tested</a:t>
            </a:r>
          </a:p>
        </p:txBody>
      </p:sp>
      <p:sp>
        <p:nvSpPr>
          <p:cNvPr id="320" name="Cap0"/>
          <p:cNvSpPr/>
          <p:nvPr/>
        </p:nvSpPr>
        <p:spPr>
          <a:xfrm>
            <a:off x="5080000" y="2857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Raspberry Pi OS Desktop</a:t>
            </a:r>
          </a:p>
        </p:txBody>
      </p:sp>
      <p:sp>
        <p:nvSpPr>
          <p:cNvPr id="321" name="Cap1"/>
          <p:cNvSpPr/>
          <p:nvPr/>
        </p:nvSpPr>
        <p:spPr>
          <a:xfrm>
            <a:off x="8458200" y="2857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GPIO / Python Testing</a:t>
            </a:r>
          </a:p>
        </p:txBody>
      </p:sp>
      <p:sp>
        <p:nvSpPr>
          <p:cNvPr id="322" name="Cap2"/>
          <p:cNvSpPr/>
          <p:nvPr/>
        </p:nvSpPr>
        <p:spPr>
          <a:xfrm>
            <a:off x="5080000" y="5016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SSH Remote Access</a:t>
            </a:r>
          </a:p>
        </p:txBody>
      </p:sp>
      <p:sp>
        <p:nvSpPr>
          <p:cNvPr id="323" name="Cap3"/>
          <p:cNvSpPr/>
          <p:nvPr/>
        </p:nvSpPr>
        <p:spPr>
          <a:xfrm>
            <a:off x="8458200" y="5016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System Configuration</a:t>
            </a:r>
          </a:p>
        </p:txBody>
      </p:sp>
      <p:sp>
        <p:nvSpPr>
          <p:cNvPr id="303" name="RightHeading"/>
          <p:cNvSpPr/>
          <p:nvPr/>
        </p:nvSpPr>
        <p:spPr>
          <a:xfrm>
            <a:off x="5029200" y="660400"/>
            <a:ext cx="6959600" cy="279400"/>
          </a:xfrm>
          <a:prstGeom prst="rect">
            <a:avLst/>
          </a:prstGeom>
          <a:noFill/>
        </p:spPr>
        <p:txBody>
          <a:bodyPr wrap="square" rtlCol="0"/>
          <a:lstStyle/>
          <a:p>
            <a:pPr marL="0" indent="0">
              <a:buNone/>
            </a:pPr>
            <a:r>
              <a:rPr lang="en-US" sz="1200" b="1" dirty="0">
                <a:solidFill>
                  <a:srgbClr val="0E96AC"/>
                </a:solidFill>
                <a:latin typeface="Calibri" pitchFamily="34" charset="0"/>
              </a:rPr>
              <a:t>Development Environment Setup</a:t>
            </a:r>
          </a:p>
        </p:txBody>
      </p:sp>
      <p:sp>
        <p:nvSpPr>
          <p:cNvPr id="302" name="MilesLabel"/>
          <p:cNvSpPr/>
          <p:nvPr/>
        </p:nvSpPr>
        <p:spPr>
          <a:xfrm>
            <a:off x="228600" y="787400"/>
            <a:ext cx="4318000" cy="177800"/>
          </a:xfrm>
          <a:prstGeom prst="rect">
            <a:avLst/>
          </a:prstGeom>
          <a:noFill/>
        </p:spPr>
        <p:txBody>
          <a:bodyPr wrap="square" rtlCol="0"/>
          <a:lstStyle/>
          <a:p>
            <a:pPr marL="0" indent="0">
              <a:buNone/>
            </a:pPr>
            <a:r>
              <a:rPr lang="en-US" sz="900" b="1" spc="100" dirty="0">
                <a:solidFill>
                  <a:srgbClr val="3A6D82"/>
                </a:solidFill>
                <a:latin typeface="Calibri" pitchFamily="34" charset="0"/>
              </a:rPr>
              <a:t>PROGRESS MILESTONES</a:t>
            </a:r>
          </a:p>
        </p:txBody>
      </p:sp>
      <p:sp>
        <p:nvSpPr>
          <p:cNvPr id="3" name="Text 1"/>
          <p:cNvSpPr/>
          <p:nvPr/>
        </p:nvSpPr>
        <p:spPr>
          <a:xfrm>
            <a:off x="228600" y="330200"/>
            <a:ext cx="4546600" cy="381000"/>
          </a:xfrm>
          <a:prstGeom prst="rect">
            <a:avLst/>
          </a:prstGeom>
          <a:noFill/>
          <a:ln/>
        </p:spPr>
        <p:txBody>
          <a:bodyPr wrap="square" lIns="0" tIns="0" rIns="0" bIns="0" rtlCol="0" anchor="ctr"/>
          <a:lstStyle/>
          <a:p>
            <a:pPr marL="0" indent="0">
              <a:buNone/>
            </a:pPr>
            <a:r>
              <a:rPr lang="en-US" sz="2200" b="1" dirty="0">
                <a:solidFill>
                  <a:srgbClr val="16223A"/>
                </a:solidFill>
                <a:latin typeface="Calibri" pitchFamily="34" charset="0"/>
                <a:ea typeface="Calibri" pitchFamily="34" charset="-122"/>
                <a:cs typeface="Calibri" pitchFamily="34" charset="-120"/>
              </a:rPr>
              <a:t>Standing Up the Compute Platform</a:t>
            </a:r>
            <a:endParaRPr lang="en-US" sz="3000" dirty="0"/>
          </a:p>
        </p:txBody>
      </p:sp>
      <p:sp>
        <p:nvSpPr>
          <p:cNvPr id="2" name="Text 0"/>
          <p:cNvSpPr/>
          <p:nvPr/>
        </p:nvSpPr>
        <p:spPr>
          <a:xfrm>
            <a:off x="228600" y="127000"/>
            <a:ext cx="4546600" cy="2286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RASPBERRY PI LEARNING &amp; DEVELOPMENT</a:t>
            </a:r>
            <a:endParaRPr lang="en-US" sz="1200" dirty="0"/>
          </a:p>
        </p:txBody>
      </p:sp>
    </p:spTree>
    <p:extLst>
      <p:ext uri="{BB962C8B-B14F-4D97-AF65-F5344CB8AC3E}">
        <p14:creationId xmlns:p14="http://schemas.microsoft.com/office/powerpoint/2010/main" val="2840605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8FB"/>
        </a:solidFill>
        <a:effectLst/>
      </p:bgPr>
    </p:bg>
    <p:spTree>
      <p:nvGrpSpPr>
        <p:cNvPr id="1" name=""/>
        <p:cNvGrpSpPr/>
        <p:nvPr/>
      </p:nvGrpSpPr>
      <p:grpSpPr>
        <a:xfrm>
          <a:off x="0" y="0"/>
          <a:ext cx="0" cy="0"/>
          <a:chOff x="0" y="0"/>
          <a:chExt cx="0" cy="0"/>
        </a:xfrm>
      </p:grpSpPr>
      <p:sp>
        <p:nvSpPr>
          <p:cNvPr id="100" name="bg_top"/>
          <p:cNvSpPr>
            <a:spLocks noGrp="1"/>
          </p:cNvSpPr>
          <p:nvPr/>
        </p:nvSpPr>
        <p:spPr>
          <a:xfrm>
            <a:off x="0" y="0"/>
            <a:ext cx="12192000" cy="1397000"/>
          </a:xfrm>
          <a:prstGeom prst="rect">
            <a:avLst/>
          </a:prstGeom>
          <a:solidFill>
            <a:srgbClr val="F4F6F9"/>
          </a:solidFill>
          <a:ln>
            <a:noFill/>
          </a:ln>
        </p:spPr>
        <p:txBody>
          <a:bodyPr/>
          <a:lstStyle/>
          <a:p>
            <a:endParaRPr lang="en-US"/>
          </a:p>
        </p:txBody>
      </p:sp>
      <p:sp>
        <p:nvSpPr>
          <p:cNvPr id="101" name="bg_body"/>
          <p:cNvSpPr>
            <a:spLocks noGrp="1"/>
          </p:cNvSpPr>
          <p:nvPr/>
        </p:nvSpPr>
        <p:spPr>
          <a:xfrm>
            <a:off x="0" y="1397000"/>
            <a:ext cx="12192000" cy="5461000"/>
          </a:xfrm>
          <a:prstGeom prst="rect">
            <a:avLst/>
          </a:prstGeom>
          <a:solidFill>
            <a:srgbClr val="FFFFFF"/>
          </a:solidFill>
          <a:ln>
            <a:noFill/>
          </a:ln>
        </p:spPr>
        <p:txBody>
          <a:bodyPr/>
          <a:lstStyle/>
          <a:p>
            <a:endParaRPr lang="en-US"/>
          </a:p>
        </p:txBody>
      </p:sp>
      <p:sp>
        <p:nvSpPr>
          <p:cNvPr id="102" name="accent_bar"/>
          <p:cNvSpPr>
            <a:spLocks noGrp="1"/>
          </p:cNvSpPr>
          <p:nvPr/>
        </p:nvSpPr>
        <p:spPr>
          <a:xfrm>
            <a:off x="0" y="0"/>
            <a:ext cx="12192000" cy="63500"/>
          </a:xfrm>
          <a:prstGeom prst="rect">
            <a:avLst/>
          </a:prstGeom>
          <a:solidFill>
            <a:srgbClr val="0E96AC"/>
          </a:solidFill>
          <a:ln>
            <a:noFill/>
          </a:ln>
        </p:spPr>
        <p:txBody>
          <a:bodyPr/>
          <a:lstStyle/>
          <a:p>
            <a:endParaRPr lang="en-US"/>
          </a:p>
        </p:txBody>
      </p:sp>
      <p:sp>
        <p:nvSpPr>
          <p:cNvPr id="103" name="subtitle"/>
          <p:cNvSpPr txBox="1">
            <a:spLocks noGrp="1"/>
          </p:cNvSpPr>
          <p:nvPr/>
        </p:nvSpPr>
        <p:spPr>
          <a:xfrm>
            <a:off x="546100" y="177800"/>
            <a:ext cx="8636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HARDWARE PROCUREMENT &amp; RESOURCE AVAILABILITY</a:t>
            </a:r>
          </a:p>
        </p:txBody>
      </p:sp>
      <p:sp>
        <p:nvSpPr>
          <p:cNvPr id="104" name="title"/>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Hardware Procurement &amp; Resource Availability</a:t>
            </a:r>
          </a:p>
        </p:txBody>
      </p:sp>
      <p:sp>
        <p:nvSpPr>
          <p:cNvPr id="105" name="divider"/>
          <p:cNvSpPr>
            <a:spLocks noGrp="1"/>
          </p:cNvSpPr>
          <p:nvPr/>
        </p:nvSpPr>
        <p:spPr>
          <a:xfrm>
            <a:off x="546100" y="1320800"/>
            <a:ext cx="11099800" cy="25400"/>
          </a:xfrm>
          <a:prstGeom prst="rect">
            <a:avLst/>
          </a:prstGeom>
          <a:solidFill>
            <a:srgbClr val="0E96AC"/>
          </a:solidFill>
          <a:ln>
            <a:noFill/>
          </a:ln>
        </p:spPr>
        <p:txBody>
          <a:bodyPr/>
          <a:lstStyle/>
          <a:p>
            <a:endParaRPr lang="en-US"/>
          </a:p>
        </p:txBody>
      </p:sp>
      <p:sp>
        <p:nvSpPr>
          <p:cNvPr id="110" name="s1_bg"/>
          <p:cNvSpPr>
            <a:spLocks noGrp="1"/>
          </p:cNvSpPr>
          <p:nvPr/>
        </p:nvSpPr>
        <p:spPr>
          <a:xfrm>
            <a:off x="546100" y="1447800"/>
            <a:ext cx="11099800" cy="711200"/>
          </a:xfrm>
          <a:prstGeom prst="roundRect">
            <a:avLst>
              <a:gd name="adj" fmla="val 12000"/>
            </a:avLst>
          </a:prstGeom>
          <a:solidFill>
            <a:srgbClr val="EBF8FA"/>
          </a:solidFill>
          <a:ln>
            <a:noFill/>
          </a:ln>
        </p:spPr>
        <p:txBody>
          <a:bodyPr/>
          <a:lstStyle/>
          <a:p>
            <a:endParaRPr lang="en-US"/>
          </a:p>
        </p:txBody>
      </p:sp>
      <p:sp>
        <p:nvSpPr>
          <p:cNvPr id="111" name="s1_accent"/>
          <p:cNvSpPr>
            <a:spLocks noGrp="1"/>
          </p:cNvSpPr>
          <p:nvPr/>
        </p:nvSpPr>
        <p:spPr>
          <a:xfrm>
            <a:off x="546100" y="1447800"/>
            <a:ext cx="63500" cy="711200"/>
          </a:xfrm>
          <a:prstGeom prst="rect">
            <a:avLst/>
          </a:prstGeom>
          <a:solidFill>
            <a:srgbClr val="0E96AC"/>
          </a:solidFill>
          <a:ln>
            <a:noFill/>
          </a:ln>
        </p:spPr>
        <p:txBody>
          <a:bodyPr/>
          <a:lstStyle/>
          <a:p>
            <a:endParaRPr lang="en-US"/>
          </a:p>
        </p:txBody>
      </p:sp>
      <p:sp>
        <p:nvSpPr>
          <p:cNvPr id="112" name="s1_text"/>
          <p:cNvSpPr txBox="1">
            <a:spLocks noGrp="1"/>
          </p:cNvSpPr>
          <p:nvPr/>
        </p:nvSpPr>
        <p:spPr>
          <a:xfrm>
            <a:off x="736600" y="1473200"/>
            <a:ext cx="10795000" cy="660400"/>
          </a:xfrm>
          <a:prstGeom prst="rect">
            <a:avLst/>
          </a:prstGeom>
          <a:noFill/>
          <a:ln>
            <a:noFill/>
          </a:ln>
        </p:spPr>
        <p:txBody>
          <a:bodyPr anchor="ctr">
            <a:normAutofit lnSpcReduction="10000"/>
          </a:bodyPr>
          <a:lstStyle/>
          <a:p>
            <a:pPr marL="0" indent="0">
              <a:buNone/>
            </a:pPr>
            <a:r>
              <a:rPr lang="en-IN" sz="1300" b="1" dirty="0">
                <a:solidFill>
                  <a:srgbClr val="16223A"/>
                </a:solidFill>
                <a:latin typeface="Calibri"/>
              </a:rPr>
              <a:t>Hardware Strategy: </a:t>
            </a:r>
            <a:r>
              <a:rPr lang="en-IN" sz="1300" dirty="0">
                <a:solidFill>
                  <a:srgbClr val="16223A"/>
                </a:solidFill>
                <a:latin typeface="Calibri"/>
              </a:rPr>
              <a:t>Raspberry Pi 4 was planned in the BOM; however, a Raspberry Pi 5 was already available in the laboratory, enabling immediate software development and testing without waiting for delivery. To accelerate development, the team utilised the laboratory Raspberry Pi 5 platform while the ordered components remain under procurement.</a:t>
            </a:r>
          </a:p>
        </p:txBody>
      </p:sp>
      <p:sp>
        <p:nvSpPr>
          <p:cNvPr id="120" name="card0_bg"/>
          <p:cNvSpPr>
            <a:spLocks noGrp="1"/>
          </p:cNvSpPr>
          <p:nvPr/>
        </p:nvSpPr>
        <p:spPr>
          <a:xfrm>
            <a:off x="546100" y="2260600"/>
            <a:ext cx="3568700" cy="1714500"/>
          </a:xfrm>
          <a:prstGeom prst="roundRect">
            <a:avLst>
              <a:gd name="adj" fmla="val 10000"/>
            </a:avLst>
          </a:prstGeom>
          <a:solidFill>
            <a:srgbClr val="F0FBF4"/>
          </a:solidFill>
          <a:ln w="15000">
            <a:solidFill>
              <a:srgbClr val="1E7A3E"/>
            </a:solidFill>
          </a:ln>
        </p:spPr>
        <p:txBody>
          <a:bodyPr/>
          <a:lstStyle/>
          <a:p>
            <a:endParaRPr lang="en-US"/>
          </a:p>
        </p:txBody>
      </p:sp>
      <p:sp>
        <p:nvSpPr>
          <p:cNvPr id="121" name="card0_hdr"/>
          <p:cNvSpPr>
            <a:spLocks noGrp="1"/>
          </p:cNvSpPr>
          <p:nvPr/>
        </p:nvSpPr>
        <p:spPr>
          <a:xfrm>
            <a:off x="546100" y="2260600"/>
            <a:ext cx="3568700" cy="330200"/>
          </a:xfrm>
          <a:prstGeom prst="rect">
            <a:avLst/>
          </a:prstGeom>
          <a:solidFill>
            <a:srgbClr val="1E7A3E"/>
          </a:solidFill>
          <a:ln>
            <a:noFill/>
          </a:ln>
        </p:spPr>
        <p:txBody>
          <a:bodyPr/>
          <a:lstStyle/>
          <a:p>
            <a:endParaRPr lang="en-US"/>
          </a:p>
        </p:txBody>
      </p:sp>
      <p:sp>
        <p:nvSpPr>
          <p:cNvPr id="130" name="card1_bg"/>
          <p:cNvSpPr>
            <a:spLocks noGrp="1"/>
          </p:cNvSpPr>
          <p:nvPr/>
        </p:nvSpPr>
        <p:spPr>
          <a:xfrm>
            <a:off x="4305300" y="2260600"/>
            <a:ext cx="3568700" cy="1714500"/>
          </a:xfrm>
          <a:prstGeom prst="roundRect">
            <a:avLst>
              <a:gd name="adj" fmla="val 10000"/>
            </a:avLst>
          </a:prstGeom>
          <a:solidFill>
            <a:srgbClr val="FEF9EE"/>
          </a:solidFill>
          <a:ln w="15000">
            <a:solidFill>
              <a:srgbClr val="B45309"/>
            </a:solidFill>
          </a:ln>
        </p:spPr>
        <p:txBody>
          <a:bodyPr/>
          <a:lstStyle/>
          <a:p>
            <a:endParaRPr lang="en-US"/>
          </a:p>
        </p:txBody>
      </p:sp>
      <p:sp>
        <p:nvSpPr>
          <p:cNvPr id="131" name="card1_hdr"/>
          <p:cNvSpPr>
            <a:spLocks noGrp="1"/>
          </p:cNvSpPr>
          <p:nvPr/>
        </p:nvSpPr>
        <p:spPr>
          <a:xfrm>
            <a:off x="4305300" y="2260600"/>
            <a:ext cx="3568700" cy="330200"/>
          </a:xfrm>
          <a:prstGeom prst="rect">
            <a:avLst/>
          </a:prstGeom>
          <a:solidFill>
            <a:srgbClr val="B45309"/>
          </a:solidFill>
          <a:ln>
            <a:noFill/>
          </a:ln>
        </p:spPr>
        <p:txBody>
          <a:bodyPr/>
          <a:lstStyle/>
          <a:p>
            <a:endParaRPr lang="en-US"/>
          </a:p>
        </p:txBody>
      </p:sp>
      <p:sp>
        <p:nvSpPr>
          <p:cNvPr id="140" name="card2_bg"/>
          <p:cNvSpPr>
            <a:spLocks noGrp="1"/>
          </p:cNvSpPr>
          <p:nvPr/>
        </p:nvSpPr>
        <p:spPr>
          <a:xfrm>
            <a:off x="8064500" y="2260600"/>
            <a:ext cx="3568700" cy="1714500"/>
          </a:xfrm>
          <a:prstGeom prst="roundRect">
            <a:avLst>
              <a:gd name="adj" fmla="val 10000"/>
            </a:avLst>
          </a:prstGeom>
          <a:solidFill>
            <a:srgbClr val="EEF3FC"/>
          </a:solidFill>
          <a:ln w="15000">
            <a:solidFill>
              <a:srgbClr val="1A4A8A"/>
            </a:solidFill>
          </a:ln>
        </p:spPr>
        <p:txBody>
          <a:bodyPr/>
          <a:lstStyle/>
          <a:p>
            <a:endParaRPr lang="en-US"/>
          </a:p>
        </p:txBody>
      </p:sp>
      <p:sp>
        <p:nvSpPr>
          <p:cNvPr id="141" name="card2_hdr"/>
          <p:cNvSpPr>
            <a:spLocks noGrp="1"/>
          </p:cNvSpPr>
          <p:nvPr/>
        </p:nvSpPr>
        <p:spPr>
          <a:xfrm>
            <a:off x="8064500" y="2260600"/>
            <a:ext cx="3568700" cy="330200"/>
          </a:xfrm>
          <a:prstGeom prst="rect">
            <a:avLst/>
          </a:prstGeom>
          <a:solidFill>
            <a:srgbClr val="1A4A8A"/>
          </a:solidFill>
          <a:ln>
            <a:noFill/>
          </a:ln>
        </p:spPr>
        <p:txBody>
          <a:bodyPr/>
          <a:lstStyle/>
          <a:p>
            <a:endParaRPr lang="en-US"/>
          </a:p>
        </p:txBody>
      </p:sp>
      <p:sp>
        <p:nvSpPr>
          <p:cNvPr id="124" name="card0_hdr_fix"/>
          <p:cNvSpPr>
            <a:spLocks noGrp="1"/>
          </p:cNvSpPr>
          <p:nvPr/>
        </p:nvSpPr>
        <p:spPr>
          <a:xfrm>
            <a:off x="546100" y="2413000"/>
            <a:ext cx="3568700" cy="177800"/>
          </a:xfrm>
          <a:prstGeom prst="rect">
            <a:avLst/>
          </a:prstGeom>
          <a:solidFill>
            <a:srgbClr val="1E7A3E"/>
          </a:solidFill>
          <a:ln>
            <a:noFill/>
          </a:ln>
        </p:spPr>
        <p:txBody>
          <a:bodyPr/>
          <a:lstStyle/>
          <a:p>
            <a:endParaRPr lang="en-US"/>
          </a:p>
        </p:txBody>
      </p:sp>
      <p:sp>
        <p:nvSpPr>
          <p:cNvPr id="134" name="card1_hdr_fix"/>
          <p:cNvSpPr>
            <a:spLocks noGrp="1"/>
          </p:cNvSpPr>
          <p:nvPr/>
        </p:nvSpPr>
        <p:spPr>
          <a:xfrm>
            <a:off x="4305300" y="2413000"/>
            <a:ext cx="3568700" cy="177800"/>
          </a:xfrm>
          <a:prstGeom prst="rect">
            <a:avLst/>
          </a:prstGeom>
          <a:solidFill>
            <a:srgbClr val="B45309"/>
          </a:solidFill>
          <a:ln>
            <a:noFill/>
          </a:ln>
        </p:spPr>
        <p:txBody>
          <a:bodyPr/>
          <a:lstStyle/>
          <a:p>
            <a:endParaRPr lang="en-US"/>
          </a:p>
        </p:txBody>
      </p:sp>
      <p:sp>
        <p:nvSpPr>
          <p:cNvPr id="144" name="card2_hdr_fix"/>
          <p:cNvSpPr>
            <a:spLocks noGrp="1"/>
          </p:cNvSpPr>
          <p:nvPr/>
        </p:nvSpPr>
        <p:spPr>
          <a:xfrm>
            <a:off x="8064500" y="2413000"/>
            <a:ext cx="3568700" cy="177800"/>
          </a:xfrm>
          <a:prstGeom prst="rect">
            <a:avLst/>
          </a:prstGeom>
          <a:solidFill>
            <a:srgbClr val="1A4A8A"/>
          </a:solidFill>
          <a:ln>
            <a:noFill/>
          </a:ln>
        </p:spPr>
        <p:txBody>
          <a:bodyPr/>
          <a:lstStyle/>
          <a:p>
            <a:endParaRPr lang="en-US"/>
          </a:p>
        </p:txBody>
      </p:sp>
      <p:sp>
        <p:nvSpPr>
          <p:cNvPr id="125" name="card0_title"/>
          <p:cNvSpPr txBox="1">
            <a:spLocks noGrp="1"/>
          </p:cNvSpPr>
          <p:nvPr/>
        </p:nvSpPr>
        <p:spPr>
          <a:xfrm>
            <a:off x="6477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AVAILABLE &amp; IN USE</a:t>
            </a:r>
          </a:p>
        </p:txBody>
      </p:sp>
      <p:sp>
        <p:nvSpPr>
          <p:cNvPr id="135" name="card1_title"/>
          <p:cNvSpPr txBox="1">
            <a:spLocks noGrp="1"/>
          </p:cNvSpPr>
          <p:nvPr/>
        </p:nvSpPr>
        <p:spPr>
          <a:xfrm>
            <a:off x="44069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ORDERED — AWAITING DELIVERY</a:t>
            </a:r>
          </a:p>
        </p:txBody>
      </p:sp>
      <p:sp>
        <p:nvSpPr>
          <p:cNvPr id="145" name="card2_title"/>
          <p:cNvSpPr txBox="1">
            <a:spLocks noGrp="1"/>
          </p:cNvSpPr>
          <p:nvPr/>
        </p:nvSpPr>
        <p:spPr>
          <a:xfrm>
            <a:off x="81661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COMPLETED PREPARATORY WORK</a:t>
            </a:r>
          </a:p>
        </p:txBody>
      </p:sp>
      <p:sp>
        <p:nvSpPr>
          <p:cNvPr id="160" name="card0_items"/>
          <p:cNvSpPr txBox="1">
            <a:spLocks noGrp="1"/>
          </p:cNvSpPr>
          <p:nvPr/>
        </p:nvSpPr>
        <p:spPr>
          <a:xfrm>
            <a:off x="647700" y="2641600"/>
            <a:ext cx="3365500" cy="1282700"/>
          </a:xfrm>
          <a:prstGeom prst="rect">
            <a:avLst/>
          </a:prstGeom>
          <a:noFill/>
          <a:ln>
            <a:noFill/>
          </a:ln>
        </p:spPr>
        <p:txBody>
          <a:bodyPr anchor="t">
            <a:normAutofit/>
          </a:bodyPr>
          <a:lstStyle/>
          <a:p>
            <a:pPr marL="180000" indent="-180000">
              <a:buFont typeface="Arial"/>
              <a:buChar char="•"/>
            </a:pPr>
            <a:r>
              <a:rPr lang="en-IN" sz="1200" dirty="0">
                <a:solidFill>
                  <a:srgbClr val="1E4620"/>
                </a:solidFill>
                <a:latin typeface="Calibri"/>
              </a:rPr>
              <a:t>Raspberry Pi 5 (Laboratory Resource)</a:t>
            </a:r>
          </a:p>
          <a:p>
            <a:pPr marL="180000" indent="-180000">
              <a:buFont typeface="Arial"/>
              <a:buChar char="•"/>
            </a:pPr>
            <a:r>
              <a:rPr lang="en-IN" sz="1200" dirty="0">
                <a:solidFill>
                  <a:srgbClr val="1E4620"/>
                </a:solidFill>
                <a:latin typeface="Calibri"/>
              </a:rPr>
              <a:t>Raspberry Pi Starter Kit</a:t>
            </a:r>
          </a:p>
          <a:p>
            <a:pPr marL="180000" indent="-180000">
              <a:buFont typeface="Arial"/>
              <a:buChar char="•"/>
            </a:pPr>
            <a:r>
              <a:rPr lang="en-IN" sz="1200" dirty="0">
                <a:solidFill>
                  <a:srgbClr val="1E4620"/>
                </a:solidFill>
                <a:latin typeface="Calibri"/>
              </a:rPr>
              <a:t>Raspberry Pi OS Environment</a:t>
            </a:r>
          </a:p>
          <a:p>
            <a:pPr marL="180000" indent="-180000">
              <a:buFont typeface="Arial"/>
              <a:buChar char="•"/>
            </a:pPr>
            <a:r>
              <a:rPr lang="en-IN" sz="1200" dirty="0">
                <a:solidFill>
                  <a:srgbClr val="1E4620"/>
                </a:solidFill>
                <a:latin typeface="Calibri"/>
              </a:rPr>
              <a:t>GitHub Repository</a:t>
            </a:r>
          </a:p>
          <a:p>
            <a:pPr marL="180000" indent="-180000">
              <a:buFont typeface="Arial"/>
              <a:buChar char="•"/>
            </a:pPr>
            <a:r>
              <a:rPr lang="en-IN" sz="1200" dirty="0">
                <a:solidFill>
                  <a:srgbClr val="1E4620"/>
                </a:solidFill>
                <a:latin typeface="Calibri"/>
              </a:rPr>
              <a:t>3D Printed Prototype Segments</a:t>
            </a:r>
          </a:p>
        </p:txBody>
      </p:sp>
      <p:sp>
        <p:nvSpPr>
          <p:cNvPr id="161" name="card1_items"/>
          <p:cNvSpPr txBox="1">
            <a:spLocks noGrp="1"/>
          </p:cNvSpPr>
          <p:nvPr/>
        </p:nvSpPr>
        <p:spPr>
          <a:xfrm>
            <a:off x="44069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Dynamixel XL330 Smart Servo Motors</a:t>
            </a:r>
          </a:p>
          <a:p>
            <a:pPr marL="180000" indent="-180000">
              <a:buFont typeface="Arial"/>
              <a:buChar char="•"/>
            </a:pPr>
            <a:r>
              <a:rPr lang="en-IN" sz="1000" dirty="0">
                <a:solidFill>
                  <a:srgbClr val="374151"/>
                </a:solidFill>
                <a:latin typeface="Calibri"/>
              </a:rPr>
              <a:t>U2D2 Communication Interface</a:t>
            </a:r>
          </a:p>
          <a:p>
            <a:pPr marL="180000" indent="-180000">
              <a:buFont typeface="Arial"/>
              <a:buChar char="•"/>
            </a:pPr>
            <a:r>
              <a:rPr lang="en-IN" sz="1000" dirty="0">
                <a:solidFill>
                  <a:srgbClr val="374151"/>
                </a:solidFill>
                <a:latin typeface="Calibri"/>
              </a:rPr>
              <a:t>U2D2 Power Hub Board</a:t>
            </a:r>
          </a:p>
          <a:p>
            <a:pPr marL="180000" indent="-180000">
              <a:buFont typeface="Arial"/>
              <a:buChar char="•"/>
            </a:pPr>
            <a:r>
              <a:rPr lang="en-IN" sz="1000" dirty="0">
                <a:solidFill>
                  <a:srgbClr val="374151"/>
                </a:solidFill>
                <a:latin typeface="Calibri"/>
              </a:rPr>
              <a:t>Dynamixel Communication Cables</a:t>
            </a:r>
          </a:p>
          <a:p>
            <a:pPr marL="180000" indent="-180000">
              <a:buFont typeface="Arial"/>
              <a:buChar char="•"/>
            </a:pPr>
            <a:r>
              <a:rPr lang="en-IN" sz="1000" dirty="0">
                <a:solidFill>
                  <a:srgbClr val="374151"/>
                </a:solidFill>
                <a:latin typeface="Calibri"/>
              </a:rPr>
              <a:t>5V Power Supply</a:t>
            </a:r>
          </a:p>
          <a:p>
            <a:pPr marL="180000" indent="-180000">
              <a:buFont typeface="Arial"/>
              <a:buChar char="•"/>
            </a:pPr>
            <a:r>
              <a:rPr lang="en-IN" sz="1000" dirty="0">
                <a:solidFill>
                  <a:srgbClr val="374151"/>
                </a:solidFill>
                <a:latin typeface="Calibri"/>
              </a:rPr>
              <a:t>ESP32 Development Board</a:t>
            </a:r>
          </a:p>
        </p:txBody>
      </p:sp>
      <p:sp>
        <p:nvSpPr>
          <p:cNvPr id="162" name="card2_items"/>
          <p:cNvSpPr txBox="1">
            <a:spLocks noGrp="1"/>
          </p:cNvSpPr>
          <p:nvPr/>
        </p:nvSpPr>
        <p:spPr>
          <a:xfrm>
            <a:off x="81661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Hardware selection finalised</a:t>
            </a:r>
          </a:p>
          <a:p>
            <a:pPr marL="180000" indent="-180000">
              <a:buFont typeface="Arial"/>
              <a:buChar char="•"/>
            </a:pPr>
            <a:r>
              <a:rPr lang="en-IN" sz="1000" dirty="0">
                <a:solidFill>
                  <a:srgbClr val="374151"/>
                </a:solidFill>
                <a:latin typeface="Calibri"/>
              </a:rPr>
              <a:t>Bill of Materials prepared</a:t>
            </a:r>
          </a:p>
          <a:p>
            <a:pPr marL="180000" indent="-180000">
              <a:buFont typeface="Arial"/>
              <a:buChar char="•"/>
            </a:pPr>
            <a:r>
              <a:rPr lang="en-IN" sz="1000" dirty="0">
                <a:solidFill>
                  <a:srgbClr val="374151"/>
                </a:solidFill>
                <a:latin typeface="Calibri"/>
              </a:rPr>
              <a:t>CAD model completed</a:t>
            </a:r>
          </a:p>
          <a:p>
            <a:pPr marL="180000" indent="-180000">
              <a:buFont typeface="Arial"/>
              <a:buChar char="•"/>
            </a:pPr>
            <a:r>
              <a:rPr lang="en-IN" sz="1000" dirty="0">
                <a:solidFill>
                  <a:srgbClr val="374151"/>
                </a:solidFill>
                <a:latin typeface="Calibri"/>
              </a:rPr>
              <a:t>Segment fabrication initiated</a:t>
            </a:r>
          </a:p>
          <a:p>
            <a:pPr marL="180000" indent="-180000">
              <a:buFont typeface="Arial"/>
              <a:buChar char="•"/>
            </a:pPr>
            <a:r>
              <a:rPr lang="en-IN" sz="1000" dirty="0">
                <a:solidFill>
                  <a:srgbClr val="374151"/>
                </a:solidFill>
                <a:latin typeface="Calibri"/>
              </a:rPr>
              <a:t>Software environment configured</a:t>
            </a:r>
          </a:p>
        </p:txBody>
      </p:sp>
      <p:sp>
        <p:nvSpPr>
          <p:cNvPr id="200" name="s3_label"/>
          <p:cNvSpPr txBox="1">
            <a:spLocks noGrp="1"/>
          </p:cNvSpPr>
          <p:nvPr/>
        </p:nvSpPr>
        <p:spPr>
          <a:xfrm>
            <a:off x="546100" y="4089400"/>
            <a:ext cx="6350000" cy="228600"/>
          </a:xfrm>
          <a:prstGeom prst="rect">
            <a:avLst/>
          </a:prstGeom>
          <a:noFill/>
          <a:ln>
            <a:noFill/>
          </a:ln>
        </p:spPr>
        <p:txBody>
          <a:bodyPr anchor="t">
            <a:normAutofit/>
          </a:bodyPr>
          <a:lstStyle/>
          <a:p>
            <a:pPr marL="0" indent="0">
              <a:buNone/>
            </a:pPr>
            <a:r>
              <a:rPr lang="en-IN" sz="900" b="1" kern="0" spc="200" dirty="0">
                <a:solidFill>
                  <a:srgbClr val="0E96AC"/>
                </a:solidFill>
                <a:latin typeface="Calibri"/>
              </a:rPr>
              <a:t>DEVELOPMENT PROGRESS</a:t>
            </a:r>
          </a:p>
        </p:txBody>
      </p:sp>
      <p:sp>
        <p:nvSpPr>
          <p:cNvPr id="300" name="conn0"/>
          <p:cNvSpPr>
            <a:spLocks noGrp="1"/>
          </p:cNvSpPr>
          <p:nvPr/>
        </p:nvSpPr>
        <p:spPr>
          <a:xfrm>
            <a:off x="1028700" y="4432300"/>
            <a:ext cx="965200" cy="63500"/>
          </a:xfrm>
          <a:prstGeom prst="rect">
            <a:avLst/>
          </a:prstGeom>
          <a:solidFill>
            <a:srgbClr val="1E7A3E"/>
          </a:solidFill>
          <a:ln>
            <a:noFill/>
          </a:ln>
        </p:spPr>
        <p:txBody>
          <a:bodyPr/>
          <a:lstStyle/>
          <a:p>
            <a:endParaRPr lang="en-US"/>
          </a:p>
        </p:txBody>
      </p:sp>
      <p:sp>
        <p:nvSpPr>
          <p:cNvPr id="310" name="step0_circle"/>
          <p:cNvSpPr>
            <a:spLocks noGrp="1"/>
          </p:cNvSpPr>
          <p:nvPr/>
        </p:nvSpPr>
        <p:spPr>
          <a:xfrm>
            <a:off x="774700" y="4241800"/>
            <a:ext cx="457200" cy="457200"/>
          </a:xfrm>
          <a:prstGeom prst="roundRect">
            <a:avLst>
              <a:gd name="adj" fmla="val 50000"/>
            </a:avLst>
          </a:prstGeom>
          <a:solidFill>
            <a:srgbClr val="1E7A3E"/>
          </a:solidFill>
          <a:ln>
            <a:noFill/>
          </a:ln>
        </p:spPr>
        <p:txBody>
          <a:bodyPr/>
          <a:lstStyle/>
          <a:p>
            <a:endParaRPr lang="en-US"/>
          </a:p>
        </p:txBody>
      </p:sp>
      <p:sp>
        <p:nvSpPr>
          <p:cNvPr id="320" name="step0_icon"/>
          <p:cNvSpPr txBox="1">
            <a:spLocks noGrp="1"/>
          </p:cNvSpPr>
          <p:nvPr/>
        </p:nvSpPr>
        <p:spPr>
          <a:xfrm>
            <a:off x="774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0" name="step0_label"/>
          <p:cNvSpPr txBox="1">
            <a:spLocks noGrp="1"/>
          </p:cNvSpPr>
          <p:nvPr/>
        </p:nvSpPr>
        <p:spPr>
          <a:xfrm>
            <a:off x="546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Component</a:t>
            </a:r>
          </a:p>
          <a:p>
            <a:pPr algn="ctr">
              <a:buNone/>
            </a:pPr>
            <a:r>
              <a:rPr lang="en-IN" sz="1400" dirty="0">
                <a:solidFill>
                  <a:srgbClr val="374151"/>
                </a:solidFill>
                <a:latin typeface="Calibri"/>
              </a:rPr>
              <a:t>Selection</a:t>
            </a:r>
          </a:p>
        </p:txBody>
      </p:sp>
      <p:sp>
        <p:nvSpPr>
          <p:cNvPr id="301" name="conn1"/>
          <p:cNvSpPr>
            <a:spLocks noGrp="1"/>
          </p:cNvSpPr>
          <p:nvPr/>
        </p:nvSpPr>
        <p:spPr>
          <a:xfrm>
            <a:off x="2501900" y="4432300"/>
            <a:ext cx="965200" cy="63500"/>
          </a:xfrm>
          <a:prstGeom prst="rect">
            <a:avLst/>
          </a:prstGeom>
          <a:solidFill>
            <a:srgbClr val="1E7A3E"/>
          </a:solidFill>
          <a:ln>
            <a:noFill/>
          </a:ln>
        </p:spPr>
        <p:txBody>
          <a:bodyPr/>
          <a:lstStyle/>
          <a:p>
            <a:endParaRPr lang="en-US"/>
          </a:p>
        </p:txBody>
      </p:sp>
      <p:sp>
        <p:nvSpPr>
          <p:cNvPr id="311" name="step1_circle"/>
          <p:cNvSpPr>
            <a:spLocks noGrp="1"/>
          </p:cNvSpPr>
          <p:nvPr/>
        </p:nvSpPr>
        <p:spPr>
          <a:xfrm>
            <a:off x="2247900" y="4241800"/>
            <a:ext cx="457200" cy="457200"/>
          </a:xfrm>
          <a:prstGeom prst="roundRect">
            <a:avLst>
              <a:gd name="adj" fmla="val 50000"/>
            </a:avLst>
          </a:prstGeom>
          <a:solidFill>
            <a:srgbClr val="1E7A3E"/>
          </a:solidFill>
          <a:ln>
            <a:noFill/>
          </a:ln>
        </p:spPr>
        <p:txBody>
          <a:bodyPr/>
          <a:lstStyle/>
          <a:p>
            <a:endParaRPr lang="en-US"/>
          </a:p>
        </p:txBody>
      </p:sp>
      <p:sp>
        <p:nvSpPr>
          <p:cNvPr id="321" name="step1_icon"/>
          <p:cNvSpPr txBox="1">
            <a:spLocks noGrp="1"/>
          </p:cNvSpPr>
          <p:nvPr/>
        </p:nvSpPr>
        <p:spPr>
          <a:xfrm>
            <a:off x="2247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1" name="step1_label"/>
          <p:cNvSpPr txBox="1">
            <a:spLocks noGrp="1"/>
          </p:cNvSpPr>
          <p:nvPr/>
        </p:nvSpPr>
        <p:spPr>
          <a:xfrm>
            <a:off x="2019300" y="4737100"/>
            <a:ext cx="914400" cy="457200"/>
          </a:xfrm>
          <a:prstGeom prst="rect">
            <a:avLst/>
          </a:prstGeom>
          <a:noFill/>
          <a:ln>
            <a:noFill/>
          </a:ln>
        </p:spPr>
        <p:txBody>
          <a:bodyPr anchor="t">
            <a:normAutofit fontScale="70000" lnSpcReduction="20000"/>
          </a:bodyPr>
          <a:lstStyle/>
          <a:p>
            <a:pPr algn="ctr">
              <a:buNone/>
            </a:pPr>
            <a:r>
              <a:rPr lang="en-IN" sz="1400" dirty="0">
                <a:solidFill>
                  <a:srgbClr val="374151"/>
                </a:solidFill>
                <a:latin typeface="Calibri"/>
              </a:rPr>
              <a:t>Procurement</a:t>
            </a:r>
          </a:p>
          <a:p>
            <a:pPr algn="ctr">
              <a:buNone/>
            </a:pPr>
            <a:r>
              <a:rPr lang="en-IN" sz="1400" dirty="0">
                <a:solidFill>
                  <a:srgbClr val="374151"/>
                </a:solidFill>
                <a:latin typeface="Calibri"/>
              </a:rPr>
              <a:t>Initiated</a:t>
            </a:r>
          </a:p>
        </p:txBody>
      </p:sp>
      <p:sp>
        <p:nvSpPr>
          <p:cNvPr id="302" name="conn2"/>
          <p:cNvSpPr>
            <a:spLocks noGrp="1"/>
          </p:cNvSpPr>
          <p:nvPr/>
        </p:nvSpPr>
        <p:spPr>
          <a:xfrm>
            <a:off x="3975100" y="4432300"/>
            <a:ext cx="965200" cy="63500"/>
          </a:xfrm>
          <a:prstGeom prst="rect">
            <a:avLst/>
          </a:prstGeom>
          <a:solidFill>
            <a:srgbClr val="1E7A3E"/>
          </a:solidFill>
          <a:ln>
            <a:noFill/>
          </a:ln>
        </p:spPr>
        <p:txBody>
          <a:bodyPr/>
          <a:lstStyle/>
          <a:p>
            <a:endParaRPr lang="en-US"/>
          </a:p>
        </p:txBody>
      </p:sp>
      <p:sp>
        <p:nvSpPr>
          <p:cNvPr id="312" name="step2_circle"/>
          <p:cNvSpPr>
            <a:spLocks noGrp="1"/>
          </p:cNvSpPr>
          <p:nvPr/>
        </p:nvSpPr>
        <p:spPr>
          <a:xfrm>
            <a:off x="3721100" y="4241800"/>
            <a:ext cx="457200" cy="457200"/>
          </a:xfrm>
          <a:prstGeom prst="roundRect">
            <a:avLst>
              <a:gd name="adj" fmla="val 50000"/>
            </a:avLst>
          </a:prstGeom>
          <a:solidFill>
            <a:srgbClr val="1E7A3E"/>
          </a:solidFill>
          <a:ln>
            <a:noFill/>
          </a:ln>
        </p:spPr>
        <p:txBody>
          <a:bodyPr/>
          <a:lstStyle/>
          <a:p>
            <a:endParaRPr lang="en-US"/>
          </a:p>
        </p:txBody>
      </p:sp>
      <p:sp>
        <p:nvSpPr>
          <p:cNvPr id="322" name="step2_icon"/>
          <p:cNvSpPr txBox="1">
            <a:spLocks noGrp="1"/>
          </p:cNvSpPr>
          <p:nvPr/>
        </p:nvSpPr>
        <p:spPr>
          <a:xfrm>
            <a:off x="37211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2" name="step2_label"/>
          <p:cNvSpPr txBox="1">
            <a:spLocks noGrp="1"/>
          </p:cNvSpPr>
          <p:nvPr/>
        </p:nvSpPr>
        <p:spPr>
          <a:xfrm>
            <a:off x="34925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CAD</a:t>
            </a:r>
          </a:p>
          <a:p>
            <a:pPr algn="ctr">
              <a:buNone/>
            </a:pPr>
            <a:r>
              <a:rPr lang="en-IN" sz="1400" dirty="0">
                <a:solidFill>
                  <a:srgbClr val="374151"/>
                </a:solidFill>
                <a:latin typeface="Calibri"/>
              </a:rPr>
              <a:t>Design</a:t>
            </a:r>
          </a:p>
        </p:txBody>
      </p:sp>
      <p:sp>
        <p:nvSpPr>
          <p:cNvPr id="303" name="conn3"/>
          <p:cNvSpPr>
            <a:spLocks noGrp="1"/>
          </p:cNvSpPr>
          <p:nvPr/>
        </p:nvSpPr>
        <p:spPr>
          <a:xfrm>
            <a:off x="5448300" y="4432300"/>
            <a:ext cx="965200" cy="63500"/>
          </a:xfrm>
          <a:prstGeom prst="rect">
            <a:avLst/>
          </a:prstGeom>
          <a:solidFill>
            <a:srgbClr val="1E7A3E"/>
          </a:solidFill>
          <a:ln>
            <a:noFill/>
          </a:ln>
        </p:spPr>
        <p:txBody>
          <a:bodyPr/>
          <a:lstStyle/>
          <a:p>
            <a:endParaRPr lang="en-US"/>
          </a:p>
        </p:txBody>
      </p:sp>
      <p:sp>
        <p:nvSpPr>
          <p:cNvPr id="313" name="step3_circle"/>
          <p:cNvSpPr>
            <a:spLocks noGrp="1"/>
          </p:cNvSpPr>
          <p:nvPr/>
        </p:nvSpPr>
        <p:spPr>
          <a:xfrm>
            <a:off x="5194300" y="4241800"/>
            <a:ext cx="457200" cy="457200"/>
          </a:xfrm>
          <a:prstGeom prst="roundRect">
            <a:avLst>
              <a:gd name="adj" fmla="val 50000"/>
            </a:avLst>
          </a:prstGeom>
          <a:solidFill>
            <a:srgbClr val="1E7A3E"/>
          </a:solidFill>
          <a:ln>
            <a:noFill/>
          </a:ln>
        </p:spPr>
        <p:txBody>
          <a:bodyPr/>
          <a:lstStyle/>
          <a:p>
            <a:endParaRPr lang="en-US"/>
          </a:p>
        </p:txBody>
      </p:sp>
      <p:sp>
        <p:nvSpPr>
          <p:cNvPr id="323" name="step3_icon"/>
          <p:cNvSpPr txBox="1">
            <a:spLocks noGrp="1"/>
          </p:cNvSpPr>
          <p:nvPr/>
        </p:nvSpPr>
        <p:spPr>
          <a:xfrm>
            <a:off x="51943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3" name="step3_label"/>
          <p:cNvSpPr txBox="1">
            <a:spLocks noGrp="1"/>
          </p:cNvSpPr>
          <p:nvPr/>
        </p:nvSpPr>
        <p:spPr>
          <a:xfrm>
            <a:off x="49657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Prototype</a:t>
            </a:r>
          </a:p>
          <a:p>
            <a:pPr algn="ctr">
              <a:buNone/>
            </a:pPr>
            <a:r>
              <a:rPr lang="en-IN" sz="1400" dirty="0">
                <a:solidFill>
                  <a:srgbClr val="374151"/>
                </a:solidFill>
                <a:latin typeface="Calibri"/>
              </a:rPr>
              <a:t>Printing</a:t>
            </a:r>
          </a:p>
        </p:txBody>
      </p:sp>
      <p:sp>
        <p:nvSpPr>
          <p:cNvPr id="304" name="conn4"/>
          <p:cNvSpPr>
            <a:spLocks noGrp="1"/>
          </p:cNvSpPr>
          <p:nvPr/>
        </p:nvSpPr>
        <p:spPr>
          <a:xfrm>
            <a:off x="6921500" y="4432300"/>
            <a:ext cx="965200" cy="63500"/>
          </a:xfrm>
          <a:prstGeom prst="rect">
            <a:avLst/>
          </a:prstGeom>
          <a:solidFill>
            <a:srgbClr val="1E7A3E"/>
          </a:solidFill>
          <a:ln>
            <a:noFill/>
          </a:ln>
        </p:spPr>
        <p:txBody>
          <a:bodyPr/>
          <a:lstStyle/>
          <a:p>
            <a:endParaRPr lang="en-US"/>
          </a:p>
        </p:txBody>
      </p:sp>
      <p:sp>
        <p:nvSpPr>
          <p:cNvPr id="314" name="step4_circle"/>
          <p:cNvSpPr>
            <a:spLocks noGrp="1"/>
          </p:cNvSpPr>
          <p:nvPr/>
        </p:nvSpPr>
        <p:spPr>
          <a:xfrm>
            <a:off x="6667500" y="4241800"/>
            <a:ext cx="457200" cy="457200"/>
          </a:xfrm>
          <a:prstGeom prst="roundRect">
            <a:avLst>
              <a:gd name="adj" fmla="val 50000"/>
            </a:avLst>
          </a:prstGeom>
          <a:solidFill>
            <a:srgbClr val="1E7A3E"/>
          </a:solidFill>
          <a:ln>
            <a:noFill/>
          </a:ln>
        </p:spPr>
        <p:txBody>
          <a:bodyPr/>
          <a:lstStyle/>
          <a:p>
            <a:endParaRPr lang="en-US"/>
          </a:p>
        </p:txBody>
      </p:sp>
      <p:sp>
        <p:nvSpPr>
          <p:cNvPr id="324" name="step4_icon"/>
          <p:cNvSpPr txBox="1">
            <a:spLocks noGrp="1"/>
          </p:cNvSpPr>
          <p:nvPr/>
        </p:nvSpPr>
        <p:spPr>
          <a:xfrm>
            <a:off x="66675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4" name="step4_label"/>
          <p:cNvSpPr txBox="1">
            <a:spLocks noGrp="1"/>
          </p:cNvSpPr>
          <p:nvPr/>
        </p:nvSpPr>
        <p:spPr>
          <a:xfrm>
            <a:off x="64389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RPi</a:t>
            </a:r>
          </a:p>
          <a:p>
            <a:pPr algn="ctr">
              <a:buNone/>
            </a:pPr>
            <a:r>
              <a:rPr lang="en-IN" sz="1400" dirty="0">
                <a:solidFill>
                  <a:srgbClr val="374151"/>
                </a:solidFill>
                <a:latin typeface="Calibri"/>
              </a:rPr>
              <a:t>Learning</a:t>
            </a:r>
          </a:p>
        </p:txBody>
      </p:sp>
      <p:sp>
        <p:nvSpPr>
          <p:cNvPr id="305" name="conn5"/>
          <p:cNvSpPr>
            <a:spLocks noGrp="1"/>
          </p:cNvSpPr>
          <p:nvPr/>
        </p:nvSpPr>
        <p:spPr>
          <a:xfrm>
            <a:off x="8394700" y="4432300"/>
            <a:ext cx="965200" cy="63500"/>
          </a:xfrm>
          <a:prstGeom prst="rect">
            <a:avLst/>
          </a:prstGeom>
          <a:solidFill>
            <a:srgbClr val="CBD5E1"/>
          </a:solidFill>
          <a:ln>
            <a:noFill/>
          </a:ln>
        </p:spPr>
        <p:txBody>
          <a:bodyPr/>
          <a:lstStyle/>
          <a:p>
            <a:endParaRPr lang="en-US"/>
          </a:p>
        </p:txBody>
      </p:sp>
      <p:sp>
        <p:nvSpPr>
          <p:cNvPr id="315" name="step5_circle"/>
          <p:cNvSpPr>
            <a:spLocks noGrp="1"/>
          </p:cNvSpPr>
          <p:nvPr/>
        </p:nvSpPr>
        <p:spPr>
          <a:xfrm>
            <a:off x="8140700" y="4241800"/>
            <a:ext cx="457200" cy="457200"/>
          </a:xfrm>
          <a:prstGeom prst="roundRect">
            <a:avLst>
              <a:gd name="adj" fmla="val 50000"/>
            </a:avLst>
          </a:prstGeom>
          <a:solidFill>
            <a:srgbClr val="D97706"/>
          </a:solidFill>
          <a:ln>
            <a:noFill/>
          </a:ln>
        </p:spPr>
        <p:txBody>
          <a:bodyPr/>
          <a:lstStyle/>
          <a:p>
            <a:endParaRPr lang="en-US"/>
          </a:p>
        </p:txBody>
      </p:sp>
      <p:sp>
        <p:nvSpPr>
          <p:cNvPr id="325" name="step5_icon"/>
          <p:cNvSpPr txBox="1">
            <a:spLocks noGrp="1"/>
          </p:cNvSpPr>
          <p:nvPr/>
        </p:nvSpPr>
        <p:spPr>
          <a:xfrm>
            <a:off x="8140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5" name="step5_label"/>
          <p:cNvSpPr txBox="1">
            <a:spLocks noGrp="1"/>
          </p:cNvSpPr>
          <p:nvPr/>
        </p:nvSpPr>
        <p:spPr>
          <a:xfrm>
            <a:off x="7912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Motor</a:t>
            </a:r>
          </a:p>
          <a:p>
            <a:pPr algn="ctr">
              <a:buNone/>
            </a:pPr>
            <a:r>
              <a:rPr lang="en-IN" sz="1400" dirty="0">
                <a:solidFill>
                  <a:srgbClr val="374151"/>
                </a:solidFill>
                <a:latin typeface="Calibri"/>
              </a:rPr>
              <a:t>Integration</a:t>
            </a:r>
          </a:p>
        </p:txBody>
      </p:sp>
      <p:sp>
        <p:nvSpPr>
          <p:cNvPr id="345" name="step5_status"/>
          <p:cNvSpPr txBox="1">
            <a:spLocks noGrp="1"/>
          </p:cNvSpPr>
          <p:nvPr/>
        </p:nvSpPr>
        <p:spPr>
          <a:xfrm>
            <a:off x="78613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D97706"/>
                </a:solidFill>
                <a:latin typeface="Calibri"/>
              </a:rPr>
              <a:t>Awaiting HW</a:t>
            </a:r>
          </a:p>
        </p:txBody>
      </p:sp>
      <p:sp>
        <p:nvSpPr>
          <p:cNvPr id="316" name="step6_circle"/>
          <p:cNvSpPr>
            <a:spLocks noGrp="1"/>
          </p:cNvSpPr>
          <p:nvPr/>
        </p:nvSpPr>
        <p:spPr>
          <a:xfrm>
            <a:off x="9613900" y="4241800"/>
            <a:ext cx="457200" cy="457200"/>
          </a:xfrm>
          <a:prstGeom prst="roundRect">
            <a:avLst>
              <a:gd name="adj" fmla="val 50000"/>
            </a:avLst>
          </a:prstGeom>
          <a:solidFill>
            <a:srgbClr val="94A3B8"/>
          </a:solidFill>
          <a:ln>
            <a:noFill/>
          </a:ln>
        </p:spPr>
        <p:txBody>
          <a:bodyPr/>
          <a:lstStyle/>
          <a:p>
            <a:endParaRPr lang="en-US"/>
          </a:p>
        </p:txBody>
      </p:sp>
      <p:sp>
        <p:nvSpPr>
          <p:cNvPr id="326" name="step6_icon"/>
          <p:cNvSpPr txBox="1">
            <a:spLocks noGrp="1"/>
          </p:cNvSpPr>
          <p:nvPr/>
        </p:nvSpPr>
        <p:spPr>
          <a:xfrm>
            <a:off x="9613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6" name="step6_label"/>
          <p:cNvSpPr txBox="1">
            <a:spLocks noGrp="1"/>
          </p:cNvSpPr>
          <p:nvPr/>
        </p:nvSpPr>
        <p:spPr>
          <a:xfrm>
            <a:off x="9385300" y="4737100"/>
            <a:ext cx="914400" cy="457200"/>
          </a:xfrm>
          <a:prstGeom prst="rect">
            <a:avLst/>
          </a:prstGeom>
          <a:noFill/>
          <a:ln>
            <a:noFill/>
          </a:ln>
        </p:spPr>
        <p:txBody>
          <a:bodyPr anchor="t">
            <a:normAutofit fontScale="77500" lnSpcReduction="20000"/>
          </a:bodyPr>
          <a:lstStyle/>
          <a:p>
            <a:pPr algn="ctr">
              <a:buNone/>
            </a:pPr>
            <a:r>
              <a:rPr lang="en-IN" sz="1400" dirty="0">
                <a:solidFill>
                  <a:srgbClr val="374151"/>
                </a:solidFill>
                <a:latin typeface="Calibri"/>
              </a:rPr>
              <a:t>Locomotion</a:t>
            </a:r>
          </a:p>
          <a:p>
            <a:pPr algn="ctr">
              <a:buNone/>
            </a:pPr>
            <a:r>
              <a:rPr lang="en-IN" sz="1400" dirty="0">
                <a:solidFill>
                  <a:srgbClr val="374151"/>
                </a:solidFill>
                <a:latin typeface="Calibri"/>
              </a:rPr>
              <a:t>Testing</a:t>
            </a:r>
          </a:p>
        </p:txBody>
      </p:sp>
      <p:sp>
        <p:nvSpPr>
          <p:cNvPr id="346" name="step6_status"/>
          <p:cNvSpPr txBox="1">
            <a:spLocks noGrp="1"/>
          </p:cNvSpPr>
          <p:nvPr/>
        </p:nvSpPr>
        <p:spPr>
          <a:xfrm>
            <a:off x="93345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6B7280"/>
                </a:solidFill>
                <a:latin typeface="Calibri"/>
              </a:rPr>
              <a:t>Upcoming</a:t>
            </a:r>
          </a:p>
        </p:txBody>
      </p:sp>
      <p:sp>
        <p:nvSpPr>
          <p:cNvPr id="400" name="achieve_bg"/>
          <p:cNvSpPr>
            <a:spLocks noGrp="1"/>
          </p:cNvSpPr>
          <p:nvPr/>
        </p:nvSpPr>
        <p:spPr>
          <a:xfrm>
            <a:off x="546100" y="5270500"/>
            <a:ext cx="11099800" cy="838200"/>
          </a:xfrm>
          <a:prstGeom prst="roundRect">
            <a:avLst>
              <a:gd name="adj" fmla="val 10000"/>
            </a:avLst>
          </a:prstGeom>
          <a:solidFill>
            <a:srgbClr val="EBF8FA"/>
          </a:solidFill>
          <a:ln w="15000">
            <a:solidFill>
              <a:srgbClr val="0E96AC"/>
            </a:solidFill>
          </a:ln>
        </p:spPr>
        <p:txBody>
          <a:bodyPr/>
          <a:lstStyle/>
          <a:p>
            <a:endParaRPr lang="en-US"/>
          </a:p>
        </p:txBody>
      </p:sp>
      <p:sp>
        <p:nvSpPr>
          <p:cNvPr id="401" name="achieve_accent"/>
          <p:cNvSpPr>
            <a:spLocks noGrp="1"/>
          </p:cNvSpPr>
          <p:nvPr/>
        </p:nvSpPr>
        <p:spPr>
          <a:xfrm>
            <a:off x="546100" y="5270500"/>
            <a:ext cx="76200" cy="838200"/>
          </a:xfrm>
          <a:prstGeom prst="rect">
            <a:avLst/>
          </a:prstGeom>
          <a:solidFill>
            <a:srgbClr val="0E96AC"/>
          </a:solidFill>
          <a:ln>
            <a:noFill/>
          </a:ln>
        </p:spPr>
        <p:txBody>
          <a:bodyPr/>
          <a:lstStyle/>
          <a:p>
            <a:endParaRPr lang="en-US"/>
          </a:p>
        </p:txBody>
      </p:sp>
      <p:sp>
        <p:nvSpPr>
          <p:cNvPr id="402" name="achieve_star"/>
          <p:cNvSpPr txBox="1">
            <a:spLocks noGrp="1"/>
          </p:cNvSpPr>
          <p:nvPr/>
        </p:nvSpPr>
        <p:spPr>
          <a:xfrm>
            <a:off x="660400" y="5270500"/>
            <a:ext cx="355600" cy="838200"/>
          </a:xfrm>
          <a:prstGeom prst="rect">
            <a:avLst/>
          </a:prstGeom>
          <a:noFill/>
          <a:ln>
            <a:noFill/>
          </a:ln>
        </p:spPr>
        <p:txBody>
          <a:bodyPr anchor="ctr">
            <a:normAutofit/>
          </a:bodyPr>
          <a:lstStyle/>
          <a:p>
            <a:pPr algn="ctr">
              <a:buNone/>
            </a:pPr>
            <a:r>
              <a:rPr lang="en-US" sz="1600" dirty="0">
                <a:solidFill>
                  <a:srgbClr val="0E96AC"/>
                </a:solidFill>
                <a:latin typeface="Calibri"/>
              </a:rPr>
              <a:t>★</a:t>
            </a:r>
          </a:p>
        </p:txBody>
      </p:sp>
      <p:sp>
        <p:nvSpPr>
          <p:cNvPr id="403" name="achieve_text"/>
          <p:cNvSpPr txBox="1">
            <a:spLocks noGrp="1"/>
          </p:cNvSpPr>
          <p:nvPr/>
        </p:nvSpPr>
        <p:spPr>
          <a:xfrm>
            <a:off x="1041400" y="5295900"/>
            <a:ext cx="10515600" cy="787400"/>
          </a:xfrm>
          <a:prstGeom prst="rect">
            <a:avLst/>
          </a:prstGeom>
          <a:noFill/>
          <a:ln>
            <a:noFill/>
          </a:ln>
        </p:spPr>
        <p:txBody>
          <a:bodyPr anchor="ctr">
            <a:normAutofit/>
          </a:bodyPr>
          <a:lstStyle/>
          <a:p>
            <a:pPr marL="0" indent="0">
              <a:buNone/>
            </a:pPr>
            <a:r>
              <a:rPr lang="en-IN" sz="1100" b="1" dirty="0">
                <a:solidFill>
                  <a:srgbClr val="16223A"/>
                </a:solidFill>
                <a:latin typeface="Calibri"/>
              </a:rPr>
              <a:t>Key Achievement: </a:t>
            </a:r>
            <a:r>
              <a:rPr lang="en-IN" sz="1100" dirty="0">
                <a:solidFill>
                  <a:srgbClr val="374151"/>
                </a:solidFill>
                <a:latin typeface="Calibri"/>
              </a:rPr>
              <a:t>Although the primary Dynamixel hardware has not yet arrived, the team has successfully utilised available laboratory resources to complete design, fabrication, documentation, and software preparation activities, ensuring project progress is maintained.</a:t>
            </a:r>
          </a:p>
        </p:txBody>
      </p:sp>
    </p:spTree>
    <p:extLst>
      <p:ext uri="{BB962C8B-B14F-4D97-AF65-F5344CB8AC3E}">
        <p14:creationId xmlns:p14="http://schemas.microsoft.com/office/powerpoint/2010/main" val="4144980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a:effectLst/>
      </p:bgPr>
    </p:bg>
    <p:spTree>
      <p:nvGrpSpPr>
        <p:cNvPr id="1" name=""/>
        <p:cNvGrpSpPr/>
        <p:nvPr/>
      </p:nvGrpSpPr>
      <p:grpSpPr>
        <a:xfrm>
          <a:off x="0" y="0"/>
          <a:ext cx="0" cy="0"/>
          <a:chOff x="0" y="0"/>
          <a:chExt cx="0" cy="0"/>
        </a:xfrm>
      </p:grpSpPr>
      <p:sp>
        <p:nvSpPr>
          <p:cNvPr id="100" name="bg_hdr"/>
          <p:cNvSpPr>
            <a:spLocks noGrp="1"/>
          </p:cNvSpPr>
          <p:nvPr/>
        </p:nvSpPr>
        <p:spPr>
          <a:xfrm>
            <a:off x="0" y="0"/>
            <a:ext cx="12192000" cy="1371600"/>
          </a:xfrm>
          <a:prstGeom prst="rect">
            <a:avLst/>
          </a:prstGeom>
          <a:solidFill>
            <a:srgbClr val="F4F6F9"/>
          </a:solidFill>
          <a:ln>
            <a:noFill/>
          </a:ln>
        </p:spPr>
        <p:txBody>
          <a:bodyPr/>
          <a:lstStyle/>
          <a:p>
            <a:endParaRPr lang="en-US" dirty="0"/>
          </a:p>
        </p:txBody>
      </p:sp>
      <p:sp>
        <p:nvSpPr>
          <p:cNvPr id="101" name="bg_body"/>
          <p:cNvSpPr>
            <a:spLocks noGrp="1"/>
          </p:cNvSpPr>
          <p:nvPr/>
        </p:nvSpPr>
        <p:spPr>
          <a:xfrm>
            <a:off x="0" y="1371600"/>
            <a:ext cx="12192000" cy="5486400"/>
          </a:xfrm>
          <a:prstGeom prst="rect">
            <a:avLst/>
          </a:prstGeom>
          <a:solidFill>
            <a:srgbClr val="FFFFFF"/>
          </a:solidFill>
          <a:ln>
            <a:noFill/>
          </a:ln>
        </p:spPr>
        <p:txBody>
          <a:bodyPr/>
          <a:lstStyle/>
          <a:p>
            <a:endParaRPr lang="en-US" dirty="0"/>
          </a:p>
        </p:txBody>
      </p:sp>
      <p:sp>
        <p:nvSpPr>
          <p:cNvPr id="102" name="teal_bar"/>
          <p:cNvSpPr>
            <a:spLocks noGrp="1"/>
          </p:cNvSpPr>
          <p:nvPr/>
        </p:nvSpPr>
        <p:spPr>
          <a:xfrm>
            <a:off x="0" y="0"/>
            <a:ext cx="12192000" cy="63500"/>
          </a:xfrm>
          <a:prstGeom prst="rect">
            <a:avLst/>
          </a:prstGeom>
          <a:solidFill>
            <a:srgbClr val="0E96AC"/>
          </a:solidFill>
          <a:ln>
            <a:noFill/>
          </a:ln>
        </p:spPr>
        <p:txBody>
          <a:bodyPr/>
          <a:lstStyle/>
          <a:p>
            <a:endParaRPr lang="en-US" dirty="0"/>
          </a:p>
        </p:txBody>
      </p:sp>
      <p:sp>
        <p:nvSpPr>
          <p:cNvPr id="103" name="div_v"/>
          <p:cNvSpPr>
            <a:spLocks noGrp="1"/>
          </p:cNvSpPr>
          <p:nvPr/>
        </p:nvSpPr>
        <p:spPr>
          <a:xfrm>
            <a:off x="4241800" y="1422400"/>
            <a:ext cx="25400" cy="5257800"/>
          </a:xfrm>
          <a:prstGeom prst="rect">
            <a:avLst/>
          </a:prstGeom>
          <a:solidFill>
            <a:srgbClr val="CBD5E1"/>
          </a:solidFill>
          <a:ln>
            <a:noFill/>
          </a:ln>
        </p:spPr>
        <p:txBody>
          <a:bodyPr/>
          <a:lstStyle/>
          <a:p>
            <a:endParaRPr lang="en-US" dirty="0"/>
          </a:p>
        </p:txBody>
      </p:sp>
      <p:sp>
        <p:nvSpPr>
          <p:cNvPr id="104" name="subt"/>
          <p:cNvSpPr txBox="1">
            <a:spLocks noGrp="1"/>
          </p:cNvSpPr>
          <p:nvPr/>
        </p:nvSpPr>
        <p:spPr>
          <a:xfrm>
            <a:off x="546100" y="177800"/>
            <a:ext cx="8890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REPOSITORY &amp; DOCUMENTATION</a:t>
            </a:r>
          </a:p>
        </p:txBody>
      </p:sp>
      <p:sp>
        <p:nvSpPr>
          <p:cNvPr id="105" name="ttl"/>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Version Control From Day One</a:t>
            </a:r>
          </a:p>
        </p:txBody>
      </p:sp>
      <p:sp>
        <p:nvSpPr>
          <p:cNvPr id="106" name="hdr_ln"/>
          <p:cNvSpPr>
            <a:spLocks noGrp="1"/>
          </p:cNvSpPr>
          <p:nvPr/>
        </p:nvSpPr>
        <p:spPr>
          <a:xfrm>
            <a:off x="546100" y="1320800"/>
            <a:ext cx="11099800" cy="25400"/>
          </a:xfrm>
          <a:prstGeom prst="rect">
            <a:avLst/>
          </a:prstGeom>
          <a:solidFill>
            <a:srgbClr val="0E96AC"/>
          </a:solidFill>
          <a:ln>
            <a:noFill/>
          </a:ln>
        </p:spPr>
        <p:txBody>
          <a:bodyPr/>
          <a:lstStyle/>
          <a:p>
            <a:endParaRPr lang="en-US" dirty="0"/>
          </a:p>
        </p:txBody>
      </p:sp>
      <p:sp>
        <p:nvSpPr>
          <p:cNvPr id="200" name="rbg0"/>
          <p:cNvSpPr>
            <a:spLocks noGrp="1"/>
          </p:cNvSpPr>
          <p:nvPr/>
        </p:nvSpPr>
        <p:spPr>
          <a:xfrm>
            <a:off x="546100" y="1422400"/>
            <a:ext cx="3632200" cy="838200"/>
          </a:xfrm>
          <a:prstGeom prst="rect">
            <a:avLst/>
          </a:prstGeom>
          <a:solidFill>
            <a:srgbClr val="F8FAFC"/>
          </a:solidFill>
          <a:ln>
            <a:noFill/>
          </a:ln>
        </p:spPr>
        <p:txBody>
          <a:bodyPr/>
          <a:lstStyle/>
          <a:p>
            <a:endParaRPr lang="en-US" dirty="0"/>
          </a:p>
        </p:txBody>
      </p:sp>
      <p:sp>
        <p:nvSpPr>
          <p:cNvPr id="210" name="nc0"/>
          <p:cNvSpPr>
            <a:spLocks noGrp="1"/>
          </p:cNvSpPr>
          <p:nvPr/>
        </p:nvSpPr>
        <p:spPr>
          <a:xfrm>
            <a:off x="609600" y="1689100"/>
            <a:ext cx="304800" cy="304800"/>
          </a:xfrm>
          <a:prstGeom prst="ellipse">
            <a:avLst/>
          </a:prstGeom>
          <a:solidFill>
            <a:srgbClr val="0E96AC"/>
          </a:solidFill>
          <a:ln>
            <a:noFill/>
          </a:ln>
        </p:spPr>
        <p:txBody>
          <a:bodyPr/>
          <a:lstStyle/>
          <a:p>
            <a:endParaRPr lang="en-US" dirty="0"/>
          </a:p>
        </p:txBody>
      </p:sp>
      <p:sp>
        <p:nvSpPr>
          <p:cNvPr id="220" name="nct0"/>
          <p:cNvSpPr txBox="1">
            <a:spLocks noGrp="1"/>
          </p:cNvSpPr>
          <p:nvPr/>
        </p:nvSpPr>
        <p:spPr>
          <a:xfrm>
            <a:off x="609600" y="16891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1</a:t>
            </a:r>
          </a:p>
        </p:txBody>
      </p:sp>
      <p:sp>
        <p:nvSpPr>
          <p:cNvPr id="230" name="bt0"/>
          <p:cNvSpPr txBox="1">
            <a:spLocks noGrp="1"/>
          </p:cNvSpPr>
          <p:nvPr/>
        </p:nvSpPr>
        <p:spPr>
          <a:xfrm>
            <a:off x="1003300" y="14986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Repository created</a:t>
            </a:r>
          </a:p>
          <a:p>
            <a:pPr marL="0" indent="0">
              <a:buNone/>
            </a:pPr>
            <a:r>
              <a:rPr lang="en-IN" sz="1400" dirty="0">
                <a:solidFill>
                  <a:srgbClr val="6B7890"/>
                </a:solidFill>
                <a:latin typeface="Calibri"/>
              </a:rPr>
              <a:t>Central home for the whole project.</a:t>
            </a:r>
          </a:p>
        </p:txBody>
      </p:sp>
      <p:sp>
        <p:nvSpPr>
          <p:cNvPr id="240" name="rdiv0"/>
          <p:cNvSpPr>
            <a:spLocks noGrp="1"/>
          </p:cNvSpPr>
          <p:nvPr/>
        </p:nvSpPr>
        <p:spPr>
          <a:xfrm>
            <a:off x="546100" y="2247900"/>
            <a:ext cx="3632200" cy="12700"/>
          </a:xfrm>
          <a:prstGeom prst="rect">
            <a:avLst/>
          </a:prstGeom>
          <a:solidFill>
            <a:srgbClr val="E2E8F0"/>
          </a:solidFill>
          <a:ln>
            <a:noFill/>
          </a:ln>
        </p:spPr>
        <p:txBody>
          <a:bodyPr/>
          <a:lstStyle/>
          <a:p>
            <a:endParaRPr lang="en-US" dirty="0"/>
          </a:p>
        </p:txBody>
      </p:sp>
      <p:sp>
        <p:nvSpPr>
          <p:cNvPr id="211" name="nc1"/>
          <p:cNvSpPr>
            <a:spLocks noGrp="1"/>
          </p:cNvSpPr>
          <p:nvPr/>
        </p:nvSpPr>
        <p:spPr>
          <a:xfrm>
            <a:off x="609600" y="2527300"/>
            <a:ext cx="304800" cy="304800"/>
          </a:xfrm>
          <a:prstGeom prst="ellipse">
            <a:avLst/>
          </a:prstGeom>
          <a:solidFill>
            <a:srgbClr val="0E96AC"/>
          </a:solidFill>
          <a:ln>
            <a:noFill/>
          </a:ln>
        </p:spPr>
        <p:txBody>
          <a:bodyPr/>
          <a:lstStyle/>
          <a:p>
            <a:endParaRPr lang="en-US" dirty="0"/>
          </a:p>
        </p:txBody>
      </p:sp>
      <p:sp>
        <p:nvSpPr>
          <p:cNvPr id="221" name="nct1"/>
          <p:cNvSpPr txBox="1">
            <a:spLocks noGrp="1"/>
          </p:cNvSpPr>
          <p:nvPr/>
        </p:nvSpPr>
        <p:spPr>
          <a:xfrm>
            <a:off x="609600" y="25273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2</a:t>
            </a:r>
          </a:p>
        </p:txBody>
      </p:sp>
      <p:sp>
        <p:nvSpPr>
          <p:cNvPr id="231" name="bt1"/>
          <p:cNvSpPr txBox="1">
            <a:spLocks noGrp="1"/>
          </p:cNvSpPr>
          <p:nvPr/>
        </p:nvSpPr>
        <p:spPr>
          <a:xfrm>
            <a:off x="1003300" y="23368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Version control established</a:t>
            </a:r>
          </a:p>
          <a:p>
            <a:pPr marL="0" indent="0">
              <a:buNone/>
            </a:pPr>
            <a:r>
              <a:rPr lang="en-IN" sz="1400" dirty="0">
                <a:solidFill>
                  <a:srgbClr val="6B7890"/>
                </a:solidFill>
                <a:latin typeface="Calibri"/>
              </a:rPr>
              <a:t>Tracked, reversible change history.</a:t>
            </a:r>
          </a:p>
        </p:txBody>
      </p:sp>
      <p:sp>
        <p:nvSpPr>
          <p:cNvPr id="241" name="rdiv1"/>
          <p:cNvSpPr>
            <a:spLocks noGrp="1"/>
          </p:cNvSpPr>
          <p:nvPr/>
        </p:nvSpPr>
        <p:spPr>
          <a:xfrm>
            <a:off x="546100" y="3086100"/>
            <a:ext cx="3632200" cy="12700"/>
          </a:xfrm>
          <a:prstGeom prst="rect">
            <a:avLst/>
          </a:prstGeom>
          <a:solidFill>
            <a:srgbClr val="E2E8F0"/>
          </a:solidFill>
          <a:ln>
            <a:noFill/>
          </a:ln>
        </p:spPr>
        <p:txBody>
          <a:bodyPr/>
          <a:lstStyle/>
          <a:p>
            <a:endParaRPr lang="en-US" dirty="0"/>
          </a:p>
        </p:txBody>
      </p:sp>
      <p:sp>
        <p:nvSpPr>
          <p:cNvPr id="202" name="rbg2"/>
          <p:cNvSpPr>
            <a:spLocks noGrp="1"/>
          </p:cNvSpPr>
          <p:nvPr/>
        </p:nvSpPr>
        <p:spPr>
          <a:xfrm>
            <a:off x="546100" y="3098800"/>
            <a:ext cx="3632200" cy="838200"/>
          </a:xfrm>
          <a:prstGeom prst="rect">
            <a:avLst/>
          </a:prstGeom>
          <a:solidFill>
            <a:srgbClr val="F8FAFC"/>
          </a:solidFill>
          <a:ln>
            <a:noFill/>
          </a:ln>
        </p:spPr>
        <p:txBody>
          <a:bodyPr/>
          <a:lstStyle/>
          <a:p>
            <a:endParaRPr lang="en-US" dirty="0"/>
          </a:p>
        </p:txBody>
      </p:sp>
      <p:sp>
        <p:nvSpPr>
          <p:cNvPr id="212" name="nc2"/>
          <p:cNvSpPr>
            <a:spLocks noGrp="1"/>
          </p:cNvSpPr>
          <p:nvPr/>
        </p:nvSpPr>
        <p:spPr>
          <a:xfrm>
            <a:off x="609600" y="3365500"/>
            <a:ext cx="304800" cy="304800"/>
          </a:xfrm>
          <a:prstGeom prst="ellipse">
            <a:avLst/>
          </a:prstGeom>
          <a:solidFill>
            <a:srgbClr val="0E96AC"/>
          </a:solidFill>
          <a:ln>
            <a:noFill/>
          </a:ln>
        </p:spPr>
        <p:txBody>
          <a:bodyPr/>
          <a:lstStyle/>
          <a:p>
            <a:endParaRPr lang="en-US" dirty="0"/>
          </a:p>
        </p:txBody>
      </p:sp>
      <p:sp>
        <p:nvSpPr>
          <p:cNvPr id="222" name="nct2"/>
          <p:cNvSpPr txBox="1">
            <a:spLocks noGrp="1"/>
          </p:cNvSpPr>
          <p:nvPr/>
        </p:nvSpPr>
        <p:spPr>
          <a:xfrm>
            <a:off x="609600" y="33655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3</a:t>
            </a:r>
          </a:p>
        </p:txBody>
      </p:sp>
      <p:sp>
        <p:nvSpPr>
          <p:cNvPr id="232" name="bt2"/>
          <p:cNvSpPr txBox="1">
            <a:spLocks noGrp="1"/>
          </p:cNvSpPr>
          <p:nvPr/>
        </p:nvSpPr>
        <p:spPr>
          <a:xfrm>
            <a:off x="1003300" y="31750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CAD files uploaded</a:t>
            </a:r>
          </a:p>
          <a:p>
            <a:pPr marL="0" indent="0">
              <a:buNone/>
            </a:pPr>
            <a:r>
              <a:rPr lang="en-IN" sz="1400" dirty="0">
                <a:solidFill>
                  <a:srgbClr val="6B7890"/>
                </a:solidFill>
                <a:latin typeface="Calibri"/>
              </a:rPr>
              <a:t>Design source committed to the repo.</a:t>
            </a:r>
          </a:p>
        </p:txBody>
      </p:sp>
      <p:sp>
        <p:nvSpPr>
          <p:cNvPr id="242" name="rdiv2"/>
          <p:cNvSpPr>
            <a:spLocks noGrp="1"/>
          </p:cNvSpPr>
          <p:nvPr/>
        </p:nvSpPr>
        <p:spPr>
          <a:xfrm>
            <a:off x="546100" y="3924300"/>
            <a:ext cx="3632200" cy="12700"/>
          </a:xfrm>
          <a:prstGeom prst="rect">
            <a:avLst/>
          </a:prstGeom>
          <a:solidFill>
            <a:srgbClr val="E2E8F0"/>
          </a:solidFill>
          <a:ln>
            <a:noFill/>
          </a:ln>
        </p:spPr>
        <p:txBody>
          <a:bodyPr/>
          <a:lstStyle/>
          <a:p>
            <a:endParaRPr lang="en-US" dirty="0"/>
          </a:p>
        </p:txBody>
      </p:sp>
      <p:sp>
        <p:nvSpPr>
          <p:cNvPr id="213" name="nc3"/>
          <p:cNvSpPr>
            <a:spLocks noGrp="1"/>
          </p:cNvSpPr>
          <p:nvPr/>
        </p:nvSpPr>
        <p:spPr>
          <a:xfrm>
            <a:off x="609600" y="4203700"/>
            <a:ext cx="304800" cy="304800"/>
          </a:xfrm>
          <a:prstGeom prst="ellipse">
            <a:avLst/>
          </a:prstGeom>
          <a:solidFill>
            <a:srgbClr val="0E96AC"/>
          </a:solidFill>
          <a:ln>
            <a:noFill/>
          </a:ln>
        </p:spPr>
        <p:txBody>
          <a:bodyPr/>
          <a:lstStyle/>
          <a:p>
            <a:endParaRPr lang="en-US" dirty="0"/>
          </a:p>
        </p:txBody>
      </p:sp>
      <p:sp>
        <p:nvSpPr>
          <p:cNvPr id="223" name="nct3"/>
          <p:cNvSpPr txBox="1">
            <a:spLocks noGrp="1"/>
          </p:cNvSpPr>
          <p:nvPr/>
        </p:nvSpPr>
        <p:spPr>
          <a:xfrm>
            <a:off x="609600" y="42037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4</a:t>
            </a:r>
          </a:p>
        </p:txBody>
      </p:sp>
      <p:sp>
        <p:nvSpPr>
          <p:cNvPr id="233" name="bt3"/>
          <p:cNvSpPr txBox="1">
            <a:spLocks noGrp="1"/>
          </p:cNvSpPr>
          <p:nvPr/>
        </p:nvSpPr>
        <p:spPr>
          <a:xfrm>
            <a:off x="1003300" y="40132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Design iterations documented</a:t>
            </a:r>
          </a:p>
          <a:p>
            <a:pPr marL="0" indent="0">
              <a:buNone/>
            </a:pPr>
            <a:r>
              <a:rPr lang="en-IN" sz="1400" dirty="0">
                <a:solidFill>
                  <a:srgbClr val="6B7890"/>
                </a:solidFill>
                <a:latin typeface="Calibri"/>
              </a:rPr>
              <a:t>Every revision captured in commits.</a:t>
            </a:r>
          </a:p>
        </p:txBody>
      </p:sp>
      <p:sp>
        <p:nvSpPr>
          <p:cNvPr id="243" name="rdiv3"/>
          <p:cNvSpPr>
            <a:spLocks noGrp="1"/>
          </p:cNvSpPr>
          <p:nvPr/>
        </p:nvSpPr>
        <p:spPr>
          <a:xfrm>
            <a:off x="546100" y="4762500"/>
            <a:ext cx="3632200" cy="12700"/>
          </a:xfrm>
          <a:prstGeom prst="rect">
            <a:avLst/>
          </a:prstGeom>
          <a:solidFill>
            <a:srgbClr val="E2E8F0"/>
          </a:solidFill>
          <a:ln>
            <a:noFill/>
          </a:ln>
        </p:spPr>
        <p:txBody>
          <a:bodyPr/>
          <a:lstStyle/>
          <a:p>
            <a:endParaRPr lang="en-US" dirty="0"/>
          </a:p>
        </p:txBody>
      </p:sp>
      <p:sp>
        <p:nvSpPr>
          <p:cNvPr id="204" name="rbg4"/>
          <p:cNvSpPr>
            <a:spLocks noGrp="1"/>
          </p:cNvSpPr>
          <p:nvPr/>
        </p:nvSpPr>
        <p:spPr>
          <a:xfrm>
            <a:off x="546100" y="4775200"/>
            <a:ext cx="3632200" cy="838200"/>
          </a:xfrm>
          <a:prstGeom prst="rect">
            <a:avLst/>
          </a:prstGeom>
          <a:solidFill>
            <a:srgbClr val="F8FAFC"/>
          </a:solidFill>
          <a:ln>
            <a:noFill/>
          </a:ln>
        </p:spPr>
        <p:txBody>
          <a:bodyPr/>
          <a:lstStyle/>
          <a:p>
            <a:endParaRPr lang="en-US" dirty="0"/>
          </a:p>
        </p:txBody>
      </p:sp>
      <p:sp>
        <p:nvSpPr>
          <p:cNvPr id="214" name="nc4"/>
          <p:cNvSpPr>
            <a:spLocks noGrp="1"/>
          </p:cNvSpPr>
          <p:nvPr/>
        </p:nvSpPr>
        <p:spPr>
          <a:xfrm>
            <a:off x="609600" y="5041900"/>
            <a:ext cx="304800" cy="304800"/>
          </a:xfrm>
          <a:prstGeom prst="ellipse">
            <a:avLst/>
          </a:prstGeom>
          <a:solidFill>
            <a:srgbClr val="0E96AC"/>
          </a:solidFill>
          <a:ln>
            <a:noFill/>
          </a:ln>
        </p:spPr>
        <p:txBody>
          <a:bodyPr/>
          <a:lstStyle/>
          <a:p>
            <a:endParaRPr lang="en-US" dirty="0"/>
          </a:p>
        </p:txBody>
      </p:sp>
      <p:sp>
        <p:nvSpPr>
          <p:cNvPr id="224" name="nct4"/>
          <p:cNvSpPr txBox="1">
            <a:spLocks noGrp="1"/>
          </p:cNvSpPr>
          <p:nvPr/>
        </p:nvSpPr>
        <p:spPr>
          <a:xfrm>
            <a:off x="609600" y="50419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5</a:t>
            </a:r>
          </a:p>
        </p:txBody>
      </p:sp>
      <p:sp>
        <p:nvSpPr>
          <p:cNvPr id="234" name="bt4"/>
          <p:cNvSpPr txBox="1">
            <a:spLocks noGrp="1"/>
          </p:cNvSpPr>
          <p:nvPr/>
        </p:nvSpPr>
        <p:spPr>
          <a:xfrm>
            <a:off x="1003300" y="48514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Progress tracking in place</a:t>
            </a:r>
          </a:p>
          <a:p>
            <a:pPr marL="0" indent="0">
              <a:buNone/>
            </a:pPr>
            <a:r>
              <a:rPr lang="en-IN" sz="1400" dirty="0">
                <a:solidFill>
                  <a:srgbClr val="6B7890"/>
                </a:solidFill>
                <a:latin typeface="Calibri"/>
              </a:rPr>
              <a:t>Milestones and issues logged.</a:t>
            </a:r>
          </a:p>
        </p:txBody>
      </p:sp>
      <p:sp>
        <p:nvSpPr>
          <p:cNvPr id="244" name="rdiv4"/>
          <p:cNvSpPr>
            <a:spLocks noGrp="1"/>
          </p:cNvSpPr>
          <p:nvPr/>
        </p:nvSpPr>
        <p:spPr>
          <a:xfrm>
            <a:off x="546100" y="5600700"/>
            <a:ext cx="3632200" cy="12700"/>
          </a:xfrm>
          <a:prstGeom prst="rect">
            <a:avLst/>
          </a:prstGeom>
          <a:solidFill>
            <a:srgbClr val="E2E8F0"/>
          </a:solidFill>
          <a:ln>
            <a:noFill/>
          </a:ln>
        </p:spPr>
        <p:txBody>
          <a:bodyPr/>
          <a:lstStyle/>
          <a:p>
            <a:endParaRPr lang="en-US" dirty="0"/>
          </a:p>
        </p:txBody>
      </p:sp>
      <p:sp>
        <p:nvSpPr>
          <p:cNvPr id="215" name="nc5"/>
          <p:cNvSpPr>
            <a:spLocks noGrp="1"/>
          </p:cNvSpPr>
          <p:nvPr/>
        </p:nvSpPr>
        <p:spPr>
          <a:xfrm>
            <a:off x="609600" y="5880100"/>
            <a:ext cx="304800" cy="304800"/>
          </a:xfrm>
          <a:prstGeom prst="ellipse">
            <a:avLst/>
          </a:prstGeom>
          <a:solidFill>
            <a:srgbClr val="0E96AC"/>
          </a:solidFill>
          <a:ln>
            <a:noFill/>
          </a:ln>
        </p:spPr>
        <p:txBody>
          <a:bodyPr/>
          <a:lstStyle/>
          <a:p>
            <a:endParaRPr lang="en-US" dirty="0"/>
          </a:p>
        </p:txBody>
      </p:sp>
      <p:sp>
        <p:nvSpPr>
          <p:cNvPr id="225" name="nct5"/>
          <p:cNvSpPr txBox="1">
            <a:spLocks noGrp="1"/>
          </p:cNvSpPr>
          <p:nvPr/>
        </p:nvSpPr>
        <p:spPr>
          <a:xfrm>
            <a:off x="609600" y="58801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6</a:t>
            </a:r>
          </a:p>
        </p:txBody>
      </p:sp>
      <p:sp>
        <p:nvSpPr>
          <p:cNvPr id="235" name="bt5"/>
          <p:cNvSpPr txBox="1">
            <a:spLocks noGrp="1"/>
          </p:cNvSpPr>
          <p:nvPr/>
        </p:nvSpPr>
        <p:spPr>
          <a:xfrm>
            <a:off x="1003300" y="56896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Team collaboration workflow</a:t>
            </a:r>
          </a:p>
          <a:p>
            <a:pPr marL="0" indent="0">
              <a:buNone/>
            </a:pPr>
            <a:r>
              <a:rPr lang="en-IN" sz="1400" dirty="0">
                <a:solidFill>
                  <a:srgbClr val="6B7890"/>
                </a:solidFill>
                <a:latin typeface="Calibri"/>
              </a:rPr>
              <a:t>Shared branches and pull requests.</a:t>
            </a:r>
          </a:p>
        </p:txBody>
      </p:sp>
      <p:sp>
        <p:nvSpPr>
          <p:cNvPr id="300" name="fr0"/>
          <p:cNvSpPr>
            <a:spLocks noGrp="1"/>
          </p:cNvSpPr>
          <p:nvPr/>
        </p:nvSpPr>
        <p:spPr>
          <a:xfrm>
            <a:off x="4406900" y="1409700"/>
            <a:ext cx="6176383" cy="2338618"/>
          </a:xfrm>
          <a:prstGeom prst="rect">
            <a:avLst/>
          </a:prstGeom>
          <a:solidFill>
            <a:srgbClr val="FFFFFF"/>
          </a:solidFill>
          <a:ln w="15875">
            <a:solidFill>
              <a:srgbClr val="0E96AC"/>
            </a:solidFill>
          </a:ln>
        </p:spPr>
        <p:txBody>
          <a:bodyPr/>
          <a:lstStyle/>
          <a:p>
            <a:endParaRPr lang="en-US" dirty="0"/>
          </a:p>
        </p:txBody>
      </p:sp>
      <p:sp>
        <p:nvSpPr>
          <p:cNvPr id="301" name="fr1"/>
          <p:cNvSpPr>
            <a:spLocks noGrp="1"/>
          </p:cNvSpPr>
          <p:nvPr/>
        </p:nvSpPr>
        <p:spPr>
          <a:xfrm>
            <a:off x="4343400" y="4102100"/>
            <a:ext cx="5164394" cy="1703848"/>
          </a:xfrm>
          <a:prstGeom prst="rect">
            <a:avLst/>
          </a:prstGeom>
          <a:solidFill>
            <a:srgbClr val="FFFFFF"/>
          </a:solidFill>
          <a:ln w="15875">
            <a:solidFill>
              <a:srgbClr val="0E96AC"/>
            </a:solidFill>
          </a:ln>
        </p:spPr>
        <p:txBody>
          <a:bodyPr/>
          <a:lstStyle/>
          <a:p>
            <a:endParaRPr lang="en-US" dirty="0"/>
          </a:p>
        </p:txBody>
      </p:sp>
      <p:pic>
        <p:nvPicPr>
          <p:cNvPr id="9" name="Picture 8" descr="Locomotion set too 2D forward sine curve movement.&#10;&#10;AI-generated content may be incorrect.">
            <a:extLst>
              <a:ext uri="{FF2B5EF4-FFF2-40B4-BE49-F238E27FC236}">
                <a16:creationId xmlns:a16="http://schemas.microsoft.com/office/drawing/2014/main" id="{ED2047AF-DB81-F6EB-B705-0BA0C0456025}"/>
              </a:ext>
            </a:extLst>
          </p:cNvPr>
          <p:cNvPicPr>
            <a:picLocks noChangeAspect="1"/>
          </p:cNvPicPr>
          <p:nvPr/>
        </p:nvPicPr>
        <p:blipFill>
          <a:blip r:embed="rId3"/>
          <a:stretch>
            <a:fillRect/>
          </a:stretch>
        </p:blipFill>
        <p:spPr>
          <a:xfrm>
            <a:off x="4419600" y="1461524"/>
            <a:ext cx="6150983" cy="2056376"/>
          </a:xfrm>
          <a:prstGeom prst="rect">
            <a:avLst/>
          </a:prstGeom>
        </p:spPr>
      </p:pic>
      <p:pic>
        <p:nvPicPr>
          <p:cNvPr id="5" name="Picture 4" descr="step&#10;&#10;AI-generated content may be incorrect.">
            <a:extLst>
              <a:ext uri="{FF2B5EF4-FFF2-40B4-BE49-F238E27FC236}">
                <a16:creationId xmlns:a16="http://schemas.microsoft.com/office/drawing/2014/main" id="{80777DB4-B751-FFD3-5E4E-49618F172697}"/>
              </a:ext>
            </a:extLst>
          </p:cNvPr>
          <p:cNvPicPr>
            <a:picLocks noChangeAspect="1"/>
          </p:cNvPicPr>
          <p:nvPr/>
        </p:nvPicPr>
        <p:blipFill>
          <a:blip r:embed="rId4"/>
          <a:stretch>
            <a:fillRect/>
          </a:stretch>
        </p:blipFill>
        <p:spPr>
          <a:xfrm>
            <a:off x="4356100" y="4110447"/>
            <a:ext cx="5139813" cy="1473200"/>
          </a:xfrm>
          <a:prstGeom prst="rect">
            <a:avLst/>
          </a:prstGeom>
        </p:spPr>
      </p:pic>
      <p:pic>
        <p:nvPicPr>
          <p:cNvPr id="7" name="Picture 6" descr="The image shows a collection of text documents and files related to Raspberry Pi setup and testing, including installation guides, hardware documentation, and various scripts and manuals.&#10;&#10;AI-generated content may be incorrect.">
            <a:extLst>
              <a:ext uri="{FF2B5EF4-FFF2-40B4-BE49-F238E27FC236}">
                <a16:creationId xmlns:a16="http://schemas.microsoft.com/office/drawing/2014/main" id="{95193EA5-352B-66B9-D1D8-D963F722885B}"/>
              </a:ext>
            </a:extLst>
          </p:cNvPr>
          <p:cNvPicPr>
            <a:picLocks noChangeAspect="1"/>
          </p:cNvPicPr>
          <p:nvPr/>
        </p:nvPicPr>
        <p:blipFill>
          <a:blip r:embed="rId5"/>
          <a:stretch>
            <a:fillRect/>
          </a:stretch>
        </p:blipFill>
        <p:spPr>
          <a:xfrm>
            <a:off x="9957620" y="3827640"/>
            <a:ext cx="1776053" cy="3017659"/>
          </a:xfrm>
          <a:prstGeom prst="rect">
            <a:avLst/>
          </a:prstGeom>
        </p:spPr>
      </p:pic>
      <p:sp>
        <p:nvSpPr>
          <p:cNvPr id="310" name="cov0"/>
          <p:cNvSpPr>
            <a:spLocks noGrp="1"/>
          </p:cNvSpPr>
          <p:nvPr/>
        </p:nvSpPr>
        <p:spPr>
          <a:xfrm>
            <a:off x="4406900" y="3512752"/>
            <a:ext cx="6176383" cy="235565"/>
          </a:xfrm>
          <a:prstGeom prst="rect">
            <a:avLst/>
          </a:prstGeom>
          <a:solidFill>
            <a:srgbClr val="16223A"/>
          </a:solidFill>
          <a:ln>
            <a:noFill/>
          </a:ln>
        </p:spPr>
        <p:txBody>
          <a:bodyPr/>
          <a:lstStyle/>
          <a:p>
            <a:endParaRPr lang="en-US" dirty="0"/>
          </a:p>
        </p:txBody>
      </p:sp>
      <p:sp>
        <p:nvSpPr>
          <p:cNvPr id="320" name="cap0"/>
          <p:cNvSpPr txBox="1">
            <a:spLocks noGrp="1"/>
          </p:cNvSpPr>
          <p:nvPr/>
        </p:nvSpPr>
        <p:spPr>
          <a:xfrm>
            <a:off x="4383386" y="3535937"/>
            <a:ext cx="6223410" cy="229624"/>
          </a:xfrm>
          <a:prstGeom prst="rect">
            <a:avLst/>
          </a:prstGeom>
          <a:noFill/>
          <a:ln>
            <a:noFill/>
          </a:ln>
        </p:spPr>
        <p:txBody>
          <a:bodyPr anchor="ctr">
            <a:normAutofit lnSpcReduction="10000"/>
          </a:bodyPr>
          <a:lstStyle/>
          <a:p>
            <a:pPr marL="0" indent="0">
              <a:buNone/>
            </a:pPr>
            <a:r>
              <a:rPr lang="en-IN" sz="1000" b="1" dirty="0">
                <a:solidFill>
                  <a:srgbClr val="FFFFFF"/>
                </a:solidFill>
                <a:latin typeface="Calibri"/>
              </a:rPr>
              <a:t>GitHub repository — project root &amp; structure</a:t>
            </a:r>
          </a:p>
        </p:txBody>
      </p:sp>
      <p:sp>
        <p:nvSpPr>
          <p:cNvPr id="311" name="cov1"/>
          <p:cNvSpPr>
            <a:spLocks noGrp="1"/>
          </p:cNvSpPr>
          <p:nvPr/>
        </p:nvSpPr>
        <p:spPr>
          <a:xfrm>
            <a:off x="4343400" y="5579192"/>
            <a:ext cx="5164394" cy="202304"/>
          </a:xfrm>
          <a:prstGeom prst="rect">
            <a:avLst/>
          </a:prstGeom>
          <a:solidFill>
            <a:srgbClr val="16223A"/>
          </a:solidFill>
          <a:ln>
            <a:noFill/>
          </a:ln>
        </p:spPr>
        <p:txBody>
          <a:bodyPr/>
          <a:lstStyle/>
          <a:p>
            <a:endParaRPr lang="en-US" dirty="0"/>
          </a:p>
        </p:txBody>
      </p:sp>
      <p:sp>
        <p:nvSpPr>
          <p:cNvPr id="321" name="cap1"/>
          <p:cNvSpPr txBox="1">
            <a:spLocks noGrp="1"/>
          </p:cNvSpPr>
          <p:nvPr/>
        </p:nvSpPr>
        <p:spPr>
          <a:xfrm>
            <a:off x="4318819" y="5543012"/>
            <a:ext cx="5177094" cy="271283"/>
          </a:xfrm>
          <a:prstGeom prst="rect">
            <a:avLst/>
          </a:prstGeom>
          <a:noFill/>
          <a:ln>
            <a:noFill/>
          </a:ln>
        </p:spPr>
        <p:txBody>
          <a:bodyPr anchor="ctr">
            <a:normAutofit/>
          </a:bodyPr>
          <a:lstStyle/>
          <a:p>
            <a:pPr marL="0" indent="0">
              <a:buNone/>
            </a:pPr>
            <a:r>
              <a:rPr lang="en-IN" sz="1000" b="1" dirty="0">
                <a:solidFill>
                  <a:srgbClr val="FFFFFF"/>
                </a:solidFill>
                <a:latin typeface="Calibri"/>
              </a:rPr>
              <a:t>Commit history — tracked iterations &amp; uploads</a:t>
            </a:r>
          </a:p>
        </p:txBody>
      </p:sp>
      <p:sp>
        <p:nvSpPr>
          <p:cNvPr id="330" name="arr0"/>
          <p:cNvSpPr>
            <a:spLocks noGrp="1"/>
          </p:cNvSpPr>
          <p:nvPr/>
        </p:nvSpPr>
        <p:spPr>
          <a:xfrm>
            <a:off x="7360879" y="3750647"/>
            <a:ext cx="355600" cy="266700"/>
          </a:xfrm>
          <a:prstGeom prst="downArrow">
            <a:avLst>
              <a:gd name="adj1" fmla="val 50000"/>
              <a:gd name="adj2" fmla="val 50000"/>
            </a:avLst>
          </a:prstGeom>
          <a:solidFill>
            <a:srgbClr val="0E96AC"/>
          </a:solidFill>
          <a:ln>
            <a:noFill/>
          </a:ln>
        </p:spPr>
        <p:txBody>
          <a:bodyPr/>
          <a:lstStyle/>
          <a:p>
            <a:endParaRPr lang="en-US" dirty="0"/>
          </a:p>
        </p:txBody>
      </p:sp>
      <p:sp>
        <p:nvSpPr>
          <p:cNvPr id="331" name="arr1"/>
          <p:cNvSpPr>
            <a:spLocks noGrp="1"/>
          </p:cNvSpPr>
          <p:nvPr/>
        </p:nvSpPr>
        <p:spPr>
          <a:xfrm rot="16200000">
            <a:off x="9554907" y="5036459"/>
            <a:ext cx="355600" cy="177800"/>
          </a:xfrm>
          <a:prstGeom prst="downArrow">
            <a:avLst>
              <a:gd name="adj1" fmla="val 50000"/>
              <a:gd name="adj2" fmla="val 50000"/>
            </a:avLst>
          </a:prstGeom>
          <a:solidFill>
            <a:srgbClr val="0E96AC"/>
          </a:solidFill>
          <a:ln>
            <a:noFill/>
          </a:ln>
        </p:spPr>
        <p:txBody>
          <a:bodyPr/>
          <a:lstStyle/>
          <a:p>
            <a:endParaRPr lang="en-US" dirty="0"/>
          </a:p>
        </p:txBody>
      </p:sp>
      <p:sp>
        <p:nvSpPr>
          <p:cNvPr id="340" name="gh_lbl"/>
          <p:cNvSpPr txBox="1">
            <a:spLocks noGrp="1"/>
          </p:cNvSpPr>
          <p:nvPr/>
        </p:nvSpPr>
        <p:spPr>
          <a:xfrm>
            <a:off x="4419600" y="1371600"/>
            <a:ext cx="3810000" cy="177800"/>
          </a:xfrm>
          <a:prstGeom prst="rect">
            <a:avLst/>
          </a:prstGeom>
          <a:noFill/>
          <a:ln>
            <a:noFill/>
          </a:ln>
        </p:spPr>
        <p:txBody>
          <a:bodyPr anchor="t">
            <a:normAutofit fontScale="70000" lnSpcReduction="20000"/>
          </a:bodyPr>
          <a:lstStyle/>
          <a:p>
            <a:pPr marL="0" indent="0">
              <a:buNone/>
            </a:pPr>
            <a:r>
              <a:rPr lang="en-IN" sz="900" b="1" spc="200" dirty="0">
                <a:solidFill>
                  <a:srgbClr val="0E96AC"/>
                </a:solidFill>
                <a:latin typeface="Calibri"/>
              </a:rPr>
              <a:t>GITHUB REPOSITORY SCREENSHOTS</a:t>
            </a:r>
          </a:p>
        </p:txBody>
      </p:sp>
      <p:sp>
        <p:nvSpPr>
          <p:cNvPr id="400" name="sum_strip"/>
          <p:cNvSpPr>
            <a:spLocks noGrp="1"/>
          </p:cNvSpPr>
          <p:nvPr/>
        </p:nvSpPr>
        <p:spPr>
          <a:xfrm>
            <a:off x="546100" y="6451600"/>
            <a:ext cx="3632200" cy="254000"/>
          </a:xfrm>
          <a:prstGeom prst="rect">
            <a:avLst/>
          </a:prstGeom>
          <a:solidFill>
            <a:srgbClr val="0E96AC"/>
          </a:solidFill>
          <a:ln>
            <a:noFill/>
          </a:ln>
        </p:spPr>
        <p:txBody>
          <a:bodyPr anchor="ctr"/>
          <a:lstStyle/>
          <a:p>
            <a:pPr algn="ctr">
              <a:buNone/>
            </a:pPr>
            <a:r>
              <a:rPr lang="en-IN" sz="900" b="1" dirty="0">
                <a:solidFill>
                  <a:srgbClr val="FFFFFF"/>
                </a:solidFill>
                <a:latin typeface="Calibri"/>
              </a:rPr>
              <a:t>✓ All milestones tracked in GitHub</a:t>
            </a:r>
          </a:p>
        </p:txBody>
      </p:sp>
    </p:spTree>
    <p:extLst>
      <p:ext uri="{BB962C8B-B14F-4D97-AF65-F5344CB8AC3E}">
        <p14:creationId xmlns:p14="http://schemas.microsoft.com/office/powerpoint/2010/main" val="786253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PROJECT TIMELINE</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Eight Phases · Currently at 25%</a:t>
            </a:r>
            <a:endParaRPr lang="en-US" sz="3000" dirty="0"/>
          </a:p>
        </p:txBody>
      </p:sp>
      <p:sp>
        <p:nvSpPr>
          <p:cNvPr id="10" name="Shape 8"/>
          <p:cNvSpPr/>
          <p:nvPr/>
        </p:nvSpPr>
        <p:spPr>
          <a:xfrm>
            <a:off x="868680" y="3520440"/>
            <a:ext cx="10469880" cy="0"/>
          </a:xfrm>
          <a:prstGeom prst="line">
            <a:avLst/>
          </a:prstGeom>
          <a:noFill/>
          <a:ln w="38100">
            <a:solidFill>
              <a:srgbClr val="E2E8F0"/>
            </a:solidFill>
            <a:prstDash val="solid"/>
          </a:ln>
        </p:spPr>
      </p:sp>
      <p:sp>
        <p:nvSpPr>
          <p:cNvPr id="11" name="Shape 9"/>
          <p:cNvSpPr/>
          <p:nvPr/>
        </p:nvSpPr>
        <p:spPr>
          <a:xfrm>
            <a:off x="868680" y="3520440"/>
            <a:ext cx="1495697" cy="0"/>
          </a:xfrm>
          <a:prstGeom prst="line">
            <a:avLst/>
          </a:prstGeom>
          <a:noFill/>
          <a:ln w="38100">
            <a:solidFill>
              <a:srgbClr val="0E96AC"/>
            </a:solidFill>
            <a:prstDash val="solid"/>
          </a:ln>
        </p:spPr>
      </p:sp>
      <p:sp>
        <p:nvSpPr>
          <p:cNvPr id="12" name="Shape 10"/>
          <p:cNvSpPr/>
          <p:nvPr/>
        </p:nvSpPr>
        <p:spPr>
          <a:xfrm>
            <a:off x="868680" y="3063240"/>
            <a:ext cx="0" cy="457200"/>
          </a:xfrm>
          <a:prstGeom prst="line">
            <a:avLst/>
          </a:prstGeom>
          <a:noFill/>
          <a:ln w="15875">
            <a:solidFill>
              <a:srgbClr val="E2E8F0"/>
            </a:solidFill>
            <a:prstDash val="solid"/>
          </a:ln>
        </p:spPr>
      </p:sp>
      <p:sp>
        <p:nvSpPr>
          <p:cNvPr id="13" name="Shape 11"/>
          <p:cNvSpPr/>
          <p:nvPr/>
        </p:nvSpPr>
        <p:spPr>
          <a:xfrm>
            <a:off x="502920" y="2148840"/>
            <a:ext cx="1335024" cy="914400"/>
          </a:xfrm>
          <a:prstGeom prst="roundRect">
            <a:avLst>
              <a:gd name="adj" fmla="val 8000"/>
            </a:avLst>
          </a:prstGeom>
          <a:solidFill>
            <a:srgbClr val="FFFFFF"/>
          </a:solidFill>
          <a:ln w="15875">
            <a:solidFill>
              <a:srgbClr val="12A678"/>
            </a:solidFill>
            <a:prstDash val="solid"/>
          </a:ln>
          <a:effectLst>
            <a:outerShdw blurRad="63500" dist="25400" dir="5400000" algn="bl" rotWithShape="0">
              <a:srgbClr val="1A2440">
                <a:alpha val="8000"/>
              </a:srgbClr>
            </a:outerShdw>
          </a:effectLst>
        </p:spPr>
      </p:sp>
      <p:sp>
        <p:nvSpPr>
          <p:cNvPr id="14" name="Text 12"/>
          <p:cNvSpPr/>
          <p:nvPr/>
        </p:nvSpPr>
        <p:spPr>
          <a:xfrm>
            <a:off x="594360" y="2240280"/>
            <a:ext cx="1152144" cy="201168"/>
          </a:xfrm>
          <a:prstGeom prst="rect">
            <a:avLst/>
          </a:prstGeom>
          <a:noFill/>
          <a:ln/>
        </p:spPr>
        <p:txBody>
          <a:bodyPr wrap="square" lIns="0" tIns="0" rIns="0" bIns="0" rtlCol="0" anchor="ctr"/>
          <a:lstStyle/>
          <a:p>
            <a:pPr marL="0" indent="0">
              <a:buNone/>
            </a:pPr>
            <a:r>
              <a:rPr lang="en-US" sz="800" b="1" kern="0" spc="100" dirty="0">
                <a:solidFill>
                  <a:srgbClr val="12A678"/>
                </a:solidFill>
                <a:latin typeface="Calibri" pitchFamily="34" charset="0"/>
                <a:ea typeface="Calibri" pitchFamily="34" charset="-122"/>
                <a:cs typeface="Calibri" pitchFamily="34" charset="-120"/>
              </a:rPr>
              <a:t>PHASE 1</a:t>
            </a:r>
            <a:endParaRPr lang="en-US" sz="800" dirty="0"/>
          </a:p>
        </p:txBody>
      </p:sp>
      <p:sp>
        <p:nvSpPr>
          <p:cNvPr id="15" name="Text 13"/>
          <p:cNvSpPr/>
          <p:nvPr/>
        </p:nvSpPr>
        <p:spPr>
          <a:xfrm>
            <a:off x="594360"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Research &amp; Design</a:t>
            </a:r>
            <a:endParaRPr lang="en-US" sz="1050" dirty="0"/>
          </a:p>
        </p:txBody>
      </p:sp>
      <p:sp>
        <p:nvSpPr>
          <p:cNvPr id="16" name="Text 14"/>
          <p:cNvSpPr/>
          <p:nvPr/>
        </p:nvSpPr>
        <p:spPr>
          <a:xfrm>
            <a:off x="594360" y="2825496"/>
            <a:ext cx="1152144" cy="182880"/>
          </a:xfrm>
          <a:prstGeom prst="rect">
            <a:avLst/>
          </a:prstGeom>
          <a:noFill/>
          <a:ln/>
        </p:spPr>
        <p:txBody>
          <a:bodyPr wrap="square" lIns="0" tIns="0" rIns="0" bIns="0" rtlCol="0" anchor="ctr"/>
          <a:lstStyle/>
          <a:p>
            <a:pPr marL="0" indent="0">
              <a:buNone/>
            </a:pPr>
            <a:r>
              <a:rPr lang="en-US" sz="800" b="1" dirty="0">
                <a:solidFill>
                  <a:srgbClr val="12A678"/>
                </a:solidFill>
                <a:latin typeface="Calibri" pitchFamily="34" charset="0"/>
                <a:ea typeface="Calibri" pitchFamily="34" charset="-122"/>
                <a:cs typeface="Calibri" pitchFamily="34" charset="-120"/>
              </a:rPr>
              <a:t>Completed</a:t>
            </a:r>
            <a:endParaRPr lang="en-US" sz="800" dirty="0"/>
          </a:p>
        </p:txBody>
      </p:sp>
      <p:sp>
        <p:nvSpPr>
          <p:cNvPr id="17" name="Shape 15"/>
          <p:cNvSpPr/>
          <p:nvPr/>
        </p:nvSpPr>
        <p:spPr>
          <a:xfrm>
            <a:off x="694944" y="3346704"/>
            <a:ext cx="347472" cy="347472"/>
          </a:xfrm>
          <a:prstGeom prst="ellipse">
            <a:avLst/>
          </a:prstGeom>
          <a:solidFill>
            <a:srgbClr val="12A678"/>
          </a:solidFill>
          <a:ln w="31750">
            <a:solidFill>
              <a:srgbClr val="F6F8FB"/>
            </a:solidFill>
            <a:prstDash val="solid"/>
          </a:ln>
        </p:spPr>
      </p:sp>
      <p:sp>
        <p:nvSpPr>
          <p:cNvPr id="18" name="Text 16"/>
          <p:cNvSpPr/>
          <p:nvPr/>
        </p:nvSpPr>
        <p:spPr>
          <a:xfrm>
            <a:off x="69494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Shape 17"/>
          <p:cNvSpPr/>
          <p:nvPr/>
        </p:nvSpPr>
        <p:spPr>
          <a:xfrm>
            <a:off x="2364377" y="3520440"/>
            <a:ext cx="0" cy="457200"/>
          </a:xfrm>
          <a:prstGeom prst="line">
            <a:avLst/>
          </a:prstGeom>
          <a:noFill/>
          <a:ln w="15875">
            <a:solidFill>
              <a:srgbClr val="E2E8F0"/>
            </a:solidFill>
            <a:prstDash val="solid"/>
          </a:ln>
        </p:spPr>
      </p:sp>
      <p:sp>
        <p:nvSpPr>
          <p:cNvPr id="20" name="Shape 18"/>
          <p:cNvSpPr/>
          <p:nvPr/>
        </p:nvSpPr>
        <p:spPr>
          <a:xfrm>
            <a:off x="1696865" y="3977640"/>
            <a:ext cx="1335024" cy="914400"/>
          </a:xfrm>
          <a:prstGeom prst="roundRect">
            <a:avLst>
              <a:gd name="adj" fmla="val 8000"/>
            </a:avLst>
          </a:prstGeom>
          <a:solidFill>
            <a:srgbClr val="FFFFFF"/>
          </a:solidFill>
          <a:ln w="15875">
            <a:solidFill>
              <a:srgbClr val="E08A1E"/>
            </a:solidFill>
            <a:prstDash val="solid"/>
          </a:ln>
          <a:effectLst>
            <a:outerShdw blurRad="63500" dist="25400" dir="5400000" algn="bl" rotWithShape="0">
              <a:srgbClr val="1A2440">
                <a:alpha val="8000"/>
              </a:srgbClr>
            </a:outerShdw>
          </a:effectLst>
        </p:spPr>
      </p:sp>
      <p:sp>
        <p:nvSpPr>
          <p:cNvPr id="21" name="Text 19"/>
          <p:cNvSpPr/>
          <p:nvPr/>
        </p:nvSpPr>
        <p:spPr>
          <a:xfrm>
            <a:off x="1788305" y="4069080"/>
            <a:ext cx="1152144" cy="201168"/>
          </a:xfrm>
          <a:prstGeom prst="rect">
            <a:avLst/>
          </a:prstGeom>
          <a:noFill/>
          <a:ln/>
        </p:spPr>
        <p:txBody>
          <a:bodyPr wrap="square" lIns="0" tIns="0" rIns="0" bIns="0" rtlCol="0" anchor="ctr"/>
          <a:lstStyle/>
          <a:p>
            <a:pPr marL="0" indent="0">
              <a:buNone/>
            </a:pPr>
            <a:r>
              <a:rPr lang="en-US" sz="800" b="1" kern="0" spc="100" dirty="0">
                <a:solidFill>
                  <a:srgbClr val="E08A1E"/>
                </a:solidFill>
                <a:latin typeface="Calibri" pitchFamily="34" charset="0"/>
                <a:ea typeface="Calibri" pitchFamily="34" charset="-122"/>
                <a:cs typeface="Calibri" pitchFamily="34" charset="-120"/>
              </a:rPr>
              <a:t>PHASE 2</a:t>
            </a:r>
            <a:endParaRPr lang="en-US" sz="800" dirty="0"/>
          </a:p>
        </p:txBody>
      </p:sp>
      <p:sp>
        <p:nvSpPr>
          <p:cNvPr id="22" name="Text 20"/>
          <p:cNvSpPr/>
          <p:nvPr/>
        </p:nvSpPr>
        <p:spPr>
          <a:xfrm>
            <a:off x="1788305"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Hardware Procurement</a:t>
            </a:r>
            <a:endParaRPr lang="en-US" sz="1050" dirty="0"/>
          </a:p>
        </p:txBody>
      </p:sp>
      <p:sp>
        <p:nvSpPr>
          <p:cNvPr id="23" name="Text 21"/>
          <p:cNvSpPr/>
          <p:nvPr/>
        </p:nvSpPr>
        <p:spPr>
          <a:xfrm>
            <a:off x="1788305" y="4654296"/>
            <a:ext cx="1152144" cy="182880"/>
          </a:xfrm>
          <a:prstGeom prst="rect">
            <a:avLst/>
          </a:prstGeom>
          <a:noFill/>
          <a:ln/>
        </p:spPr>
        <p:txBody>
          <a:bodyPr wrap="square" lIns="0" tIns="0" rIns="0" bIns="0" rtlCol="0" anchor="ctr"/>
          <a:lstStyle/>
          <a:p>
            <a:pPr marL="0" indent="0">
              <a:buNone/>
            </a:pPr>
            <a:r>
              <a:rPr lang="en-US" sz="800" b="1" dirty="0">
                <a:solidFill>
                  <a:srgbClr val="E08A1E"/>
                </a:solidFill>
                <a:latin typeface="Calibri" pitchFamily="34" charset="0"/>
                <a:ea typeface="Calibri" pitchFamily="34" charset="-122"/>
                <a:cs typeface="Calibri" pitchFamily="34" charset="-120"/>
              </a:rPr>
              <a:t>In progress</a:t>
            </a:r>
            <a:endParaRPr lang="en-US" sz="800" dirty="0"/>
          </a:p>
        </p:txBody>
      </p:sp>
      <p:sp>
        <p:nvSpPr>
          <p:cNvPr id="24" name="Shape 22"/>
          <p:cNvSpPr/>
          <p:nvPr/>
        </p:nvSpPr>
        <p:spPr>
          <a:xfrm>
            <a:off x="2190641" y="3346704"/>
            <a:ext cx="347472" cy="347472"/>
          </a:xfrm>
          <a:prstGeom prst="ellipse">
            <a:avLst/>
          </a:prstGeom>
          <a:solidFill>
            <a:srgbClr val="E08A1E"/>
          </a:solidFill>
          <a:ln w="31750">
            <a:solidFill>
              <a:srgbClr val="F6F8FB"/>
            </a:solidFill>
            <a:prstDash val="solid"/>
          </a:ln>
        </p:spPr>
      </p:sp>
      <p:sp>
        <p:nvSpPr>
          <p:cNvPr id="25" name="Text 23"/>
          <p:cNvSpPr/>
          <p:nvPr/>
        </p:nvSpPr>
        <p:spPr>
          <a:xfrm>
            <a:off x="2190641"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Shape 24"/>
          <p:cNvSpPr/>
          <p:nvPr/>
        </p:nvSpPr>
        <p:spPr>
          <a:xfrm>
            <a:off x="3860074" y="3063240"/>
            <a:ext cx="0" cy="457200"/>
          </a:xfrm>
          <a:prstGeom prst="line">
            <a:avLst/>
          </a:prstGeom>
          <a:noFill/>
          <a:ln w="15875">
            <a:solidFill>
              <a:srgbClr val="E2E8F0"/>
            </a:solidFill>
            <a:prstDash val="solid"/>
          </a:ln>
        </p:spPr>
      </p:sp>
      <p:sp>
        <p:nvSpPr>
          <p:cNvPr id="27" name="Shape 25"/>
          <p:cNvSpPr/>
          <p:nvPr/>
        </p:nvSpPr>
        <p:spPr>
          <a:xfrm>
            <a:off x="3192562" y="2148840"/>
            <a:ext cx="1335024" cy="914400"/>
          </a:xfrm>
          <a:prstGeom prst="roundRect">
            <a:avLst>
              <a:gd name="adj" fmla="val 8000"/>
            </a:avLst>
          </a:prstGeom>
          <a:solidFill>
            <a:srgbClr val="FFFFFF"/>
          </a:solidFill>
          <a:ln w="15875">
            <a:solidFill>
              <a:srgbClr val="0E96AC"/>
            </a:solidFill>
            <a:prstDash val="solid"/>
          </a:ln>
          <a:effectLst>
            <a:outerShdw blurRad="63500" dist="25400" dir="5400000" algn="bl" rotWithShape="0">
              <a:srgbClr val="1A2440">
                <a:alpha val="8000"/>
              </a:srgbClr>
            </a:outerShdw>
          </a:effectLst>
        </p:spPr>
      </p:sp>
      <p:sp>
        <p:nvSpPr>
          <p:cNvPr id="28" name="Text 26"/>
          <p:cNvSpPr/>
          <p:nvPr/>
        </p:nvSpPr>
        <p:spPr>
          <a:xfrm>
            <a:off x="3284002" y="2240280"/>
            <a:ext cx="1152144" cy="201168"/>
          </a:xfrm>
          <a:prstGeom prst="rect">
            <a:avLst/>
          </a:prstGeom>
          <a:noFill/>
          <a:ln/>
        </p:spPr>
        <p:txBody>
          <a:bodyPr wrap="square" lIns="0" tIns="0" rIns="0" bIns="0" rtlCol="0" anchor="ctr"/>
          <a:lstStyle/>
          <a:p>
            <a:pPr marL="0" indent="0">
              <a:buNone/>
            </a:pPr>
            <a:r>
              <a:rPr lang="en-US" sz="800" b="1" kern="0" spc="100" dirty="0">
                <a:solidFill>
                  <a:srgbClr val="0E96AC"/>
                </a:solidFill>
                <a:latin typeface="Calibri" pitchFamily="34" charset="0"/>
                <a:ea typeface="Calibri" pitchFamily="34" charset="-122"/>
                <a:cs typeface="Calibri" pitchFamily="34" charset="-120"/>
              </a:rPr>
              <a:t>PHASE 3</a:t>
            </a:r>
            <a:endParaRPr lang="en-US" sz="800" dirty="0"/>
          </a:p>
        </p:txBody>
      </p:sp>
      <p:sp>
        <p:nvSpPr>
          <p:cNvPr id="29" name="Text 27"/>
          <p:cNvSpPr/>
          <p:nvPr/>
        </p:nvSpPr>
        <p:spPr>
          <a:xfrm>
            <a:off x="3284002"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3A4658"/>
                </a:solidFill>
                <a:latin typeface="Calibri" pitchFamily="34" charset="0"/>
                <a:ea typeface="Calibri" pitchFamily="34" charset="-122"/>
                <a:cs typeface="Calibri" pitchFamily="34" charset="-120"/>
              </a:rPr>
              <a:t>Mechanical Assembly</a:t>
            </a:r>
            <a:endParaRPr lang="en-US" sz="1050" dirty="0"/>
          </a:p>
        </p:txBody>
      </p:sp>
      <p:sp>
        <p:nvSpPr>
          <p:cNvPr id="30" name="Text 28"/>
          <p:cNvSpPr/>
          <p:nvPr/>
        </p:nvSpPr>
        <p:spPr>
          <a:xfrm>
            <a:off x="3284002" y="2825496"/>
            <a:ext cx="1152144" cy="182880"/>
          </a:xfrm>
          <a:prstGeom prst="rect">
            <a:avLst/>
          </a:prstGeom>
          <a:noFill/>
          <a:ln/>
        </p:spPr>
        <p:txBody>
          <a:bodyPr wrap="square" lIns="0" tIns="0" rIns="0" bIns="0" rtlCol="0" anchor="ctr"/>
          <a:lstStyle/>
          <a:p>
            <a:pPr marL="0" indent="0">
              <a:buNone/>
            </a:pPr>
            <a:r>
              <a:rPr lang="en-US" sz="800" b="1" dirty="0">
                <a:solidFill>
                  <a:srgbClr val="0E96AC"/>
                </a:solidFill>
                <a:latin typeface="Calibri" pitchFamily="34" charset="0"/>
                <a:ea typeface="Calibri" pitchFamily="34" charset="-122"/>
                <a:cs typeface="Calibri" pitchFamily="34" charset="-120"/>
              </a:rPr>
              <a:t>Up next</a:t>
            </a:r>
            <a:endParaRPr lang="en-US" sz="800" dirty="0"/>
          </a:p>
        </p:txBody>
      </p:sp>
      <p:sp>
        <p:nvSpPr>
          <p:cNvPr id="31" name="Shape 29"/>
          <p:cNvSpPr/>
          <p:nvPr/>
        </p:nvSpPr>
        <p:spPr>
          <a:xfrm>
            <a:off x="3686338" y="3346704"/>
            <a:ext cx="347472" cy="347472"/>
          </a:xfrm>
          <a:prstGeom prst="ellipse">
            <a:avLst/>
          </a:prstGeom>
          <a:solidFill>
            <a:srgbClr val="0E96AC"/>
          </a:solidFill>
          <a:ln w="31750">
            <a:solidFill>
              <a:srgbClr val="F6F8FB"/>
            </a:solidFill>
            <a:prstDash val="solid"/>
          </a:ln>
        </p:spPr>
      </p:sp>
      <p:sp>
        <p:nvSpPr>
          <p:cNvPr id="32" name="Text 30"/>
          <p:cNvSpPr/>
          <p:nvPr/>
        </p:nvSpPr>
        <p:spPr>
          <a:xfrm>
            <a:off x="3686338"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3" name="Shape 31"/>
          <p:cNvSpPr/>
          <p:nvPr/>
        </p:nvSpPr>
        <p:spPr>
          <a:xfrm>
            <a:off x="5355771" y="3520440"/>
            <a:ext cx="0" cy="457200"/>
          </a:xfrm>
          <a:prstGeom prst="line">
            <a:avLst/>
          </a:prstGeom>
          <a:noFill/>
          <a:ln w="15875">
            <a:solidFill>
              <a:srgbClr val="E2E8F0"/>
            </a:solidFill>
            <a:prstDash val="solid"/>
          </a:ln>
        </p:spPr>
      </p:sp>
      <p:sp>
        <p:nvSpPr>
          <p:cNvPr id="34" name="Shape 32"/>
          <p:cNvSpPr/>
          <p:nvPr/>
        </p:nvSpPr>
        <p:spPr>
          <a:xfrm>
            <a:off x="4688259"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35" name="Text 33"/>
          <p:cNvSpPr/>
          <p:nvPr/>
        </p:nvSpPr>
        <p:spPr>
          <a:xfrm>
            <a:off x="4779699"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4</a:t>
            </a:r>
            <a:endParaRPr lang="en-US" sz="800" dirty="0"/>
          </a:p>
        </p:txBody>
      </p:sp>
      <p:sp>
        <p:nvSpPr>
          <p:cNvPr id="36" name="Text 34"/>
          <p:cNvSpPr/>
          <p:nvPr/>
        </p:nvSpPr>
        <p:spPr>
          <a:xfrm>
            <a:off x="4779699"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Motor Integration</a:t>
            </a:r>
            <a:endParaRPr lang="en-US" sz="1050" dirty="0"/>
          </a:p>
        </p:txBody>
      </p:sp>
      <p:sp>
        <p:nvSpPr>
          <p:cNvPr id="37" name="Shape 35"/>
          <p:cNvSpPr/>
          <p:nvPr/>
        </p:nvSpPr>
        <p:spPr>
          <a:xfrm>
            <a:off x="5182035" y="3346704"/>
            <a:ext cx="347472" cy="347472"/>
          </a:xfrm>
          <a:prstGeom prst="ellipse">
            <a:avLst/>
          </a:prstGeom>
          <a:solidFill>
            <a:srgbClr val="E2E8F0"/>
          </a:solidFill>
          <a:ln w="31750">
            <a:solidFill>
              <a:srgbClr val="F6F8FB"/>
            </a:solidFill>
            <a:prstDash val="solid"/>
          </a:ln>
        </p:spPr>
      </p:sp>
      <p:sp>
        <p:nvSpPr>
          <p:cNvPr id="38" name="Text 36"/>
          <p:cNvSpPr/>
          <p:nvPr/>
        </p:nvSpPr>
        <p:spPr>
          <a:xfrm>
            <a:off x="5182035"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9" name="Shape 37"/>
          <p:cNvSpPr/>
          <p:nvPr/>
        </p:nvSpPr>
        <p:spPr>
          <a:xfrm>
            <a:off x="6851469" y="3063240"/>
            <a:ext cx="0" cy="457200"/>
          </a:xfrm>
          <a:prstGeom prst="line">
            <a:avLst/>
          </a:prstGeom>
          <a:noFill/>
          <a:ln w="15875">
            <a:solidFill>
              <a:srgbClr val="E2E8F0"/>
            </a:solidFill>
            <a:prstDash val="solid"/>
          </a:ln>
        </p:spPr>
      </p:sp>
      <p:sp>
        <p:nvSpPr>
          <p:cNvPr id="40" name="Shape 38"/>
          <p:cNvSpPr/>
          <p:nvPr/>
        </p:nvSpPr>
        <p:spPr>
          <a:xfrm>
            <a:off x="6183957" y="21488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41" name="Text 39"/>
          <p:cNvSpPr/>
          <p:nvPr/>
        </p:nvSpPr>
        <p:spPr>
          <a:xfrm>
            <a:off x="6275397"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5</a:t>
            </a:r>
            <a:endParaRPr lang="en-US" sz="800" dirty="0"/>
          </a:p>
        </p:txBody>
      </p:sp>
      <p:sp>
        <p:nvSpPr>
          <p:cNvPr id="42" name="Text 40"/>
          <p:cNvSpPr/>
          <p:nvPr/>
        </p:nvSpPr>
        <p:spPr>
          <a:xfrm>
            <a:off x="6275397"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Control Algorithms</a:t>
            </a:r>
            <a:endParaRPr lang="en-US" sz="1050" dirty="0"/>
          </a:p>
        </p:txBody>
      </p:sp>
      <p:sp>
        <p:nvSpPr>
          <p:cNvPr id="43" name="Shape 41"/>
          <p:cNvSpPr/>
          <p:nvPr/>
        </p:nvSpPr>
        <p:spPr>
          <a:xfrm>
            <a:off x="6677733" y="3346704"/>
            <a:ext cx="347472" cy="347472"/>
          </a:xfrm>
          <a:prstGeom prst="ellipse">
            <a:avLst/>
          </a:prstGeom>
          <a:solidFill>
            <a:srgbClr val="E2E8F0"/>
          </a:solidFill>
          <a:ln w="31750">
            <a:solidFill>
              <a:srgbClr val="F6F8FB"/>
            </a:solidFill>
            <a:prstDash val="solid"/>
          </a:ln>
        </p:spPr>
      </p:sp>
      <p:sp>
        <p:nvSpPr>
          <p:cNvPr id="44" name="Text 42"/>
          <p:cNvSpPr/>
          <p:nvPr/>
        </p:nvSpPr>
        <p:spPr>
          <a:xfrm>
            <a:off x="6677733"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5" name="Shape 43"/>
          <p:cNvSpPr/>
          <p:nvPr/>
        </p:nvSpPr>
        <p:spPr>
          <a:xfrm>
            <a:off x="8347166" y="3520440"/>
            <a:ext cx="0" cy="457200"/>
          </a:xfrm>
          <a:prstGeom prst="line">
            <a:avLst/>
          </a:prstGeom>
          <a:noFill/>
          <a:ln w="15875">
            <a:solidFill>
              <a:srgbClr val="E2E8F0"/>
            </a:solidFill>
            <a:prstDash val="solid"/>
          </a:ln>
        </p:spPr>
      </p:sp>
      <p:sp>
        <p:nvSpPr>
          <p:cNvPr id="46" name="Shape 44"/>
          <p:cNvSpPr/>
          <p:nvPr/>
        </p:nvSpPr>
        <p:spPr>
          <a:xfrm>
            <a:off x="7679654"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47" name="Text 45"/>
          <p:cNvSpPr/>
          <p:nvPr/>
        </p:nvSpPr>
        <p:spPr>
          <a:xfrm>
            <a:off x="7771094"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6</a:t>
            </a:r>
            <a:endParaRPr lang="en-US" sz="800" dirty="0"/>
          </a:p>
        </p:txBody>
      </p:sp>
      <p:sp>
        <p:nvSpPr>
          <p:cNvPr id="48" name="Text 46"/>
          <p:cNvSpPr/>
          <p:nvPr/>
        </p:nvSpPr>
        <p:spPr>
          <a:xfrm>
            <a:off x="7771094"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Sensor Integration</a:t>
            </a:r>
            <a:endParaRPr lang="en-US" sz="1050" dirty="0"/>
          </a:p>
        </p:txBody>
      </p:sp>
      <p:sp>
        <p:nvSpPr>
          <p:cNvPr id="49" name="Shape 47"/>
          <p:cNvSpPr/>
          <p:nvPr/>
        </p:nvSpPr>
        <p:spPr>
          <a:xfrm>
            <a:off x="8173430" y="3346704"/>
            <a:ext cx="347472" cy="347472"/>
          </a:xfrm>
          <a:prstGeom prst="ellipse">
            <a:avLst/>
          </a:prstGeom>
          <a:solidFill>
            <a:srgbClr val="E2E8F0"/>
          </a:solidFill>
          <a:ln w="31750">
            <a:solidFill>
              <a:srgbClr val="F6F8FB"/>
            </a:solidFill>
            <a:prstDash val="solid"/>
          </a:ln>
        </p:spPr>
      </p:sp>
      <p:sp>
        <p:nvSpPr>
          <p:cNvPr id="50" name="Text 48"/>
          <p:cNvSpPr/>
          <p:nvPr/>
        </p:nvSpPr>
        <p:spPr>
          <a:xfrm>
            <a:off x="8173430"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1" name="Shape 49"/>
          <p:cNvSpPr/>
          <p:nvPr/>
        </p:nvSpPr>
        <p:spPr>
          <a:xfrm>
            <a:off x="9842863" y="3063240"/>
            <a:ext cx="0" cy="457200"/>
          </a:xfrm>
          <a:prstGeom prst="line">
            <a:avLst/>
          </a:prstGeom>
          <a:noFill/>
          <a:ln w="15875">
            <a:solidFill>
              <a:srgbClr val="E2E8F0"/>
            </a:solidFill>
            <a:prstDash val="solid"/>
          </a:ln>
        </p:spPr>
      </p:sp>
      <p:sp>
        <p:nvSpPr>
          <p:cNvPr id="52" name="Shape 50"/>
          <p:cNvSpPr/>
          <p:nvPr/>
        </p:nvSpPr>
        <p:spPr>
          <a:xfrm>
            <a:off x="9175351" y="21488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53" name="Text 51"/>
          <p:cNvSpPr/>
          <p:nvPr/>
        </p:nvSpPr>
        <p:spPr>
          <a:xfrm>
            <a:off x="9266791"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7</a:t>
            </a:r>
            <a:endParaRPr lang="en-US" sz="800" dirty="0"/>
          </a:p>
        </p:txBody>
      </p:sp>
      <p:sp>
        <p:nvSpPr>
          <p:cNvPr id="54" name="Text 52"/>
          <p:cNvSpPr/>
          <p:nvPr/>
        </p:nvSpPr>
        <p:spPr>
          <a:xfrm>
            <a:off x="9266791"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Testing &amp; Optimisation</a:t>
            </a:r>
            <a:endParaRPr lang="en-US" sz="1050" dirty="0"/>
          </a:p>
        </p:txBody>
      </p:sp>
      <p:sp>
        <p:nvSpPr>
          <p:cNvPr id="55" name="Shape 53"/>
          <p:cNvSpPr/>
          <p:nvPr/>
        </p:nvSpPr>
        <p:spPr>
          <a:xfrm>
            <a:off x="9669127" y="3346704"/>
            <a:ext cx="347472" cy="347472"/>
          </a:xfrm>
          <a:prstGeom prst="ellipse">
            <a:avLst/>
          </a:prstGeom>
          <a:solidFill>
            <a:srgbClr val="E2E8F0"/>
          </a:solidFill>
          <a:ln w="31750">
            <a:solidFill>
              <a:srgbClr val="F6F8FB"/>
            </a:solidFill>
            <a:prstDash val="solid"/>
          </a:ln>
        </p:spPr>
      </p:sp>
      <p:sp>
        <p:nvSpPr>
          <p:cNvPr id="56" name="Text 54"/>
          <p:cNvSpPr/>
          <p:nvPr/>
        </p:nvSpPr>
        <p:spPr>
          <a:xfrm>
            <a:off x="9669127"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7" name="Shape 55"/>
          <p:cNvSpPr/>
          <p:nvPr/>
        </p:nvSpPr>
        <p:spPr>
          <a:xfrm>
            <a:off x="11338560" y="3520440"/>
            <a:ext cx="0" cy="457200"/>
          </a:xfrm>
          <a:prstGeom prst="line">
            <a:avLst/>
          </a:prstGeom>
          <a:noFill/>
          <a:ln w="15875">
            <a:solidFill>
              <a:srgbClr val="E2E8F0"/>
            </a:solidFill>
            <a:prstDash val="solid"/>
          </a:ln>
        </p:spPr>
      </p:sp>
      <p:sp>
        <p:nvSpPr>
          <p:cNvPr id="58" name="Shape 56"/>
          <p:cNvSpPr/>
          <p:nvPr/>
        </p:nvSpPr>
        <p:spPr>
          <a:xfrm>
            <a:off x="10351008"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59" name="Text 57"/>
          <p:cNvSpPr/>
          <p:nvPr/>
        </p:nvSpPr>
        <p:spPr>
          <a:xfrm>
            <a:off x="10442448"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8</a:t>
            </a:r>
            <a:endParaRPr lang="en-US" sz="800" dirty="0"/>
          </a:p>
        </p:txBody>
      </p:sp>
      <p:sp>
        <p:nvSpPr>
          <p:cNvPr id="60" name="Text 58"/>
          <p:cNvSpPr/>
          <p:nvPr/>
        </p:nvSpPr>
        <p:spPr>
          <a:xfrm>
            <a:off x="10442448"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Final Demonstration</a:t>
            </a:r>
            <a:endParaRPr lang="en-US" sz="1050" dirty="0"/>
          </a:p>
        </p:txBody>
      </p:sp>
      <p:sp>
        <p:nvSpPr>
          <p:cNvPr id="61" name="Shape 59"/>
          <p:cNvSpPr/>
          <p:nvPr/>
        </p:nvSpPr>
        <p:spPr>
          <a:xfrm>
            <a:off x="11164824" y="3346704"/>
            <a:ext cx="347472" cy="347472"/>
          </a:xfrm>
          <a:prstGeom prst="ellipse">
            <a:avLst/>
          </a:prstGeom>
          <a:solidFill>
            <a:srgbClr val="E2E8F0"/>
          </a:solidFill>
          <a:ln w="31750">
            <a:solidFill>
              <a:srgbClr val="F6F8FB"/>
            </a:solidFill>
            <a:prstDash val="solid"/>
          </a:ln>
        </p:spPr>
      </p:sp>
      <p:sp>
        <p:nvSpPr>
          <p:cNvPr id="62" name="Text 60"/>
          <p:cNvSpPr/>
          <p:nvPr/>
        </p:nvSpPr>
        <p:spPr>
          <a:xfrm>
            <a:off x="1116482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3" name="Shape 61"/>
          <p:cNvSpPr/>
          <p:nvPr/>
        </p:nvSpPr>
        <p:spPr>
          <a:xfrm>
            <a:off x="1632857" y="5394960"/>
            <a:ext cx="1691640" cy="457200"/>
          </a:xfrm>
          <a:prstGeom prst="roundRect">
            <a:avLst>
              <a:gd name="adj" fmla="val 50000"/>
            </a:avLst>
          </a:prstGeom>
          <a:solidFill>
            <a:srgbClr val="16223A"/>
          </a:solidFill>
          <a:ln/>
        </p:spPr>
      </p:sp>
      <p:sp>
        <p:nvSpPr>
          <p:cNvPr id="64" name="Text 62"/>
          <p:cNvSpPr/>
          <p:nvPr/>
        </p:nvSpPr>
        <p:spPr>
          <a:xfrm>
            <a:off x="1632857" y="5394960"/>
            <a:ext cx="1691640" cy="457200"/>
          </a:xfrm>
          <a:prstGeom prst="rect">
            <a:avLst/>
          </a:prstGeom>
          <a:noFill/>
          <a:ln/>
        </p:spPr>
        <p:txBody>
          <a:bodyPr wrap="square" lIns="0" tIns="0" rIns="0" bIns="0" rtlCol="0" anchor="ctr"/>
          <a:lstStyle/>
          <a:p>
            <a:pPr marL="0" indent="0" algn="ctr">
              <a:buNone/>
            </a:pPr>
            <a:r>
              <a:rPr lang="en-US" sz="950" b="1" dirty="0">
                <a:solidFill>
                  <a:srgbClr val="2BD4E8"/>
                </a:solidFill>
                <a:latin typeface="Calibri" pitchFamily="34" charset="0"/>
                <a:ea typeface="Calibri" pitchFamily="34" charset="-122"/>
                <a:cs typeface="Calibri" pitchFamily="34" charset="-120"/>
              </a:rPr>
              <a:t>WE ARE HERE </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CURRENT ACHIEVEMENTS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Concrete Wins in Quarter One</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1" name="Shape 9"/>
          <p:cNvSpPr/>
          <p:nvPr/>
        </p:nvSpPr>
        <p:spPr>
          <a:xfrm>
            <a:off x="822960" y="1901952"/>
            <a:ext cx="713232" cy="713232"/>
          </a:xfrm>
          <a:prstGeom prst="ellipse">
            <a:avLst/>
          </a:prstGeom>
          <a:solidFill>
            <a:srgbClr val="0E96AC"/>
          </a:solidFill>
          <a:ln/>
        </p:spPr>
      </p:sp>
      <p:pic>
        <p:nvPicPr>
          <p:cNvPr id="12" name="Image 0" descr="preencoded.png"/>
          <p:cNvPicPr>
            <a:picLocks noChangeAspect="1"/>
          </p:cNvPicPr>
          <p:nvPr/>
        </p:nvPicPr>
        <p:blipFill>
          <a:blip r:embed="rId3"/>
          <a:stretch>
            <a:fillRect/>
          </a:stretch>
        </p:blipFill>
        <p:spPr>
          <a:xfrm>
            <a:off x="1001268" y="2080260"/>
            <a:ext cx="356616" cy="356616"/>
          </a:xfrm>
          <a:prstGeom prst="rect">
            <a:avLst/>
          </a:prstGeom>
        </p:spPr>
      </p:pic>
      <p:pic>
        <p:nvPicPr>
          <p:cNvPr id="13" name="Image 1" descr="preencoded.png"/>
          <p:cNvPicPr>
            <a:picLocks noChangeAspect="1"/>
          </p:cNvPicPr>
          <p:nvPr/>
        </p:nvPicPr>
        <p:blipFill>
          <a:blip r:embed="rId4"/>
          <a:stretch>
            <a:fillRect/>
          </a:stretch>
        </p:blipFill>
        <p:spPr>
          <a:xfrm>
            <a:off x="3511296" y="1901952"/>
            <a:ext cx="310896" cy="310896"/>
          </a:xfrm>
          <a:prstGeom prst="rect">
            <a:avLst/>
          </a:prstGeom>
        </p:spPr>
      </p:pic>
      <p:sp>
        <p:nvSpPr>
          <p:cNvPr id="14" name="Text 10"/>
          <p:cNvSpPr/>
          <p:nvPr/>
        </p:nvSpPr>
        <p:spPr>
          <a:xfrm>
            <a:off x="822960"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Architecture finalized</a:t>
            </a:r>
            <a:endParaRPr lang="en-US" sz="1500" dirty="0"/>
          </a:p>
        </p:txBody>
      </p:sp>
      <p:sp>
        <p:nvSpPr>
          <p:cNvPr id="15" name="Text 11"/>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System block diagram locked.</a:t>
            </a:r>
            <a:endParaRPr lang="en-US" sz="1150" dirty="0"/>
          </a:p>
        </p:txBody>
      </p:sp>
      <p:sp>
        <p:nvSpPr>
          <p:cNvPr id="16" name="Shape 12"/>
          <p:cNvSpPr/>
          <p:nvPr/>
        </p:nvSpPr>
        <p:spPr>
          <a:xfrm>
            <a:off x="4370832"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7" name="Shape 13"/>
          <p:cNvSpPr/>
          <p:nvPr/>
        </p:nvSpPr>
        <p:spPr>
          <a:xfrm>
            <a:off x="4645152" y="1901952"/>
            <a:ext cx="713232" cy="713232"/>
          </a:xfrm>
          <a:prstGeom prst="ellipse">
            <a:avLst/>
          </a:prstGeom>
          <a:solidFill>
            <a:srgbClr val="12A678"/>
          </a:solidFill>
          <a:ln/>
        </p:spPr>
      </p:sp>
      <p:pic>
        <p:nvPicPr>
          <p:cNvPr id="18" name="Image 2" descr="preencoded.png"/>
          <p:cNvPicPr>
            <a:picLocks noChangeAspect="1"/>
          </p:cNvPicPr>
          <p:nvPr/>
        </p:nvPicPr>
        <p:blipFill>
          <a:blip r:embed="rId5"/>
          <a:stretch>
            <a:fillRect/>
          </a:stretch>
        </p:blipFill>
        <p:spPr>
          <a:xfrm>
            <a:off x="4823460" y="2080260"/>
            <a:ext cx="356616" cy="356616"/>
          </a:xfrm>
          <a:prstGeom prst="rect">
            <a:avLst/>
          </a:prstGeom>
        </p:spPr>
      </p:pic>
      <p:pic>
        <p:nvPicPr>
          <p:cNvPr id="19" name="Image 3" descr="preencoded.png"/>
          <p:cNvPicPr>
            <a:picLocks noChangeAspect="1"/>
          </p:cNvPicPr>
          <p:nvPr/>
        </p:nvPicPr>
        <p:blipFill>
          <a:blip r:embed="rId4"/>
          <a:stretch>
            <a:fillRect/>
          </a:stretch>
        </p:blipFill>
        <p:spPr>
          <a:xfrm>
            <a:off x="7333488" y="1901952"/>
            <a:ext cx="310896" cy="310896"/>
          </a:xfrm>
          <a:prstGeom prst="rect">
            <a:avLst/>
          </a:prstGeom>
        </p:spPr>
      </p:pic>
      <p:sp>
        <p:nvSpPr>
          <p:cNvPr id="20" name="Text 14"/>
          <p:cNvSpPr/>
          <p:nvPr/>
        </p:nvSpPr>
        <p:spPr>
          <a:xfrm>
            <a:off x="4645152"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CAD design completed</a:t>
            </a:r>
            <a:endParaRPr lang="en-US" sz="1500" dirty="0"/>
          </a:p>
        </p:txBody>
      </p:sp>
      <p:sp>
        <p:nvSpPr>
          <p:cNvPr id="21" name="Text 15"/>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Segment modelled to motor specs.</a:t>
            </a:r>
            <a:endParaRPr lang="en-US" sz="1150" dirty="0"/>
          </a:p>
        </p:txBody>
      </p:sp>
      <p:sp>
        <p:nvSpPr>
          <p:cNvPr id="22" name="Shape 16"/>
          <p:cNvSpPr/>
          <p:nvPr/>
        </p:nvSpPr>
        <p:spPr>
          <a:xfrm>
            <a:off x="8193024"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3" name="Shape 17"/>
          <p:cNvSpPr/>
          <p:nvPr/>
        </p:nvSpPr>
        <p:spPr>
          <a:xfrm>
            <a:off x="8467344" y="1901952"/>
            <a:ext cx="713232" cy="713232"/>
          </a:xfrm>
          <a:prstGeom prst="ellipse">
            <a:avLst/>
          </a:prstGeom>
          <a:solidFill>
            <a:srgbClr val="E08A1E"/>
          </a:solidFill>
          <a:ln/>
        </p:spPr>
      </p:sp>
      <p:pic>
        <p:nvPicPr>
          <p:cNvPr id="24" name="Image 4" descr="preencoded.png"/>
          <p:cNvPicPr>
            <a:picLocks noChangeAspect="1"/>
          </p:cNvPicPr>
          <p:nvPr/>
        </p:nvPicPr>
        <p:blipFill>
          <a:blip r:embed="rId6"/>
          <a:stretch>
            <a:fillRect/>
          </a:stretch>
        </p:blipFill>
        <p:spPr>
          <a:xfrm>
            <a:off x="8645652" y="2080260"/>
            <a:ext cx="356616" cy="356616"/>
          </a:xfrm>
          <a:prstGeom prst="rect">
            <a:avLst/>
          </a:prstGeom>
        </p:spPr>
      </p:pic>
      <p:pic>
        <p:nvPicPr>
          <p:cNvPr id="25" name="Image 5" descr="preencoded.png"/>
          <p:cNvPicPr>
            <a:picLocks noChangeAspect="1"/>
          </p:cNvPicPr>
          <p:nvPr/>
        </p:nvPicPr>
        <p:blipFill>
          <a:blip r:embed="rId4"/>
          <a:stretch>
            <a:fillRect/>
          </a:stretch>
        </p:blipFill>
        <p:spPr>
          <a:xfrm>
            <a:off x="11155680" y="1901952"/>
            <a:ext cx="310896" cy="310896"/>
          </a:xfrm>
          <a:prstGeom prst="rect">
            <a:avLst/>
          </a:prstGeom>
        </p:spPr>
      </p:pic>
      <p:sp>
        <p:nvSpPr>
          <p:cNvPr id="26" name="Text 18"/>
          <p:cNvSpPr/>
          <p:nvPr/>
        </p:nvSpPr>
        <p:spPr>
          <a:xfrm>
            <a:off x="8467344"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Prototype fabrication started</a:t>
            </a:r>
            <a:endParaRPr lang="en-US" sz="1500" dirty="0"/>
          </a:p>
        </p:txBody>
      </p:sp>
      <p:sp>
        <p:nvSpPr>
          <p:cNvPr id="27" name="Text 19"/>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Two segments printed &amp; checked.</a:t>
            </a:r>
            <a:endParaRPr lang="en-US" sz="1150" dirty="0"/>
          </a:p>
        </p:txBody>
      </p:sp>
      <p:sp>
        <p:nvSpPr>
          <p:cNvPr id="28" name="Shape 20"/>
          <p:cNvSpPr/>
          <p:nvPr/>
        </p:nvSpPr>
        <p:spPr>
          <a:xfrm>
            <a:off x="548640"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9" name="Shape 21"/>
          <p:cNvSpPr/>
          <p:nvPr/>
        </p:nvSpPr>
        <p:spPr>
          <a:xfrm>
            <a:off x="822960" y="4151376"/>
            <a:ext cx="713232" cy="713232"/>
          </a:xfrm>
          <a:prstGeom prst="ellipse">
            <a:avLst/>
          </a:prstGeom>
          <a:solidFill>
            <a:srgbClr val="0E96AC"/>
          </a:solidFill>
          <a:ln/>
        </p:spPr>
      </p:sp>
      <p:pic>
        <p:nvPicPr>
          <p:cNvPr id="30" name="Image 6" descr="preencoded.png"/>
          <p:cNvPicPr>
            <a:picLocks noChangeAspect="1"/>
          </p:cNvPicPr>
          <p:nvPr/>
        </p:nvPicPr>
        <p:blipFill>
          <a:blip r:embed="rId7"/>
          <a:stretch>
            <a:fillRect/>
          </a:stretch>
        </p:blipFill>
        <p:spPr>
          <a:xfrm>
            <a:off x="1001268" y="4329684"/>
            <a:ext cx="356616" cy="356616"/>
          </a:xfrm>
          <a:prstGeom prst="rect">
            <a:avLst/>
          </a:prstGeom>
        </p:spPr>
      </p:pic>
      <p:pic>
        <p:nvPicPr>
          <p:cNvPr id="31" name="Image 7" descr="preencoded.png"/>
          <p:cNvPicPr>
            <a:picLocks noChangeAspect="1"/>
          </p:cNvPicPr>
          <p:nvPr/>
        </p:nvPicPr>
        <p:blipFill>
          <a:blip r:embed="rId4"/>
          <a:stretch>
            <a:fillRect/>
          </a:stretch>
        </p:blipFill>
        <p:spPr>
          <a:xfrm>
            <a:off x="3511296" y="4151376"/>
            <a:ext cx="310896" cy="310896"/>
          </a:xfrm>
          <a:prstGeom prst="rect">
            <a:avLst/>
          </a:prstGeom>
        </p:spPr>
      </p:pic>
      <p:sp>
        <p:nvSpPr>
          <p:cNvPr id="32" name="Text 22"/>
          <p:cNvSpPr/>
          <p:nvPr/>
        </p:nvSpPr>
        <p:spPr>
          <a:xfrm>
            <a:off x="822960"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Pi environment established</a:t>
            </a:r>
            <a:endParaRPr lang="en-US" sz="1500" dirty="0"/>
          </a:p>
        </p:txBody>
      </p:sp>
      <p:sp>
        <p:nvSpPr>
          <p:cNvPr id="33" name="Text 23"/>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OS, network and tooling ready.</a:t>
            </a:r>
            <a:endParaRPr lang="en-US" sz="1150" dirty="0"/>
          </a:p>
        </p:txBody>
      </p:sp>
      <p:sp>
        <p:nvSpPr>
          <p:cNvPr id="34" name="Shape 24"/>
          <p:cNvSpPr/>
          <p:nvPr/>
        </p:nvSpPr>
        <p:spPr>
          <a:xfrm>
            <a:off x="4370832"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35" name="Shape 25"/>
          <p:cNvSpPr/>
          <p:nvPr/>
        </p:nvSpPr>
        <p:spPr>
          <a:xfrm>
            <a:off x="4645152" y="4151376"/>
            <a:ext cx="713232" cy="713232"/>
          </a:xfrm>
          <a:prstGeom prst="ellipse">
            <a:avLst/>
          </a:prstGeom>
          <a:solidFill>
            <a:srgbClr val="12A678"/>
          </a:solidFill>
          <a:ln/>
        </p:spPr>
      </p:sp>
      <p:pic>
        <p:nvPicPr>
          <p:cNvPr id="36" name="Image 8" descr="preencoded.png"/>
          <p:cNvPicPr>
            <a:picLocks noChangeAspect="1"/>
          </p:cNvPicPr>
          <p:nvPr/>
        </p:nvPicPr>
        <p:blipFill>
          <a:blip r:embed="rId8"/>
          <a:stretch>
            <a:fillRect/>
          </a:stretch>
        </p:blipFill>
        <p:spPr>
          <a:xfrm>
            <a:off x="4823460" y="4329684"/>
            <a:ext cx="356616" cy="356616"/>
          </a:xfrm>
          <a:prstGeom prst="rect">
            <a:avLst/>
          </a:prstGeom>
        </p:spPr>
      </p:pic>
      <p:pic>
        <p:nvPicPr>
          <p:cNvPr id="37" name="Image 9" descr="preencoded.png"/>
          <p:cNvPicPr>
            <a:picLocks noChangeAspect="1"/>
          </p:cNvPicPr>
          <p:nvPr/>
        </p:nvPicPr>
        <p:blipFill>
          <a:blip r:embed="rId4"/>
          <a:stretch>
            <a:fillRect/>
          </a:stretch>
        </p:blipFill>
        <p:spPr>
          <a:xfrm>
            <a:off x="7333488" y="4151376"/>
            <a:ext cx="310896" cy="310896"/>
          </a:xfrm>
          <a:prstGeom prst="rect">
            <a:avLst/>
          </a:prstGeom>
        </p:spPr>
      </p:pic>
      <p:sp>
        <p:nvSpPr>
          <p:cNvPr id="38" name="Text 26"/>
          <p:cNvSpPr/>
          <p:nvPr/>
        </p:nvSpPr>
        <p:spPr>
          <a:xfrm>
            <a:off x="4645152"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GitHub workflow operational</a:t>
            </a:r>
            <a:endParaRPr lang="en-US" sz="1500" dirty="0"/>
          </a:p>
        </p:txBody>
      </p:sp>
      <p:sp>
        <p:nvSpPr>
          <p:cNvPr id="39" name="Text 27"/>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Version control and docs live.</a:t>
            </a:r>
            <a:endParaRPr lang="en-US" sz="1150" dirty="0"/>
          </a:p>
        </p:txBody>
      </p:sp>
      <p:sp>
        <p:nvSpPr>
          <p:cNvPr id="40" name="Shape 28"/>
          <p:cNvSpPr/>
          <p:nvPr/>
        </p:nvSpPr>
        <p:spPr>
          <a:xfrm>
            <a:off x="8193024"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41" name="Shape 29"/>
          <p:cNvSpPr/>
          <p:nvPr/>
        </p:nvSpPr>
        <p:spPr>
          <a:xfrm>
            <a:off x="8467344" y="4151376"/>
            <a:ext cx="713232" cy="713232"/>
          </a:xfrm>
          <a:prstGeom prst="ellipse">
            <a:avLst/>
          </a:prstGeom>
          <a:solidFill>
            <a:srgbClr val="E08A1E"/>
          </a:solidFill>
          <a:ln/>
        </p:spPr>
      </p:sp>
      <p:pic>
        <p:nvPicPr>
          <p:cNvPr id="42" name="Image 10" descr="preencoded.png"/>
          <p:cNvPicPr>
            <a:picLocks noChangeAspect="1"/>
          </p:cNvPicPr>
          <p:nvPr/>
        </p:nvPicPr>
        <p:blipFill>
          <a:blip r:embed="rId9"/>
          <a:stretch>
            <a:fillRect/>
          </a:stretch>
        </p:blipFill>
        <p:spPr>
          <a:xfrm>
            <a:off x="8645652" y="4329684"/>
            <a:ext cx="356616" cy="356616"/>
          </a:xfrm>
          <a:prstGeom prst="rect">
            <a:avLst/>
          </a:prstGeom>
        </p:spPr>
      </p:pic>
      <p:pic>
        <p:nvPicPr>
          <p:cNvPr id="43" name="Image 11" descr="preencoded.png"/>
          <p:cNvPicPr>
            <a:picLocks noChangeAspect="1"/>
          </p:cNvPicPr>
          <p:nvPr/>
        </p:nvPicPr>
        <p:blipFill>
          <a:blip r:embed="rId4"/>
          <a:stretch>
            <a:fillRect/>
          </a:stretch>
        </p:blipFill>
        <p:spPr>
          <a:xfrm>
            <a:off x="11155680" y="4151376"/>
            <a:ext cx="310896" cy="310896"/>
          </a:xfrm>
          <a:prstGeom prst="rect">
            <a:avLst/>
          </a:prstGeom>
        </p:spPr>
      </p:pic>
      <p:sp>
        <p:nvSpPr>
          <p:cNvPr id="44" name="Text 30"/>
          <p:cNvSpPr/>
          <p:nvPr/>
        </p:nvSpPr>
        <p:spPr>
          <a:xfrm>
            <a:off x="8467344"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Procurement initiated</a:t>
            </a:r>
            <a:endParaRPr lang="en-US" sz="1500" dirty="0"/>
          </a:p>
        </p:txBody>
      </p:sp>
      <p:sp>
        <p:nvSpPr>
          <p:cNvPr id="45" name="Text 31"/>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Core compute received; rest ordered.</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 dockstate="right" visibility="0" width="700"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7BAC171A-BA13-4D20-B9AF-0C30E18506C1}">
  <we:reference id="wa200010001" version="1.0.0.1" store="en-US" storeType="OMEX"/>
  <we:alternateReferences>
    <we:reference id="wa200010001" version="1.0.0.1" store="en-US" storeType="OMEX"/>
  </we:alternateReferences>
  <we:properties>
    <we:property name="claude.fileId" value="&quot;04626739-5839-4d70-8398-f326990042ea&quot;"/>
  </we:properties>
  <we:bindings/>
  <we:snapshot xmlns:r="http://schemas.openxmlformats.org/officeDocument/2006/relationships"/>
</we:webextension>
</file>

<file path=ppt/webextensions/webextension2.xml><?xml version="1.0" encoding="utf-8"?>
<we:webextension xmlns:we="http://schemas.microsoft.com/office/webextensions/webextension/2010/11" id="{A93CA139-346A-433A-B20E-75068D131751}">
  <we:reference id="wa200007130" version="1.0.0.1" store="en-IN"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561</TotalTime>
  <Words>1459</Words>
  <Application>Microsoft Office PowerPoint</Application>
  <PresentationFormat>Widescreen</PresentationFormat>
  <Paragraphs>329</Paragraphs>
  <Slides>13</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Snake Robot with Dynamixel Motors</dc:title>
  <dc:subject>PptxGenJS Presentation</dc:subject>
  <dc:creator>SURGE 090</dc:creator>
  <cp:lastModifiedBy>Shashank Jangir</cp:lastModifiedBy>
  <cp:revision>16</cp:revision>
  <dcterms:created xsi:type="dcterms:W3CDTF">2026-06-10T16:14:03Z</dcterms:created>
  <dcterms:modified xsi:type="dcterms:W3CDTF">2026-06-22T04:45:21Z</dcterms:modified>
</cp:coreProperties>
</file>