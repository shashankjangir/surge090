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87" r:id="rId2"/>
    <p:sldId id="271" r:id="rId3"/>
    <p:sldId id="273" r:id="rId4"/>
    <p:sldId id="258" r:id="rId5"/>
    <p:sldId id="259" r:id="rId6"/>
    <p:sldId id="305" r:id="rId7"/>
    <p:sldId id="275" r:id="rId8"/>
    <p:sldId id="262" r:id="rId9"/>
    <p:sldId id="298" r:id="rId10"/>
    <p:sldId id="281" r:id="rId11"/>
    <p:sldId id="285" r:id="rId12"/>
    <p:sldId id="268" r:id="rId13"/>
    <p:sldId id="269" r:id="rId14"/>
    <p:sldId id="308" r:id="rId15"/>
    <p:sldId id="306"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15" autoAdjust="0"/>
    <p:restoredTop sz="94610"/>
  </p:normalViewPr>
  <p:slideViewPr>
    <p:cSldViewPr snapToGrid="0" snapToObjects="1">
      <p:cViewPr varScale="1">
        <p:scale>
          <a:sx n="68" d="100"/>
          <a:sy n="68" d="100"/>
        </p:scale>
        <p:origin x="57" y="62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2554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for the 25% progress review of the Smart Snake Robot project, Group SURGE 090. Introduce the team and milestone scope.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concrete goals across mechanics, actuation, computing, control, sensing and scalability. These map to the timeline phases.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a quarter done: ten tasks closed across research, mechanical design, fabrication and the compute platform.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Controller at the centre. Solid cyan = implemented/in progress; dashed amber (sensors, camera) = designed-in but scheduled for a later phase.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 modelled to real XL330 dimensions so printed parts mate with the actual servos. Replace the placeholder with CAD screenshots.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segments printed and measured, validating the CAD. Next step is servo integration. Drop prototype photos on the left.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Control computer is live: OS installed, networked, remotely accessible, exercised with intro GPIO and Python. De-risks software before motors arrive.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BOM from the purchasing sheet. Compute hardware in hand; actuation and power chain ordered. Total approx Rs 33,760.</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repo is the single source of truth — CAD, docs, tracked iterations — with a collaboration workflow already running.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Eight-phase plan: Phase 1 complete, Phase 2 active, Phase 3 next — about 25%. Phases 4-8 cover integration, control, sensing, testing, demo.</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headline achievements: design, fabrication, compute, tooling and procurement all moving — a working foundation.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hyperlink" Target="https://github.com/bhaveshbanshiwal/Snake_SURGE" TargetMode="Externa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6.png"/><Relationship Id="rId7"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png"/></Relationships>
</file>

<file path=ppt/slides/_rels/slide8.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10" Type="http://schemas.openxmlformats.org/officeDocument/2006/relationships/image" Target="../media/image26.jpeg"/><Relationship Id="rId4" Type="http://schemas.openxmlformats.org/officeDocument/2006/relationships/image" Target="../media/image21.png"/><Relationship Id="rId9" Type="http://schemas.openxmlformats.org/officeDocument/2006/relationships/image" Target="../media/image25.jpeg"/></Relationships>
</file>

<file path=ppt/slides/_rels/slide9.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7.png"/><Relationship Id="rId7" Type="http://schemas.openxmlformats.org/officeDocument/2006/relationships/image" Target="../media/image29.png"/><Relationship Id="rId12" Type="http://schemas.openxmlformats.org/officeDocument/2006/relationships/image" Target="../media/image33.jpe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8.png"/><Relationship Id="rId11" Type="http://schemas.openxmlformats.org/officeDocument/2006/relationships/image" Target="../media/image32.jpeg"/><Relationship Id="rId5" Type="http://schemas.openxmlformats.org/officeDocument/2006/relationships/image" Target="../media/image22.png"/><Relationship Id="rId10" Type="http://schemas.openxmlformats.org/officeDocument/2006/relationships/image" Target="../media/image31.jpg"/><Relationship Id="rId4" Type="http://schemas.openxmlformats.org/officeDocument/2006/relationships/image" Target="../media/image11.png"/><Relationship Id="rId9" Type="http://schemas.openxmlformats.org/officeDocument/2006/relationships/image" Target="../media/image30.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36.png"/><Relationship Id="rId4" Type="http://schemas.openxmlformats.org/officeDocument/2006/relationships/image" Target="../media/image35.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7.png"/><Relationship Id="rId7" Type="http://schemas.openxmlformats.org/officeDocument/2006/relationships/image" Target="../media/image27.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38.png"/><Relationship Id="rId5" Type="http://schemas.openxmlformats.org/officeDocument/2006/relationships/image" Target="../media/image24.png"/><Relationship Id="rId4" Type="http://schemas.openxmlformats.org/officeDocument/2006/relationships/image" Target="../media/image11.png"/><Relationship Id="rId9" Type="http://schemas.openxmlformats.org/officeDocument/2006/relationships/image" Target="../media/image4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A2E"/>
        </a:solidFill>
        <a:effectLst/>
      </p:bgPr>
    </p:bg>
    <p:spTree>
      <p:nvGrpSpPr>
        <p:cNvPr id="1" name=""/>
        <p:cNvGrpSpPr/>
        <p:nvPr/>
      </p:nvGrpSpPr>
      <p:grpSpPr>
        <a:xfrm>
          <a:off x="0" y="0"/>
          <a:ext cx="0" cy="0"/>
          <a:chOff x="0" y="0"/>
          <a:chExt cx="0" cy="0"/>
        </a:xfrm>
      </p:grpSpPr>
      <p:sp>
        <p:nvSpPr>
          <p:cNvPr id="2" name="Shape 0"/>
          <p:cNvSpPr/>
          <p:nvPr/>
        </p:nvSpPr>
        <p:spPr>
          <a:xfrm>
            <a:off x="8666598" y="-1828800"/>
            <a:ext cx="5669280" cy="5669280"/>
          </a:xfrm>
          <a:prstGeom prst="ellipse">
            <a:avLst/>
          </a:prstGeom>
          <a:solidFill>
            <a:srgbClr val="1E2A45"/>
          </a:solidFill>
          <a:ln/>
        </p:spPr>
        <p:txBody>
          <a:bodyPr/>
          <a:lstStyle/>
          <a:p>
            <a:endParaRPr lang="en-IN"/>
          </a:p>
        </p:txBody>
      </p:sp>
      <p:sp>
        <p:nvSpPr>
          <p:cNvPr id="3" name="Shape 1"/>
          <p:cNvSpPr/>
          <p:nvPr/>
        </p:nvSpPr>
        <p:spPr>
          <a:xfrm>
            <a:off x="10058400" y="3474720"/>
            <a:ext cx="4206240" cy="4206240"/>
          </a:xfrm>
          <a:prstGeom prst="ellipse">
            <a:avLst/>
          </a:prstGeom>
          <a:solidFill>
            <a:srgbClr val="2A3958"/>
          </a:solidFill>
          <a:ln/>
        </p:spPr>
        <p:txBody>
          <a:bodyPr/>
          <a:lstStyle/>
          <a:p>
            <a:endParaRPr lang="en-IN"/>
          </a:p>
        </p:txBody>
      </p:sp>
      <p:sp>
        <p:nvSpPr>
          <p:cNvPr id="4" name="Shape 2"/>
          <p:cNvSpPr/>
          <p:nvPr/>
        </p:nvSpPr>
        <p:spPr>
          <a:xfrm>
            <a:off x="777240" y="777240"/>
            <a:ext cx="2514600" cy="457200"/>
          </a:xfrm>
          <a:prstGeom prst="roundRect">
            <a:avLst>
              <a:gd name="adj" fmla="val 50000"/>
            </a:avLst>
          </a:prstGeom>
          <a:solidFill>
            <a:srgbClr val="0E96AC"/>
          </a:solidFill>
          <a:ln/>
        </p:spPr>
        <p:txBody>
          <a:bodyPr/>
          <a:lstStyle/>
          <a:p>
            <a:endParaRPr lang="en-IN"/>
          </a:p>
        </p:txBody>
      </p:sp>
      <p:sp>
        <p:nvSpPr>
          <p:cNvPr id="5" name="Text 3"/>
          <p:cNvSpPr/>
          <p:nvPr/>
        </p:nvSpPr>
        <p:spPr>
          <a:xfrm>
            <a:off x="777240" y="777240"/>
            <a:ext cx="2514600" cy="457200"/>
          </a:xfrm>
          <a:prstGeom prst="rect">
            <a:avLst/>
          </a:prstGeom>
          <a:noFill/>
          <a:ln/>
        </p:spPr>
        <p:txBody>
          <a:bodyPr wrap="square" lIns="0" tIns="0" rIns="0" bIns="0"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GROUP CODE · SURGE 090</a:t>
            </a:r>
            <a:endParaRPr lang="en-US" sz="1200" dirty="0"/>
          </a:p>
        </p:txBody>
      </p:sp>
      <p:sp>
        <p:nvSpPr>
          <p:cNvPr id="6" name="Text 4"/>
          <p:cNvSpPr/>
          <p:nvPr/>
        </p:nvSpPr>
        <p:spPr>
          <a:xfrm>
            <a:off x="822960" y="1828800"/>
            <a:ext cx="8229600" cy="320040"/>
          </a:xfrm>
          <a:prstGeom prst="rect">
            <a:avLst/>
          </a:prstGeom>
          <a:noFill/>
          <a:ln/>
        </p:spPr>
        <p:txBody>
          <a:bodyPr wrap="square" lIns="0" tIns="0" rIns="0" bIns="0" rtlCol="0" anchor="ctr"/>
          <a:lstStyle/>
          <a:p>
            <a:r>
              <a:rPr lang="en-IN" sz="2000" dirty="0">
                <a:solidFill>
                  <a:schemeClr val="tx2">
                    <a:lumMod val="60000"/>
                    <a:lumOff val="40000"/>
                  </a:schemeClr>
                </a:solidFill>
              </a:rPr>
              <a:t>Progress Review (Design &amp; Development)</a:t>
            </a:r>
            <a:endParaRPr lang="en-US" dirty="0">
              <a:solidFill>
                <a:schemeClr val="tx2">
                  <a:lumMod val="60000"/>
                  <a:lumOff val="40000"/>
                </a:schemeClr>
              </a:solidFill>
            </a:endParaRPr>
          </a:p>
        </p:txBody>
      </p:sp>
      <p:sp>
        <p:nvSpPr>
          <p:cNvPr id="7" name="Text 5"/>
          <p:cNvSpPr/>
          <p:nvPr/>
        </p:nvSpPr>
        <p:spPr>
          <a:xfrm>
            <a:off x="777240" y="2194560"/>
            <a:ext cx="8412480" cy="914400"/>
          </a:xfrm>
          <a:prstGeom prst="rect">
            <a:avLst/>
          </a:prstGeom>
          <a:noFill/>
          <a:ln/>
        </p:spPr>
        <p:txBody>
          <a:bodyPr wrap="square" lIns="0" tIns="0" rIns="0" bIns="0" rtlCol="0" anchor="ctr"/>
          <a:lstStyle/>
          <a:p>
            <a:pPr marL="0" indent="0">
              <a:buNone/>
            </a:pPr>
            <a:r>
              <a:rPr lang="en-US" sz="5200" b="1" dirty="0">
                <a:solidFill>
                  <a:srgbClr val="FFFFFF"/>
                </a:solidFill>
                <a:latin typeface="Calibri" pitchFamily="34" charset="0"/>
                <a:ea typeface="Calibri" pitchFamily="34" charset="-122"/>
                <a:cs typeface="Calibri" pitchFamily="34" charset="-120"/>
              </a:rPr>
              <a:t>Smart Snake Robot</a:t>
            </a:r>
            <a:endParaRPr lang="en-US" sz="5200" dirty="0"/>
          </a:p>
        </p:txBody>
      </p:sp>
      <p:sp>
        <p:nvSpPr>
          <p:cNvPr id="8" name="Text 6"/>
          <p:cNvSpPr/>
          <p:nvPr/>
        </p:nvSpPr>
        <p:spPr>
          <a:xfrm>
            <a:off x="804672" y="3127248"/>
            <a:ext cx="8778240" cy="548640"/>
          </a:xfrm>
          <a:prstGeom prst="rect">
            <a:avLst/>
          </a:prstGeom>
          <a:noFill/>
          <a:ln/>
        </p:spPr>
        <p:txBody>
          <a:bodyPr wrap="square" lIns="0" tIns="0" rIns="0" bIns="0" rtlCol="0" anchor="ctr"/>
          <a:lstStyle/>
          <a:p>
            <a:pPr marL="0" indent="0">
              <a:buNone/>
            </a:pPr>
            <a:r>
              <a:rPr lang="en-US" sz="2400" dirty="0">
                <a:solidFill>
                  <a:srgbClr val="2BD4E8"/>
                </a:solidFill>
                <a:latin typeface="Calibri" pitchFamily="34" charset="0"/>
                <a:ea typeface="Calibri" pitchFamily="34" charset="-122"/>
                <a:cs typeface="Calibri" pitchFamily="34" charset="-120"/>
              </a:rPr>
              <a:t>with Dynamixel Smart Servo Motors</a:t>
            </a:r>
            <a:endParaRPr lang="en-US" sz="2400" dirty="0"/>
          </a:p>
        </p:txBody>
      </p:sp>
      <p:sp>
        <p:nvSpPr>
          <p:cNvPr id="16" name="Shape 14"/>
          <p:cNvSpPr/>
          <p:nvPr/>
        </p:nvSpPr>
        <p:spPr>
          <a:xfrm>
            <a:off x="4791456" y="3977640"/>
            <a:ext cx="457200" cy="457200"/>
          </a:xfrm>
          <a:prstGeom prst="ellipse">
            <a:avLst/>
          </a:prstGeom>
          <a:solidFill>
            <a:srgbClr val="2A3958"/>
          </a:solidFill>
          <a:ln/>
        </p:spPr>
        <p:txBody>
          <a:bodyPr/>
          <a:lstStyle/>
          <a:p>
            <a:endParaRPr lang="en-IN"/>
          </a:p>
        </p:txBody>
      </p:sp>
      <p:pic>
        <p:nvPicPr>
          <p:cNvPr id="17" name="Image 0" descr="preencoded.png"/>
          <p:cNvPicPr>
            <a:picLocks noChangeAspect="1"/>
          </p:cNvPicPr>
          <p:nvPr/>
        </p:nvPicPr>
        <p:blipFill>
          <a:blip r:embed="rId3"/>
          <a:stretch>
            <a:fillRect/>
          </a:stretch>
        </p:blipFill>
        <p:spPr>
          <a:xfrm>
            <a:off x="4892040" y="4078224"/>
            <a:ext cx="256032" cy="256032"/>
          </a:xfrm>
          <a:prstGeom prst="rect">
            <a:avLst/>
          </a:prstGeom>
        </p:spPr>
      </p:pic>
      <p:sp>
        <p:nvSpPr>
          <p:cNvPr id="18" name="Shape 15"/>
          <p:cNvSpPr/>
          <p:nvPr/>
        </p:nvSpPr>
        <p:spPr>
          <a:xfrm>
            <a:off x="777240" y="4983480"/>
            <a:ext cx="2670048" cy="1234440"/>
          </a:xfrm>
          <a:prstGeom prst="roundRect">
            <a:avLst>
              <a:gd name="adj" fmla="val 5926"/>
            </a:avLst>
          </a:prstGeom>
          <a:solidFill>
            <a:srgbClr val="1E2A45"/>
          </a:solidFill>
          <a:ln w="12700">
            <a:solidFill>
              <a:srgbClr val="2A3958"/>
            </a:solidFill>
            <a:prstDash val="solid"/>
          </a:ln>
        </p:spPr>
        <p:txBody>
          <a:bodyPr/>
          <a:lstStyle/>
          <a:p>
            <a:endParaRPr lang="en-IN"/>
          </a:p>
        </p:txBody>
      </p:sp>
      <p:sp>
        <p:nvSpPr>
          <p:cNvPr id="19" name="Shape 16"/>
          <p:cNvSpPr/>
          <p:nvPr/>
        </p:nvSpPr>
        <p:spPr>
          <a:xfrm>
            <a:off x="978408" y="5230368"/>
            <a:ext cx="274320" cy="274320"/>
          </a:xfrm>
          <a:prstGeom prst="ellipse">
            <a:avLst/>
          </a:prstGeom>
          <a:solidFill>
            <a:srgbClr val="0E96AC"/>
          </a:solidFill>
          <a:ln/>
        </p:spPr>
        <p:txBody>
          <a:bodyPr/>
          <a:lstStyle/>
          <a:p>
            <a:endParaRPr lang="en-IN"/>
          </a:p>
        </p:txBody>
      </p:sp>
      <p:sp>
        <p:nvSpPr>
          <p:cNvPr id="20" name="Text 17"/>
          <p:cNvSpPr/>
          <p:nvPr/>
        </p:nvSpPr>
        <p:spPr>
          <a:xfrm>
            <a:off x="1362456" y="5184648"/>
            <a:ext cx="1938528" cy="36576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Shashank Jangir</a:t>
            </a:r>
            <a:endParaRPr lang="en-US" sz="1450" dirty="0"/>
          </a:p>
        </p:txBody>
      </p:sp>
      <p:sp>
        <p:nvSpPr>
          <p:cNvPr id="21" name="Text 18"/>
          <p:cNvSpPr/>
          <p:nvPr/>
        </p:nvSpPr>
        <p:spPr>
          <a:xfrm>
            <a:off x="978408" y="5660136"/>
            <a:ext cx="2304288" cy="228600"/>
          </a:xfrm>
          <a:prstGeom prst="rect">
            <a:avLst/>
          </a:prstGeom>
          <a:noFill/>
          <a:ln/>
        </p:spPr>
        <p:txBody>
          <a:bodyPr wrap="square" lIns="0" tIns="0" rIns="0" bIns="0" rtlCol="0" anchor="ctr"/>
          <a:lstStyle/>
          <a:p>
            <a:pPr marL="0" indent="0">
              <a:buNone/>
            </a:pPr>
            <a:r>
              <a:rPr lang="en-US" sz="900" kern="0" spc="100" dirty="0">
                <a:solidFill>
                  <a:srgbClr val="6B7890"/>
                </a:solidFill>
                <a:latin typeface="Calibri" pitchFamily="34" charset="0"/>
                <a:ea typeface="Calibri" pitchFamily="34" charset="-122"/>
                <a:cs typeface="Calibri" pitchFamily="34" charset="-120"/>
              </a:rPr>
              <a:t>ENTRY NO.</a:t>
            </a:r>
            <a:endParaRPr lang="en-US" sz="900" dirty="0"/>
          </a:p>
        </p:txBody>
      </p:sp>
      <p:sp>
        <p:nvSpPr>
          <p:cNvPr id="22" name="Text 19"/>
          <p:cNvSpPr/>
          <p:nvPr/>
        </p:nvSpPr>
        <p:spPr>
          <a:xfrm>
            <a:off x="978408" y="5852160"/>
            <a:ext cx="2304288" cy="274320"/>
          </a:xfrm>
          <a:prstGeom prst="rect">
            <a:avLst/>
          </a:prstGeom>
          <a:noFill/>
          <a:ln/>
        </p:spPr>
        <p:txBody>
          <a:bodyPr wrap="square" lIns="0" tIns="0" rIns="0" bIns="0" rtlCol="0" anchor="ctr"/>
          <a:lstStyle/>
          <a:p>
            <a:pPr marL="0" indent="0">
              <a:buNone/>
            </a:pPr>
            <a:r>
              <a:rPr lang="en-US" sz="1300" b="1" dirty="0">
                <a:solidFill>
                  <a:srgbClr val="2BD4E8"/>
                </a:solidFill>
                <a:latin typeface="Calibri" pitchFamily="34" charset="0"/>
                <a:ea typeface="Calibri" pitchFamily="34" charset="-122"/>
                <a:cs typeface="Calibri" pitchFamily="34" charset="-120"/>
              </a:rPr>
              <a:t>2024EE11048</a:t>
            </a:r>
            <a:endParaRPr lang="en-US" sz="1300" dirty="0"/>
          </a:p>
        </p:txBody>
      </p:sp>
      <p:sp>
        <p:nvSpPr>
          <p:cNvPr id="23" name="Shape 20"/>
          <p:cNvSpPr/>
          <p:nvPr/>
        </p:nvSpPr>
        <p:spPr>
          <a:xfrm>
            <a:off x="3648456" y="4983480"/>
            <a:ext cx="2670048" cy="1234440"/>
          </a:xfrm>
          <a:prstGeom prst="roundRect">
            <a:avLst>
              <a:gd name="adj" fmla="val 5926"/>
            </a:avLst>
          </a:prstGeom>
          <a:solidFill>
            <a:srgbClr val="1E2A45"/>
          </a:solidFill>
          <a:ln w="12700">
            <a:solidFill>
              <a:srgbClr val="2A3958"/>
            </a:solidFill>
            <a:prstDash val="solid"/>
          </a:ln>
        </p:spPr>
        <p:txBody>
          <a:bodyPr/>
          <a:lstStyle/>
          <a:p>
            <a:endParaRPr lang="en-IN"/>
          </a:p>
        </p:txBody>
      </p:sp>
      <p:sp>
        <p:nvSpPr>
          <p:cNvPr id="24" name="Shape 21"/>
          <p:cNvSpPr/>
          <p:nvPr/>
        </p:nvSpPr>
        <p:spPr>
          <a:xfrm>
            <a:off x="3849624" y="5230368"/>
            <a:ext cx="274320" cy="274320"/>
          </a:xfrm>
          <a:prstGeom prst="ellipse">
            <a:avLst/>
          </a:prstGeom>
          <a:solidFill>
            <a:srgbClr val="0E96AC"/>
          </a:solidFill>
          <a:ln/>
        </p:spPr>
        <p:txBody>
          <a:bodyPr/>
          <a:lstStyle/>
          <a:p>
            <a:endParaRPr lang="en-IN"/>
          </a:p>
        </p:txBody>
      </p:sp>
      <p:sp>
        <p:nvSpPr>
          <p:cNvPr id="25" name="Text 22"/>
          <p:cNvSpPr/>
          <p:nvPr/>
        </p:nvSpPr>
        <p:spPr>
          <a:xfrm>
            <a:off x="4233672" y="5184648"/>
            <a:ext cx="1938528" cy="36576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Bhavesh Bansiwal</a:t>
            </a:r>
            <a:endParaRPr lang="en-US" sz="1450" dirty="0"/>
          </a:p>
        </p:txBody>
      </p:sp>
      <p:sp>
        <p:nvSpPr>
          <p:cNvPr id="26" name="Text 23"/>
          <p:cNvSpPr/>
          <p:nvPr/>
        </p:nvSpPr>
        <p:spPr>
          <a:xfrm>
            <a:off x="3849624" y="5660136"/>
            <a:ext cx="2304288" cy="228600"/>
          </a:xfrm>
          <a:prstGeom prst="rect">
            <a:avLst/>
          </a:prstGeom>
          <a:noFill/>
          <a:ln/>
        </p:spPr>
        <p:txBody>
          <a:bodyPr wrap="square" lIns="0" tIns="0" rIns="0" bIns="0" rtlCol="0" anchor="ctr"/>
          <a:lstStyle/>
          <a:p>
            <a:pPr marL="0" indent="0">
              <a:buNone/>
            </a:pPr>
            <a:r>
              <a:rPr lang="en-US" sz="900" kern="0" spc="100" dirty="0">
                <a:solidFill>
                  <a:srgbClr val="6B7890"/>
                </a:solidFill>
                <a:latin typeface="Calibri" pitchFamily="34" charset="0"/>
                <a:ea typeface="Calibri" pitchFamily="34" charset="-122"/>
                <a:cs typeface="Calibri" pitchFamily="34" charset="-120"/>
              </a:rPr>
              <a:t>ENTRY NO.</a:t>
            </a:r>
            <a:endParaRPr lang="en-US" sz="900" dirty="0"/>
          </a:p>
        </p:txBody>
      </p:sp>
      <p:sp>
        <p:nvSpPr>
          <p:cNvPr id="27" name="Text 24"/>
          <p:cNvSpPr/>
          <p:nvPr/>
        </p:nvSpPr>
        <p:spPr>
          <a:xfrm>
            <a:off x="3849624" y="5852160"/>
            <a:ext cx="2304288" cy="274320"/>
          </a:xfrm>
          <a:prstGeom prst="rect">
            <a:avLst/>
          </a:prstGeom>
          <a:noFill/>
          <a:ln/>
        </p:spPr>
        <p:txBody>
          <a:bodyPr wrap="square" lIns="0" tIns="0" rIns="0" bIns="0" rtlCol="0" anchor="ctr"/>
          <a:lstStyle/>
          <a:p>
            <a:pPr marL="0" indent="0">
              <a:buNone/>
            </a:pPr>
            <a:r>
              <a:rPr lang="en-US" sz="1300" b="1" dirty="0">
                <a:solidFill>
                  <a:srgbClr val="2BD4E8"/>
                </a:solidFill>
                <a:latin typeface="Calibri" pitchFamily="34" charset="0"/>
                <a:ea typeface="Calibri" pitchFamily="34" charset="-122"/>
                <a:cs typeface="Calibri" pitchFamily="34" charset="-120"/>
              </a:rPr>
              <a:t>2024ME10487</a:t>
            </a:r>
            <a:endParaRPr lang="en-US" sz="1300" dirty="0"/>
          </a:p>
        </p:txBody>
      </p:sp>
      <p:sp>
        <p:nvSpPr>
          <p:cNvPr id="28" name="Shape 25"/>
          <p:cNvSpPr/>
          <p:nvPr/>
        </p:nvSpPr>
        <p:spPr>
          <a:xfrm>
            <a:off x="6519672" y="4983480"/>
            <a:ext cx="2670048" cy="1234440"/>
          </a:xfrm>
          <a:prstGeom prst="roundRect">
            <a:avLst>
              <a:gd name="adj" fmla="val 5926"/>
            </a:avLst>
          </a:prstGeom>
          <a:solidFill>
            <a:srgbClr val="1E2A45"/>
          </a:solidFill>
          <a:ln w="12700">
            <a:solidFill>
              <a:srgbClr val="2A3958"/>
            </a:solidFill>
            <a:prstDash val="solid"/>
          </a:ln>
        </p:spPr>
        <p:txBody>
          <a:bodyPr/>
          <a:lstStyle/>
          <a:p>
            <a:endParaRPr lang="en-IN"/>
          </a:p>
        </p:txBody>
      </p:sp>
      <p:sp>
        <p:nvSpPr>
          <p:cNvPr id="29" name="Shape 26"/>
          <p:cNvSpPr/>
          <p:nvPr/>
        </p:nvSpPr>
        <p:spPr>
          <a:xfrm>
            <a:off x="6720840" y="5230368"/>
            <a:ext cx="274320" cy="274320"/>
          </a:xfrm>
          <a:prstGeom prst="ellipse">
            <a:avLst/>
          </a:prstGeom>
          <a:solidFill>
            <a:srgbClr val="0E96AC"/>
          </a:solidFill>
          <a:ln/>
        </p:spPr>
        <p:txBody>
          <a:bodyPr/>
          <a:lstStyle/>
          <a:p>
            <a:endParaRPr lang="en-IN"/>
          </a:p>
        </p:txBody>
      </p:sp>
      <p:sp>
        <p:nvSpPr>
          <p:cNvPr id="30" name="Text 27"/>
          <p:cNvSpPr/>
          <p:nvPr/>
        </p:nvSpPr>
        <p:spPr>
          <a:xfrm>
            <a:off x="7104888" y="5184648"/>
            <a:ext cx="1938528" cy="36576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Mahima Chotiya</a:t>
            </a:r>
            <a:endParaRPr lang="en-US" sz="1450" dirty="0"/>
          </a:p>
        </p:txBody>
      </p:sp>
      <p:sp>
        <p:nvSpPr>
          <p:cNvPr id="31" name="Text 28"/>
          <p:cNvSpPr/>
          <p:nvPr/>
        </p:nvSpPr>
        <p:spPr>
          <a:xfrm>
            <a:off x="6720840" y="5660136"/>
            <a:ext cx="2304288" cy="228600"/>
          </a:xfrm>
          <a:prstGeom prst="rect">
            <a:avLst/>
          </a:prstGeom>
          <a:noFill/>
          <a:ln/>
        </p:spPr>
        <p:txBody>
          <a:bodyPr wrap="square" lIns="0" tIns="0" rIns="0" bIns="0" rtlCol="0" anchor="ctr"/>
          <a:lstStyle/>
          <a:p>
            <a:pPr marL="0" indent="0">
              <a:buNone/>
            </a:pPr>
            <a:r>
              <a:rPr lang="en-US" sz="900" kern="0" spc="100" dirty="0">
                <a:solidFill>
                  <a:srgbClr val="6B7890"/>
                </a:solidFill>
                <a:latin typeface="Calibri" pitchFamily="34" charset="0"/>
                <a:ea typeface="Calibri" pitchFamily="34" charset="-122"/>
                <a:cs typeface="Calibri" pitchFamily="34" charset="-120"/>
              </a:rPr>
              <a:t>ENTRY NO.</a:t>
            </a:r>
            <a:endParaRPr lang="en-US" sz="900" dirty="0"/>
          </a:p>
        </p:txBody>
      </p:sp>
      <p:sp>
        <p:nvSpPr>
          <p:cNvPr id="32" name="Text 29"/>
          <p:cNvSpPr/>
          <p:nvPr/>
        </p:nvSpPr>
        <p:spPr>
          <a:xfrm>
            <a:off x="6720840" y="5852160"/>
            <a:ext cx="2304288" cy="274320"/>
          </a:xfrm>
          <a:prstGeom prst="rect">
            <a:avLst/>
          </a:prstGeom>
          <a:noFill/>
          <a:ln/>
        </p:spPr>
        <p:txBody>
          <a:bodyPr wrap="square" lIns="0" tIns="0" rIns="0" bIns="0" rtlCol="0" anchor="ctr"/>
          <a:lstStyle/>
          <a:p>
            <a:pPr marL="0" indent="0">
              <a:buNone/>
            </a:pPr>
            <a:r>
              <a:rPr lang="en-US" sz="1300" b="1" dirty="0">
                <a:solidFill>
                  <a:srgbClr val="2BD4E8"/>
                </a:solidFill>
                <a:latin typeface="Calibri" pitchFamily="34" charset="0"/>
                <a:ea typeface="Calibri" pitchFamily="34" charset="-122"/>
                <a:cs typeface="Calibri" pitchFamily="34" charset="-120"/>
              </a:rPr>
              <a:t>2024ME11187</a:t>
            </a:r>
            <a:endParaRPr lang="en-US" sz="1300" dirty="0"/>
          </a:p>
        </p:txBody>
      </p:sp>
      <p:sp>
        <p:nvSpPr>
          <p:cNvPr id="33" name="Text 30"/>
          <p:cNvSpPr/>
          <p:nvPr/>
        </p:nvSpPr>
        <p:spPr>
          <a:xfrm>
            <a:off x="8934751" y="675593"/>
            <a:ext cx="2377440" cy="228600"/>
          </a:xfrm>
          <a:prstGeom prst="rect">
            <a:avLst/>
          </a:prstGeom>
          <a:noFill/>
          <a:ln/>
        </p:spPr>
        <p:txBody>
          <a:bodyPr wrap="square" lIns="0" tIns="0" rIns="0" bIns="0" rtlCol="0" anchor="ctr"/>
          <a:lstStyle/>
          <a:p>
            <a:pPr marL="0" indent="0">
              <a:buNone/>
            </a:pPr>
            <a:r>
              <a:rPr lang="en-US" sz="1000" b="1" kern="0" spc="200" dirty="0">
                <a:solidFill>
                  <a:srgbClr val="2BD4E8"/>
                </a:solidFill>
                <a:latin typeface="Calibri" pitchFamily="34" charset="0"/>
                <a:ea typeface="Calibri" pitchFamily="34" charset="-122"/>
                <a:cs typeface="Calibri" pitchFamily="34" charset="-120"/>
              </a:rPr>
              <a:t>INSTITUTION</a:t>
            </a:r>
            <a:endParaRPr lang="en-US" sz="1000" dirty="0"/>
          </a:p>
        </p:txBody>
      </p:sp>
      <p:sp>
        <p:nvSpPr>
          <p:cNvPr id="34" name="Text 31"/>
          <p:cNvSpPr/>
          <p:nvPr/>
        </p:nvSpPr>
        <p:spPr>
          <a:xfrm>
            <a:off x="9052560" y="928116"/>
            <a:ext cx="2377440" cy="32004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Indian Institute of Technology, Delhi</a:t>
            </a:r>
            <a:endParaRPr lang="en-US" sz="1300" dirty="0"/>
          </a:p>
        </p:txBody>
      </p:sp>
      <p:sp>
        <p:nvSpPr>
          <p:cNvPr id="35" name="Text 32"/>
          <p:cNvSpPr/>
          <p:nvPr/>
        </p:nvSpPr>
        <p:spPr>
          <a:xfrm>
            <a:off x="9052560" y="1746504"/>
            <a:ext cx="2377440" cy="228600"/>
          </a:xfrm>
          <a:prstGeom prst="rect">
            <a:avLst/>
          </a:prstGeom>
          <a:noFill/>
          <a:ln/>
        </p:spPr>
        <p:txBody>
          <a:bodyPr wrap="square" lIns="0" tIns="0" rIns="0" bIns="0" rtlCol="0" anchor="ctr"/>
          <a:lstStyle/>
          <a:p>
            <a:pPr marL="0" indent="0">
              <a:buNone/>
            </a:pPr>
            <a:r>
              <a:rPr lang="en-US" sz="1000" b="1" kern="0" spc="200" dirty="0">
                <a:solidFill>
                  <a:srgbClr val="2BD4E8"/>
                </a:solidFill>
                <a:latin typeface="Calibri" pitchFamily="34" charset="0"/>
                <a:ea typeface="Calibri" pitchFamily="34" charset="-122"/>
                <a:cs typeface="Calibri" pitchFamily="34" charset="-120"/>
              </a:rPr>
              <a:t>PROJECT GUIDE</a:t>
            </a:r>
            <a:endParaRPr lang="en-US" sz="1000" dirty="0"/>
          </a:p>
        </p:txBody>
      </p:sp>
      <p:sp>
        <p:nvSpPr>
          <p:cNvPr id="36" name="Text 33"/>
          <p:cNvSpPr/>
          <p:nvPr/>
        </p:nvSpPr>
        <p:spPr>
          <a:xfrm>
            <a:off x="9189720" y="1881378"/>
            <a:ext cx="2377440" cy="32004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Professor </a:t>
            </a:r>
            <a:r>
              <a:rPr lang="en-US" dirty="0" err="1">
                <a:solidFill>
                  <a:srgbClr val="FFFFFF"/>
                </a:solidFill>
                <a:latin typeface="Calibri" pitchFamily="34" charset="0"/>
                <a:ea typeface="Calibri" pitchFamily="34" charset="-122"/>
                <a:cs typeface="Calibri" pitchFamily="34" charset="-120"/>
              </a:rPr>
              <a:t>Amartansh</a:t>
            </a:r>
            <a:r>
              <a:rPr lang="en-US" dirty="0">
                <a:solidFill>
                  <a:srgbClr val="FFFFFF"/>
                </a:solidFill>
                <a:latin typeface="Calibri" pitchFamily="34" charset="0"/>
                <a:ea typeface="Calibri" pitchFamily="34" charset="-122"/>
                <a:cs typeface="Calibri" pitchFamily="34" charset="-120"/>
              </a:rPr>
              <a:t> Dubey</a:t>
            </a:r>
            <a:endParaRPr lang="en-US" sz="1300" dirty="0"/>
          </a:p>
        </p:txBody>
      </p:sp>
      <p:pic>
        <p:nvPicPr>
          <p:cNvPr id="9" name="Picture 8">
            <a:extLst>
              <a:ext uri="{FF2B5EF4-FFF2-40B4-BE49-F238E27FC236}">
                <a16:creationId xmlns:a16="http://schemas.microsoft.com/office/drawing/2014/main" id="{B23F6B63-9642-A851-9339-BBD4C24031B8}"/>
              </a:ext>
            </a:extLst>
          </p:cNvPr>
          <p:cNvPicPr>
            <a:picLocks noChangeAspect="1"/>
          </p:cNvPicPr>
          <p:nvPr/>
        </p:nvPicPr>
        <p:blipFill>
          <a:blip r:embed="rId4"/>
          <a:stretch>
            <a:fillRect/>
          </a:stretch>
        </p:blipFill>
        <p:spPr>
          <a:xfrm>
            <a:off x="10652760" y="159317"/>
            <a:ext cx="762000" cy="762000"/>
          </a:xfrm>
          <a:prstGeom prst="rect">
            <a:avLst/>
          </a:prstGeom>
        </p:spPr>
      </p:pic>
      <p:sp>
        <p:nvSpPr>
          <p:cNvPr id="101" name="RepoLabel"/>
          <p:cNvSpPr>
            <a:spLocks noGrp="1"/>
          </p:cNvSpPr>
          <p:nvPr/>
        </p:nvSpPr>
        <p:spPr>
          <a:xfrm>
            <a:off x="8890000" y="6096000"/>
            <a:ext cx="3111500" cy="177800"/>
          </a:xfrm>
          <a:prstGeom prst="rect">
            <a:avLst/>
          </a:prstGeom>
          <a:noFill/>
          <a:ln>
            <a:noFill/>
          </a:ln>
        </p:spPr>
        <p:txBody>
          <a:bodyPr wrap="square" rtlCol="0" anchor="ctr">
            <a:normAutofit fontScale="70000" lnSpcReduction="20000"/>
          </a:bodyPr>
          <a:lstStyle/>
          <a:p>
            <a:pPr marL="0" indent="0">
              <a:buNone/>
            </a:pPr>
            <a:r>
              <a:rPr lang="en-US" sz="900" b="1" kern="0" spc="200" dirty="0">
                <a:solidFill>
                  <a:srgbClr val="2BD4E8"/>
                </a:solidFill>
                <a:latin typeface="Calibri" pitchFamily="34" charset="0"/>
              </a:rPr>
              <a:t>PROJECT REPOSITORY</a:t>
            </a:r>
          </a:p>
        </p:txBody>
      </p:sp>
      <p:sp>
        <p:nvSpPr>
          <p:cNvPr id="102" name="RepoURL">
            <a:hlinkClick r:id="rId5"/>
          </p:cNvPr>
          <p:cNvSpPr>
            <a:spLocks noGrp="1"/>
          </p:cNvSpPr>
          <p:nvPr/>
        </p:nvSpPr>
        <p:spPr>
          <a:xfrm>
            <a:off x="8890000" y="6324600"/>
            <a:ext cx="3111500" cy="228600"/>
          </a:xfrm>
          <a:prstGeom prst="rect">
            <a:avLst/>
          </a:prstGeom>
          <a:noFill/>
          <a:ln>
            <a:noFill/>
          </a:ln>
        </p:spPr>
        <p:txBody>
          <a:bodyPr wrap="square" rtlCol="0" anchor="ctr">
            <a:normAutofit lnSpcReduction="10000"/>
          </a:bodyPr>
          <a:lstStyle/>
          <a:p>
            <a:r>
              <a:rPr lang="en-US" sz="1000" u="sng" dirty="0">
                <a:solidFill>
                  <a:srgbClr val="FFFFFF"/>
                </a:solidFill>
                <a:latin typeface="Calibri" pitchFamily="34" charset="0"/>
              </a:rPr>
              <a:t>https://github.com/shashankjangir/surge090</a:t>
            </a:r>
          </a:p>
        </p:txBody>
      </p:sp>
    </p:spTree>
    <p:extLst>
      <p:ext uri="{BB962C8B-B14F-4D97-AF65-F5344CB8AC3E}">
        <p14:creationId xmlns:p14="http://schemas.microsoft.com/office/powerpoint/2010/main" val="10298108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yebrowA">
            <a:extLst>
              <a:ext uri="{FF2B5EF4-FFF2-40B4-BE49-F238E27FC236}">
                <a16:creationId xmlns:a16="http://schemas.microsoft.com/office/drawing/2014/main" id="{841DE8FB-782B-413F-8F93-A5A5E44CEC4B}"/>
              </a:ext>
            </a:extLst>
          </p:cNvPr>
          <p:cNvSpPr txBox="1"/>
          <p:nvPr/>
        </p:nvSpPr>
        <p:spPr>
          <a:xfrm>
            <a:off x="546100" y="381000"/>
            <a:ext cx="10160000" cy="279400"/>
          </a:xfrm>
          <a:prstGeom prst="rect">
            <a:avLst/>
          </a:prstGeom>
          <a:noFill/>
        </p:spPr>
        <p:txBody>
          <a:bodyPr vertOverflow="overflow" vert="horz" wrap="square" rtlCol="0" anchor="t" anchorCtr="0">
            <a:noAutofit/>
          </a:bodyPr>
          <a:lstStyle/>
          <a:p>
            <a:pPr marL="0" indent="0">
              <a:buNone/>
            </a:pPr>
            <a:r>
              <a:rPr lang="en-US" sz="1200" b="1" spc="300" dirty="0">
                <a:solidFill>
                  <a:srgbClr val="0E96AC"/>
                </a:solidFill>
                <a:latin typeface="Calibri" pitchFamily="34" charset="0"/>
              </a:rPr>
              <a:t>ACTUATOR SELECTION STUDY</a:t>
            </a:r>
          </a:p>
        </p:txBody>
      </p:sp>
      <p:sp>
        <p:nvSpPr>
          <p:cNvPr id="3" name="TitleA">
            <a:extLst>
              <a:ext uri="{FF2B5EF4-FFF2-40B4-BE49-F238E27FC236}">
                <a16:creationId xmlns:a16="http://schemas.microsoft.com/office/drawing/2014/main" id="{7634340B-6F43-41BD-A788-B33B6114B32F}"/>
              </a:ext>
            </a:extLst>
          </p:cNvPr>
          <p:cNvSpPr txBox="1"/>
          <p:nvPr/>
        </p:nvSpPr>
        <p:spPr>
          <a:xfrm>
            <a:off x="533400" y="635000"/>
            <a:ext cx="10922000" cy="609600"/>
          </a:xfrm>
          <a:prstGeom prst="rect">
            <a:avLst/>
          </a:prstGeom>
          <a:noFill/>
        </p:spPr>
        <p:txBody>
          <a:bodyPr vertOverflow="overflow" vert="horz" wrap="square" rtlCol="0" anchor="t" anchorCtr="0">
            <a:noAutofit/>
          </a:bodyPr>
          <a:lstStyle/>
          <a:p>
            <a:pPr marL="0" indent="0">
              <a:buNone/>
            </a:pPr>
            <a:r>
              <a:rPr lang="en-US" sz="3000" b="1" dirty="0">
                <a:solidFill>
                  <a:srgbClr val="16223A"/>
                </a:solidFill>
                <a:latin typeface="Calibri" pitchFamily="34" charset="0"/>
              </a:rPr>
              <a:t>Why Dynamixel Motors?</a:t>
            </a:r>
          </a:p>
        </p:txBody>
      </p:sp>
      <p:sp>
        <p:nvSpPr>
          <p:cNvPr id="4" name="ProblemCard">
            <a:extLst>
              <a:ext uri="{FF2B5EF4-FFF2-40B4-BE49-F238E27FC236}">
                <a16:creationId xmlns:a16="http://schemas.microsoft.com/office/drawing/2014/main" id="{E876E5F6-0A7F-4BFB-B939-45A2A1D649C5}"/>
              </a:ext>
            </a:extLst>
          </p:cNvPr>
          <p:cNvSpPr/>
          <p:nvPr/>
        </p:nvSpPr>
        <p:spPr>
          <a:xfrm>
            <a:off x="546100" y="1422400"/>
            <a:ext cx="3810000" cy="4927600"/>
          </a:xfrm>
          <a:prstGeom prst="roundRect">
            <a:avLst/>
          </a:prstGeom>
          <a:solidFill>
            <a:srgbClr val="FFFFFF"/>
          </a:solidFill>
          <a:ln w="12700" cap="flat" cmpd="sng" algn="ctr">
            <a:solidFill>
              <a:srgbClr val="E2E8F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5" name="ProblemEyebrow">
            <a:extLst>
              <a:ext uri="{FF2B5EF4-FFF2-40B4-BE49-F238E27FC236}">
                <a16:creationId xmlns:a16="http://schemas.microsoft.com/office/drawing/2014/main" id="{FC543071-2BD3-4FE0-ADEC-F4199E47340C}"/>
              </a:ext>
            </a:extLst>
          </p:cNvPr>
          <p:cNvSpPr txBox="1"/>
          <p:nvPr/>
        </p:nvSpPr>
        <p:spPr>
          <a:xfrm>
            <a:off x="800100" y="1676400"/>
            <a:ext cx="3302000" cy="254000"/>
          </a:xfrm>
          <a:prstGeom prst="rect">
            <a:avLst/>
          </a:prstGeom>
          <a:noFill/>
        </p:spPr>
        <p:txBody>
          <a:bodyPr vertOverflow="overflow" vert="horz" wrap="square" rtlCol="0" anchor="t" anchorCtr="0">
            <a:noAutofit/>
          </a:bodyPr>
          <a:lstStyle/>
          <a:p>
            <a:pPr marL="0" indent="0">
              <a:buNone/>
            </a:pPr>
            <a:r>
              <a:rPr lang="en-US" sz="1100" b="1" spc="200" dirty="0">
                <a:solidFill>
                  <a:srgbClr val="0E96AC"/>
                </a:solidFill>
                <a:latin typeface="Calibri" pitchFamily="34" charset="0"/>
              </a:rPr>
              <a:t>THE REQUIREMENT</a:t>
            </a:r>
          </a:p>
        </p:txBody>
      </p:sp>
      <p:sp>
        <p:nvSpPr>
          <p:cNvPr id="6" name="ProblemIntro">
            <a:extLst>
              <a:ext uri="{FF2B5EF4-FFF2-40B4-BE49-F238E27FC236}">
                <a16:creationId xmlns:a16="http://schemas.microsoft.com/office/drawing/2014/main" id="{242F95A3-B8E3-4C63-8377-5868B29AD293}"/>
              </a:ext>
            </a:extLst>
          </p:cNvPr>
          <p:cNvSpPr txBox="1"/>
          <p:nvPr/>
        </p:nvSpPr>
        <p:spPr>
          <a:xfrm>
            <a:off x="800100" y="2006600"/>
            <a:ext cx="3302000" cy="812800"/>
          </a:xfrm>
          <a:prstGeom prst="rect">
            <a:avLst/>
          </a:prstGeom>
          <a:noFill/>
        </p:spPr>
        <p:txBody>
          <a:bodyPr vertOverflow="overflow" vert="horz" wrap="square" rtlCol="0" anchor="t" anchorCtr="0">
            <a:noAutofit/>
          </a:bodyPr>
          <a:lstStyle/>
          <a:p>
            <a:pPr marL="0" indent="0">
              <a:lnSpc>
                <a:spcPct val="108000"/>
              </a:lnSpc>
              <a:buNone/>
            </a:pPr>
            <a:r>
              <a:rPr lang="en-US" sz="1400" dirty="0">
                <a:solidFill>
                  <a:srgbClr val="3A4658"/>
                </a:solidFill>
                <a:latin typeface="Calibri" pitchFamily="34" charset="0"/>
              </a:rPr>
              <a:t>A snake robot drives many joints at once. The actuator must deliver:</a:t>
            </a:r>
          </a:p>
        </p:txBody>
      </p:sp>
      <p:sp>
        <p:nvSpPr>
          <p:cNvPr id="7" name="ProblemBullets">
            <a:extLst>
              <a:ext uri="{FF2B5EF4-FFF2-40B4-BE49-F238E27FC236}">
                <a16:creationId xmlns:a16="http://schemas.microsoft.com/office/drawing/2014/main" id="{F7CDE160-466E-4C5D-B701-1F6DEFD06489}"/>
              </a:ext>
            </a:extLst>
          </p:cNvPr>
          <p:cNvSpPr txBox="1"/>
          <p:nvPr/>
        </p:nvSpPr>
        <p:spPr>
          <a:xfrm>
            <a:off x="800100" y="2844800"/>
            <a:ext cx="3302000" cy="3302000"/>
          </a:xfrm>
          <a:prstGeom prst="rect">
            <a:avLst/>
          </a:prstGeom>
          <a:noFill/>
        </p:spPr>
        <p:txBody>
          <a:bodyPr vertOverflow="overflow" vert="horz" wrap="square" rtlCol="0" anchor="t" anchorCtr="0">
            <a:noAutofit/>
          </a:bodyPr>
          <a:lstStyle/>
          <a:p>
            <a:pPr marL="200000" indent="-200000">
              <a:spcBef>
                <a:spcPts val="700"/>
              </a:spcBef>
              <a:buClr>
                <a:srgbClr val="0E96AC"/>
              </a:buClr>
              <a:buFont typeface="Arial"/>
              <a:buChar char="•"/>
            </a:pPr>
            <a:r>
              <a:rPr lang="en-US" sz="1400" dirty="0">
                <a:solidFill>
                  <a:srgbClr val="16223A"/>
                </a:solidFill>
                <a:latin typeface="Calibri" pitchFamily="34" charset="0"/>
              </a:rPr>
              <a:t>Precise position control</a:t>
            </a:r>
          </a:p>
          <a:p>
            <a:pPr marL="200000" indent="-200000">
              <a:spcBef>
                <a:spcPts val="700"/>
              </a:spcBef>
              <a:buClr>
                <a:srgbClr val="0E96AC"/>
              </a:buClr>
              <a:buFont typeface="Arial"/>
              <a:buChar char="•"/>
            </a:pPr>
            <a:r>
              <a:rPr lang="en-US" sz="1400" dirty="0">
                <a:solidFill>
                  <a:srgbClr val="16223A"/>
                </a:solidFill>
                <a:latin typeface="Calibri" pitchFamily="34" charset="0"/>
              </a:rPr>
              <a:t>Simple wiring architecture</a:t>
            </a:r>
          </a:p>
          <a:p>
            <a:pPr marL="200000" indent="-200000">
              <a:spcBef>
                <a:spcPts val="700"/>
              </a:spcBef>
              <a:buClr>
                <a:srgbClr val="0E96AC"/>
              </a:buClr>
              <a:buFont typeface="Arial"/>
              <a:buChar char="•"/>
            </a:pPr>
            <a:r>
              <a:rPr lang="en-US" sz="1400" dirty="0">
                <a:solidFill>
                  <a:srgbClr val="16223A"/>
                </a:solidFill>
                <a:latin typeface="Calibri" pitchFamily="34" charset="0"/>
              </a:rPr>
              <a:t>Scalability for multiple joints</a:t>
            </a:r>
          </a:p>
          <a:p>
            <a:pPr marL="200000" indent="-200000">
              <a:spcBef>
                <a:spcPts val="700"/>
              </a:spcBef>
              <a:buClr>
                <a:srgbClr val="0E96AC"/>
              </a:buClr>
              <a:buFont typeface="Arial"/>
              <a:buChar char="•"/>
            </a:pPr>
            <a:r>
              <a:rPr lang="en-US" sz="1400" dirty="0">
                <a:solidFill>
                  <a:srgbClr val="16223A"/>
                </a:solidFill>
                <a:latin typeface="Calibri" pitchFamily="34" charset="0"/>
              </a:rPr>
              <a:t>Reliable communication</a:t>
            </a:r>
          </a:p>
          <a:p>
            <a:pPr marL="200000" indent="-200000">
              <a:spcBef>
                <a:spcPts val="700"/>
              </a:spcBef>
              <a:buClr>
                <a:srgbClr val="0E96AC"/>
              </a:buClr>
              <a:buFont typeface="Arial"/>
              <a:buChar char="•"/>
            </a:pPr>
            <a:r>
              <a:rPr lang="en-US" sz="1400" dirty="0">
                <a:solidFill>
                  <a:srgbClr val="16223A"/>
                </a:solidFill>
                <a:latin typeface="Calibri" pitchFamily="34" charset="0"/>
              </a:rPr>
              <a:t>Real-time feedback</a:t>
            </a:r>
          </a:p>
          <a:p>
            <a:pPr marL="200000" indent="-200000">
              <a:spcBef>
                <a:spcPts val="700"/>
              </a:spcBef>
              <a:buClr>
                <a:srgbClr val="0E96AC"/>
              </a:buClr>
              <a:buFont typeface="Arial"/>
              <a:buChar char="•"/>
            </a:pPr>
            <a:r>
              <a:rPr lang="en-US" sz="1400" dirty="0">
                <a:solidFill>
                  <a:srgbClr val="16223A"/>
                </a:solidFill>
                <a:latin typeface="Calibri" pitchFamily="34" charset="0"/>
              </a:rPr>
              <a:t>Compact size &amp; sufficient torque</a:t>
            </a:r>
          </a:p>
        </p:txBody>
      </p:sp>
      <p:sp>
        <p:nvSpPr>
          <p:cNvPr id="8" name="TableEyebrow">
            <a:extLst>
              <a:ext uri="{FF2B5EF4-FFF2-40B4-BE49-F238E27FC236}">
                <a16:creationId xmlns:a16="http://schemas.microsoft.com/office/drawing/2014/main" id="{7E5D13E2-1354-4CEB-BDEE-454765C80F19}"/>
              </a:ext>
            </a:extLst>
          </p:cNvPr>
          <p:cNvSpPr txBox="1"/>
          <p:nvPr/>
        </p:nvSpPr>
        <p:spPr>
          <a:xfrm>
            <a:off x="4494628" y="1079500"/>
            <a:ext cx="7073900" cy="254000"/>
          </a:xfrm>
          <a:prstGeom prst="rect">
            <a:avLst/>
          </a:prstGeom>
          <a:noFill/>
        </p:spPr>
        <p:txBody>
          <a:bodyPr vertOverflow="overflow" vert="horz" wrap="square" rtlCol="0" anchor="t" anchorCtr="0">
            <a:noAutofit/>
          </a:bodyPr>
          <a:lstStyle/>
          <a:p>
            <a:pPr marL="0" indent="0">
              <a:buNone/>
            </a:pPr>
            <a:r>
              <a:rPr lang="en-US" sz="1100" b="1" spc="200" dirty="0">
                <a:solidFill>
                  <a:srgbClr val="0E96AC"/>
                </a:solidFill>
                <a:latin typeface="Calibri" pitchFamily="34" charset="0"/>
              </a:rPr>
              <a:t>OPTIONS COMPARED</a:t>
            </a:r>
          </a:p>
        </p:txBody>
      </p:sp>
      <p:graphicFrame>
        <p:nvGraphicFramePr>
          <p:cNvPr id="10" name="CompareTable">
            <a:extLst>
              <a:ext uri="{FF2B5EF4-FFF2-40B4-BE49-F238E27FC236}">
                <a16:creationId xmlns:a16="http://schemas.microsoft.com/office/drawing/2014/main" id="{9440023E-3667-4AD8-9283-284DCB4D212C}"/>
              </a:ext>
            </a:extLst>
          </p:cNvPr>
          <p:cNvGraphicFramePr>
            <a:graphicFrameLocks noGrp="1"/>
          </p:cNvGraphicFramePr>
          <p:nvPr>
            <p:extLst>
              <p:ext uri="{D42A27DB-BD31-4B8C-83A1-F6EECF244321}">
                <p14:modId xmlns:p14="http://schemas.microsoft.com/office/powerpoint/2010/main" val="1572894493"/>
              </p:ext>
            </p:extLst>
          </p:nvPr>
        </p:nvGraphicFramePr>
        <p:xfrm>
          <a:off x="4494628" y="1582615"/>
          <a:ext cx="7151272" cy="4195888"/>
        </p:xfrm>
        <a:graphic>
          <a:graphicData uri="http://schemas.openxmlformats.org/drawingml/2006/table">
            <a:tbl>
              <a:tblPr firstRow="1" bandRow="1">
                <a:tableStyleId>{5C22544A-7EE6-4342-B048-85BDC9FD1C3A}</a:tableStyleId>
              </a:tblPr>
              <a:tblGrid>
                <a:gridCol w="1540669">
                  <a:extLst>
                    <a:ext uri="{9D8B030D-6E8A-4147-A177-3AD203B41FA5}">
                      <a16:colId xmlns:a16="http://schemas.microsoft.com/office/drawing/2014/main" val="3347371507"/>
                    </a:ext>
                  </a:extLst>
                </a:gridCol>
                <a:gridCol w="2567782">
                  <a:extLst>
                    <a:ext uri="{9D8B030D-6E8A-4147-A177-3AD203B41FA5}">
                      <a16:colId xmlns:a16="http://schemas.microsoft.com/office/drawing/2014/main" val="2919370013"/>
                    </a:ext>
                  </a:extLst>
                </a:gridCol>
                <a:gridCol w="3042821">
                  <a:extLst>
                    <a:ext uri="{9D8B030D-6E8A-4147-A177-3AD203B41FA5}">
                      <a16:colId xmlns:a16="http://schemas.microsoft.com/office/drawing/2014/main" val="1569824111"/>
                    </a:ext>
                  </a:extLst>
                </a:gridCol>
              </a:tblGrid>
              <a:tr h="524486">
                <a:tc>
                  <a:txBody>
                    <a:bodyPr/>
                    <a:lstStyle/>
                    <a:p>
                      <a:pPr algn="ctr"/>
                      <a:r>
                        <a:rPr lang="en-IN" sz="1400" b="1" dirty="0">
                          <a:solidFill>
                            <a:srgbClr val="FFFFFF"/>
                          </a:solidFill>
                          <a:latin typeface="Calibri"/>
                          <a:ea typeface="Calibri"/>
                          <a:cs typeface="Calibri"/>
                        </a:rPr>
                        <a:t>Criterion</a:t>
                      </a:r>
                    </a:p>
                  </a:txBody>
                  <a:tcPr anchor="ctr">
                    <a:solidFill>
                      <a:srgbClr val="16223A"/>
                    </a:solidFill>
                  </a:tcPr>
                </a:tc>
                <a:tc>
                  <a:txBody>
                    <a:bodyPr/>
                    <a:lstStyle/>
                    <a:p>
                      <a:pPr algn="ctr"/>
                      <a:r>
                        <a:rPr lang="en-IN" sz="1400" b="1" dirty="0">
                          <a:solidFill>
                            <a:srgbClr val="FFFFFF"/>
                          </a:solidFill>
                          <a:latin typeface="Calibri"/>
                          <a:ea typeface="Calibri"/>
                          <a:cs typeface="Calibri"/>
                        </a:rPr>
                        <a:t>Conventional Servo</a:t>
                      </a:r>
                    </a:p>
                  </a:txBody>
                  <a:tcPr anchor="ctr">
                    <a:solidFill>
                      <a:srgbClr val="16223A"/>
                    </a:solidFill>
                  </a:tcPr>
                </a:tc>
                <a:tc>
                  <a:txBody>
                    <a:bodyPr/>
                    <a:lstStyle/>
                    <a:p>
                      <a:pPr algn="ctr"/>
                      <a:r>
                        <a:rPr lang="en-IN" sz="1400" b="1" dirty="0" err="1">
                          <a:solidFill>
                            <a:srgbClr val="FFFFFF"/>
                          </a:solidFill>
                          <a:latin typeface="Calibri"/>
                          <a:ea typeface="Calibri"/>
                          <a:cs typeface="Calibri"/>
                        </a:rPr>
                        <a:t>Dynamixel</a:t>
                      </a:r>
                      <a:r>
                        <a:rPr lang="en-IN" sz="1400" b="1" dirty="0">
                          <a:solidFill>
                            <a:srgbClr val="FFFFFF"/>
                          </a:solidFill>
                          <a:latin typeface="Calibri"/>
                          <a:ea typeface="Calibri"/>
                          <a:cs typeface="Calibri"/>
                        </a:rPr>
                        <a:t> Smart Servo</a:t>
                      </a:r>
                    </a:p>
                  </a:txBody>
                  <a:tcPr anchor="ctr">
                    <a:solidFill>
                      <a:srgbClr val="0E96AC"/>
                    </a:solidFill>
                  </a:tcPr>
                </a:tc>
                <a:extLst>
                  <a:ext uri="{0D108BD9-81ED-4DB2-BD59-A6C34878D82A}">
                    <a16:rowId xmlns:a16="http://schemas.microsoft.com/office/drawing/2014/main" val="408524524"/>
                  </a:ext>
                </a:extLst>
              </a:tr>
              <a:tr h="524486">
                <a:tc>
                  <a:txBody>
                    <a:bodyPr/>
                    <a:lstStyle/>
                    <a:p>
                      <a:pPr algn="l"/>
                      <a:r>
                        <a:rPr lang="en-IN" sz="1400" b="1">
                          <a:solidFill>
                            <a:srgbClr val="16223A"/>
                          </a:solidFill>
                          <a:latin typeface="Calibri"/>
                          <a:ea typeface="Calibri"/>
                          <a:cs typeface="Calibri"/>
                        </a:rPr>
                        <a:t>Communication</a:t>
                      </a:r>
                    </a:p>
                  </a:txBody>
                  <a:tcPr anchor="ctr">
                    <a:solidFill>
                      <a:srgbClr val="F4F6F9"/>
                    </a:solidFill>
                  </a:tcPr>
                </a:tc>
                <a:tc>
                  <a:txBody>
                    <a:bodyPr/>
                    <a:lstStyle/>
                    <a:p>
                      <a:pPr algn="l"/>
                      <a:r>
                        <a:rPr lang="en-IN" sz="1400" dirty="0">
                          <a:solidFill>
                            <a:srgbClr val="3A4658"/>
                          </a:solidFill>
                          <a:latin typeface="Calibri"/>
                          <a:ea typeface="Calibri"/>
                          <a:cs typeface="Calibri"/>
                        </a:rPr>
                        <a:t>Individual signal wire per motor</a:t>
                      </a:r>
                    </a:p>
                  </a:txBody>
                  <a:tcPr anchor="ctr">
                    <a:solidFill>
                      <a:srgbClr val="FFFFFF"/>
                    </a:solidFill>
                  </a:tcPr>
                </a:tc>
                <a:tc>
                  <a:txBody>
                    <a:bodyPr/>
                    <a:lstStyle/>
                    <a:p>
                      <a:pPr algn="l"/>
                      <a:r>
                        <a:rPr lang="en-IN" sz="1400">
                          <a:solidFill>
                            <a:srgbClr val="16223A"/>
                          </a:solidFill>
                          <a:latin typeface="Calibri"/>
                          <a:ea typeface="Calibri"/>
                          <a:cs typeface="Calibri"/>
                        </a:rPr>
                        <a:t>Daisy-chain communication</a:t>
                      </a:r>
                    </a:p>
                  </a:txBody>
                  <a:tcPr anchor="ctr">
                    <a:solidFill>
                      <a:srgbClr val="E6F4F6"/>
                    </a:solidFill>
                  </a:tcPr>
                </a:tc>
                <a:extLst>
                  <a:ext uri="{0D108BD9-81ED-4DB2-BD59-A6C34878D82A}">
                    <a16:rowId xmlns:a16="http://schemas.microsoft.com/office/drawing/2014/main" val="2149984924"/>
                  </a:ext>
                </a:extLst>
              </a:tr>
              <a:tr h="524486">
                <a:tc>
                  <a:txBody>
                    <a:bodyPr/>
                    <a:lstStyle/>
                    <a:p>
                      <a:pPr algn="l"/>
                      <a:r>
                        <a:rPr lang="en-IN" sz="1400" b="1">
                          <a:solidFill>
                            <a:srgbClr val="16223A"/>
                          </a:solidFill>
                          <a:latin typeface="Calibri"/>
                          <a:ea typeface="Calibri"/>
                          <a:cs typeface="Calibri"/>
                        </a:rPr>
                        <a:t>Wiring Complexity</a:t>
                      </a:r>
                    </a:p>
                  </a:txBody>
                  <a:tcPr anchor="ctr">
                    <a:solidFill>
                      <a:srgbClr val="F4F6F9"/>
                    </a:solidFill>
                  </a:tcPr>
                </a:tc>
                <a:tc>
                  <a:txBody>
                    <a:bodyPr/>
                    <a:lstStyle/>
                    <a:p>
                      <a:pPr algn="l"/>
                      <a:r>
                        <a:rPr lang="en-IN" sz="1400" dirty="0">
                          <a:solidFill>
                            <a:srgbClr val="3A4658"/>
                          </a:solidFill>
                          <a:latin typeface="Calibri"/>
                          <a:ea typeface="Calibri"/>
                          <a:cs typeface="Calibri"/>
                        </a:rPr>
                        <a:t>High</a:t>
                      </a:r>
                    </a:p>
                  </a:txBody>
                  <a:tcPr anchor="ctr">
                    <a:solidFill>
                      <a:srgbClr val="FFFFFF"/>
                    </a:solidFill>
                  </a:tcPr>
                </a:tc>
                <a:tc>
                  <a:txBody>
                    <a:bodyPr/>
                    <a:lstStyle/>
                    <a:p>
                      <a:pPr algn="l"/>
                      <a:r>
                        <a:rPr lang="en-IN" sz="1400" dirty="0">
                          <a:solidFill>
                            <a:srgbClr val="16223A"/>
                          </a:solidFill>
                          <a:latin typeface="Calibri"/>
                          <a:ea typeface="Calibri"/>
                          <a:cs typeface="Calibri"/>
                        </a:rPr>
                        <a:t>Low</a:t>
                      </a:r>
                    </a:p>
                  </a:txBody>
                  <a:tcPr anchor="ctr">
                    <a:solidFill>
                      <a:srgbClr val="E6F4F6"/>
                    </a:solidFill>
                  </a:tcPr>
                </a:tc>
                <a:extLst>
                  <a:ext uri="{0D108BD9-81ED-4DB2-BD59-A6C34878D82A}">
                    <a16:rowId xmlns:a16="http://schemas.microsoft.com/office/drawing/2014/main" val="2686798067"/>
                  </a:ext>
                </a:extLst>
              </a:tr>
              <a:tr h="524486">
                <a:tc>
                  <a:txBody>
                    <a:bodyPr/>
                    <a:lstStyle/>
                    <a:p>
                      <a:pPr algn="l"/>
                      <a:r>
                        <a:rPr lang="en-IN" sz="1400" b="1">
                          <a:solidFill>
                            <a:srgbClr val="16223A"/>
                          </a:solidFill>
                          <a:latin typeface="Calibri"/>
                          <a:ea typeface="Calibri"/>
                          <a:cs typeface="Calibri"/>
                        </a:rPr>
                        <a:t>Feedback</a:t>
                      </a:r>
                    </a:p>
                  </a:txBody>
                  <a:tcPr anchor="ctr">
                    <a:solidFill>
                      <a:srgbClr val="F4F6F9"/>
                    </a:solidFill>
                  </a:tcPr>
                </a:tc>
                <a:tc>
                  <a:txBody>
                    <a:bodyPr/>
                    <a:lstStyle/>
                    <a:p>
                      <a:pPr algn="l"/>
                      <a:r>
                        <a:rPr lang="en-IN" sz="1400" dirty="0">
                          <a:solidFill>
                            <a:srgbClr val="3A4658"/>
                          </a:solidFill>
                          <a:latin typeface="Calibri"/>
                          <a:ea typeface="Calibri"/>
                          <a:cs typeface="Calibri"/>
                        </a:rPr>
                        <a:t>Not available</a:t>
                      </a:r>
                    </a:p>
                  </a:txBody>
                  <a:tcPr anchor="ctr">
                    <a:solidFill>
                      <a:srgbClr val="FFFFFF"/>
                    </a:solidFill>
                  </a:tcPr>
                </a:tc>
                <a:tc>
                  <a:txBody>
                    <a:bodyPr/>
                    <a:lstStyle/>
                    <a:p>
                      <a:pPr algn="l"/>
                      <a:r>
                        <a:rPr lang="en-IN" sz="1400">
                          <a:solidFill>
                            <a:srgbClr val="16223A"/>
                          </a:solidFill>
                          <a:latin typeface="Calibri"/>
                          <a:ea typeface="Calibri"/>
                          <a:cs typeface="Calibri"/>
                        </a:rPr>
                        <a:t>Position, load, temperature, voltage feedback</a:t>
                      </a:r>
                    </a:p>
                  </a:txBody>
                  <a:tcPr anchor="ctr">
                    <a:solidFill>
                      <a:srgbClr val="E6F4F6"/>
                    </a:solidFill>
                  </a:tcPr>
                </a:tc>
                <a:extLst>
                  <a:ext uri="{0D108BD9-81ED-4DB2-BD59-A6C34878D82A}">
                    <a16:rowId xmlns:a16="http://schemas.microsoft.com/office/drawing/2014/main" val="3806473319"/>
                  </a:ext>
                </a:extLst>
              </a:tr>
              <a:tr h="524486">
                <a:tc>
                  <a:txBody>
                    <a:bodyPr/>
                    <a:lstStyle/>
                    <a:p>
                      <a:pPr algn="l"/>
                      <a:r>
                        <a:rPr lang="en-IN" sz="1400" b="1">
                          <a:solidFill>
                            <a:srgbClr val="16223A"/>
                          </a:solidFill>
                          <a:latin typeface="Calibri"/>
                          <a:ea typeface="Calibri"/>
                          <a:cs typeface="Calibri"/>
                        </a:rPr>
                        <a:t>Controller</a:t>
                      </a:r>
                    </a:p>
                  </a:txBody>
                  <a:tcPr anchor="ctr">
                    <a:solidFill>
                      <a:srgbClr val="F4F6F9"/>
                    </a:solidFill>
                  </a:tcPr>
                </a:tc>
                <a:tc>
                  <a:txBody>
                    <a:bodyPr/>
                    <a:lstStyle/>
                    <a:p>
                      <a:pPr algn="l"/>
                      <a:r>
                        <a:rPr lang="en-IN" sz="1400" dirty="0">
                          <a:solidFill>
                            <a:srgbClr val="3A4658"/>
                          </a:solidFill>
                          <a:latin typeface="Calibri"/>
                          <a:ea typeface="Calibri"/>
                          <a:cs typeface="Calibri"/>
                        </a:rPr>
                        <a:t>External controller required</a:t>
                      </a:r>
                    </a:p>
                  </a:txBody>
                  <a:tcPr anchor="ctr">
                    <a:solidFill>
                      <a:srgbClr val="FFFFFF"/>
                    </a:solidFill>
                  </a:tcPr>
                </a:tc>
                <a:tc>
                  <a:txBody>
                    <a:bodyPr/>
                    <a:lstStyle/>
                    <a:p>
                      <a:pPr algn="l"/>
                      <a:r>
                        <a:rPr lang="en-IN" sz="1400" dirty="0">
                          <a:solidFill>
                            <a:srgbClr val="16223A"/>
                          </a:solidFill>
                          <a:latin typeface="Calibri"/>
                          <a:ea typeface="Calibri"/>
                          <a:cs typeface="Calibri"/>
                        </a:rPr>
                        <a:t>Built-in controller</a:t>
                      </a:r>
                    </a:p>
                  </a:txBody>
                  <a:tcPr anchor="ctr">
                    <a:solidFill>
                      <a:srgbClr val="E6F4F6"/>
                    </a:solidFill>
                  </a:tcPr>
                </a:tc>
                <a:extLst>
                  <a:ext uri="{0D108BD9-81ED-4DB2-BD59-A6C34878D82A}">
                    <a16:rowId xmlns:a16="http://schemas.microsoft.com/office/drawing/2014/main" val="4040244787"/>
                  </a:ext>
                </a:extLst>
              </a:tr>
              <a:tr h="524486">
                <a:tc>
                  <a:txBody>
                    <a:bodyPr/>
                    <a:lstStyle/>
                    <a:p>
                      <a:pPr algn="l"/>
                      <a:r>
                        <a:rPr lang="en-IN" sz="1400" b="1">
                          <a:solidFill>
                            <a:srgbClr val="16223A"/>
                          </a:solidFill>
                          <a:latin typeface="Calibri"/>
                          <a:ea typeface="Calibri"/>
                          <a:cs typeface="Calibri"/>
                        </a:rPr>
                        <a:t>Scalability</a:t>
                      </a:r>
                    </a:p>
                  </a:txBody>
                  <a:tcPr anchor="ctr">
                    <a:solidFill>
                      <a:srgbClr val="F4F6F9"/>
                    </a:solidFill>
                  </a:tcPr>
                </a:tc>
                <a:tc>
                  <a:txBody>
                    <a:bodyPr/>
                    <a:lstStyle/>
                    <a:p>
                      <a:pPr algn="l"/>
                      <a:r>
                        <a:rPr lang="en-IN" sz="1400" dirty="0">
                          <a:solidFill>
                            <a:srgbClr val="3A4658"/>
                          </a:solidFill>
                          <a:latin typeface="Calibri"/>
                          <a:ea typeface="Calibri"/>
                          <a:cs typeface="Calibri"/>
                        </a:rPr>
                        <a:t>Difficult for many joints</a:t>
                      </a:r>
                    </a:p>
                  </a:txBody>
                  <a:tcPr anchor="ctr">
                    <a:solidFill>
                      <a:srgbClr val="FFFFFF"/>
                    </a:solidFill>
                  </a:tcPr>
                </a:tc>
                <a:tc>
                  <a:txBody>
                    <a:bodyPr/>
                    <a:lstStyle/>
                    <a:p>
                      <a:pPr algn="l"/>
                      <a:r>
                        <a:rPr lang="en-IN" sz="1400" dirty="0">
                          <a:solidFill>
                            <a:srgbClr val="16223A"/>
                          </a:solidFill>
                          <a:latin typeface="Calibri"/>
                          <a:ea typeface="Calibri"/>
                          <a:cs typeface="Calibri"/>
                        </a:rPr>
                        <a:t>Designed for multi-joint robots</a:t>
                      </a:r>
                    </a:p>
                  </a:txBody>
                  <a:tcPr anchor="ctr">
                    <a:solidFill>
                      <a:srgbClr val="E6F4F6"/>
                    </a:solidFill>
                  </a:tcPr>
                </a:tc>
                <a:extLst>
                  <a:ext uri="{0D108BD9-81ED-4DB2-BD59-A6C34878D82A}">
                    <a16:rowId xmlns:a16="http://schemas.microsoft.com/office/drawing/2014/main" val="2401347979"/>
                  </a:ext>
                </a:extLst>
              </a:tr>
              <a:tr h="524486">
                <a:tc>
                  <a:txBody>
                    <a:bodyPr/>
                    <a:lstStyle/>
                    <a:p>
                      <a:pPr algn="l"/>
                      <a:r>
                        <a:rPr lang="en-IN" sz="1400" b="1">
                          <a:solidFill>
                            <a:srgbClr val="16223A"/>
                          </a:solidFill>
                          <a:latin typeface="Calibri"/>
                          <a:ea typeface="Calibri"/>
                          <a:cs typeface="Calibri"/>
                        </a:rPr>
                        <a:t>Precision</a:t>
                      </a:r>
                    </a:p>
                  </a:txBody>
                  <a:tcPr anchor="ctr">
                    <a:solidFill>
                      <a:srgbClr val="F4F6F9"/>
                    </a:solidFill>
                  </a:tcPr>
                </a:tc>
                <a:tc>
                  <a:txBody>
                    <a:bodyPr/>
                    <a:lstStyle/>
                    <a:p>
                      <a:pPr algn="l"/>
                      <a:r>
                        <a:rPr lang="en-IN" sz="1400" dirty="0">
                          <a:solidFill>
                            <a:srgbClr val="3A4658"/>
                          </a:solidFill>
                          <a:latin typeface="Calibri"/>
                          <a:ea typeface="Calibri"/>
                          <a:cs typeface="Calibri"/>
                        </a:rPr>
                        <a:t>Moderate</a:t>
                      </a:r>
                    </a:p>
                  </a:txBody>
                  <a:tcPr anchor="ctr">
                    <a:solidFill>
                      <a:srgbClr val="FFFFFF"/>
                    </a:solidFill>
                  </a:tcPr>
                </a:tc>
                <a:tc>
                  <a:txBody>
                    <a:bodyPr/>
                    <a:lstStyle/>
                    <a:p>
                      <a:pPr algn="l"/>
                      <a:r>
                        <a:rPr lang="en-IN" sz="1400" dirty="0">
                          <a:solidFill>
                            <a:srgbClr val="16223A"/>
                          </a:solidFill>
                          <a:latin typeface="Calibri"/>
                          <a:ea typeface="Calibri"/>
                          <a:cs typeface="Calibri"/>
                        </a:rPr>
                        <a:t>High</a:t>
                      </a:r>
                    </a:p>
                  </a:txBody>
                  <a:tcPr anchor="ctr">
                    <a:solidFill>
                      <a:srgbClr val="E6F4F6"/>
                    </a:solidFill>
                  </a:tcPr>
                </a:tc>
                <a:extLst>
                  <a:ext uri="{0D108BD9-81ED-4DB2-BD59-A6C34878D82A}">
                    <a16:rowId xmlns:a16="http://schemas.microsoft.com/office/drawing/2014/main" val="2339067859"/>
                  </a:ext>
                </a:extLst>
              </a:tr>
              <a:tr h="524486">
                <a:tc>
                  <a:txBody>
                    <a:bodyPr/>
                    <a:lstStyle/>
                    <a:p>
                      <a:pPr algn="l"/>
                      <a:r>
                        <a:rPr lang="en-IN" sz="1400" b="1" dirty="0">
                          <a:solidFill>
                            <a:srgbClr val="16223A"/>
                          </a:solidFill>
                          <a:latin typeface="Calibri"/>
                          <a:ea typeface="Calibri"/>
                          <a:cs typeface="Calibri"/>
                        </a:rPr>
                        <a:t>Robotics Applications</a:t>
                      </a:r>
                    </a:p>
                  </a:txBody>
                  <a:tcPr anchor="ctr">
                    <a:solidFill>
                      <a:srgbClr val="F4F6F9"/>
                    </a:solidFill>
                  </a:tcPr>
                </a:tc>
                <a:tc>
                  <a:txBody>
                    <a:bodyPr/>
                    <a:lstStyle/>
                    <a:p>
                      <a:pPr algn="l"/>
                      <a:r>
                        <a:rPr lang="en-IN" sz="1400" dirty="0">
                          <a:solidFill>
                            <a:srgbClr val="3A4658"/>
                          </a:solidFill>
                          <a:latin typeface="Calibri"/>
                          <a:ea typeface="Calibri"/>
                          <a:cs typeface="Calibri"/>
                        </a:rPr>
                        <a:t>Hobby projects</a:t>
                      </a:r>
                    </a:p>
                  </a:txBody>
                  <a:tcPr anchor="ctr">
                    <a:solidFill>
                      <a:srgbClr val="FFFFFF"/>
                    </a:solidFill>
                  </a:tcPr>
                </a:tc>
                <a:tc>
                  <a:txBody>
                    <a:bodyPr/>
                    <a:lstStyle/>
                    <a:p>
                      <a:pPr algn="l"/>
                      <a:r>
                        <a:rPr lang="en-IN" sz="1400" dirty="0">
                          <a:solidFill>
                            <a:srgbClr val="16223A"/>
                          </a:solidFill>
                          <a:latin typeface="Calibri"/>
                          <a:ea typeface="Calibri"/>
                          <a:cs typeface="Calibri"/>
                        </a:rPr>
                        <a:t>Research and industrial robotics</a:t>
                      </a:r>
                    </a:p>
                  </a:txBody>
                  <a:tcPr anchor="ctr">
                    <a:solidFill>
                      <a:srgbClr val="E6F4F6"/>
                    </a:solidFill>
                  </a:tcPr>
                </a:tc>
                <a:extLst>
                  <a:ext uri="{0D108BD9-81ED-4DB2-BD59-A6C34878D82A}">
                    <a16:rowId xmlns:a16="http://schemas.microsoft.com/office/drawing/2014/main" val="1084950083"/>
                  </a:ext>
                </a:extLst>
              </a:tr>
            </a:tbl>
          </a:graphicData>
        </a:graphic>
      </p:graphicFrame>
      <p:pic>
        <p:nvPicPr>
          <p:cNvPr id="9" name="Picture 8">
            <a:extLst>
              <a:ext uri="{FF2B5EF4-FFF2-40B4-BE49-F238E27FC236}">
                <a16:creationId xmlns:a16="http://schemas.microsoft.com/office/drawing/2014/main" id="{62BB27E5-1A94-7525-BF59-74EF6B337C81}"/>
              </a:ext>
            </a:extLst>
          </p:cNvPr>
          <p:cNvPicPr>
            <a:picLocks noChangeAspect="1"/>
          </p:cNvPicPr>
          <p:nvPr/>
        </p:nvPicPr>
        <p:blipFill>
          <a:blip r:embed="rId2"/>
          <a:stretch>
            <a:fillRect/>
          </a:stretch>
        </p:blipFill>
        <p:spPr>
          <a:xfrm>
            <a:off x="5968999" y="5866228"/>
            <a:ext cx="1676791" cy="915572"/>
          </a:xfrm>
          <a:prstGeom prst="rect">
            <a:avLst/>
          </a:prstGeom>
        </p:spPr>
      </p:pic>
      <p:pic>
        <p:nvPicPr>
          <p:cNvPr id="11" name="Picture 10">
            <a:extLst>
              <a:ext uri="{FF2B5EF4-FFF2-40B4-BE49-F238E27FC236}">
                <a16:creationId xmlns:a16="http://schemas.microsoft.com/office/drawing/2014/main" id="{C8D52D7D-EF94-EEFF-57BE-DFBE3ED682EB}"/>
              </a:ext>
            </a:extLst>
          </p:cNvPr>
          <p:cNvPicPr>
            <a:picLocks noChangeAspect="1"/>
          </p:cNvPicPr>
          <p:nvPr/>
        </p:nvPicPr>
        <p:blipFill>
          <a:blip r:embed="rId3"/>
          <a:stretch>
            <a:fillRect/>
          </a:stretch>
        </p:blipFill>
        <p:spPr>
          <a:xfrm>
            <a:off x="8932985" y="5765902"/>
            <a:ext cx="1485105" cy="1015898"/>
          </a:xfrm>
          <a:prstGeom prst="rect">
            <a:avLst/>
          </a:prstGeom>
        </p:spPr>
      </p:pic>
    </p:spTree>
    <p:extLst>
      <p:ext uri="{BB962C8B-B14F-4D97-AF65-F5344CB8AC3E}">
        <p14:creationId xmlns:p14="http://schemas.microsoft.com/office/powerpoint/2010/main" val="42842263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eftCard">
            <a:extLst>
              <a:ext uri="{FF2B5EF4-FFF2-40B4-BE49-F238E27FC236}">
                <a16:creationId xmlns:a16="http://schemas.microsoft.com/office/drawing/2014/main" id="{0056E78F-92D5-4262-AAF1-277172916451}"/>
              </a:ext>
            </a:extLst>
          </p:cNvPr>
          <p:cNvSpPr/>
          <p:nvPr/>
        </p:nvSpPr>
        <p:spPr>
          <a:xfrm>
            <a:off x="546100" y="1422400"/>
            <a:ext cx="5334000" cy="2133600"/>
          </a:xfrm>
          <a:prstGeom prst="roundRect">
            <a:avLst/>
          </a:prstGeom>
          <a:solidFill>
            <a:srgbClr val="FFFFFF"/>
          </a:solidFill>
          <a:ln w="12700" cap="flat" cmpd="sng" algn="ctr">
            <a:solidFill>
              <a:srgbClr val="E2E8F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 name="RightCard">
            <a:extLst>
              <a:ext uri="{FF2B5EF4-FFF2-40B4-BE49-F238E27FC236}">
                <a16:creationId xmlns:a16="http://schemas.microsoft.com/office/drawing/2014/main" id="{24DBE37A-9E70-4159-95DD-2B494C422BC7}"/>
              </a:ext>
            </a:extLst>
          </p:cNvPr>
          <p:cNvSpPr/>
          <p:nvPr/>
        </p:nvSpPr>
        <p:spPr>
          <a:xfrm>
            <a:off x="6311900" y="1422400"/>
            <a:ext cx="5334000" cy="2133600"/>
          </a:xfrm>
          <a:prstGeom prst="roundRect">
            <a:avLst/>
          </a:prstGeom>
          <a:solidFill>
            <a:srgbClr val="FFFFFF"/>
          </a:solidFill>
          <a:ln w="12700" cap="flat" cmpd="sng" algn="ctr">
            <a:solidFill>
              <a:srgbClr val="E2E8F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4" name="LearnCard">
            <a:extLst>
              <a:ext uri="{FF2B5EF4-FFF2-40B4-BE49-F238E27FC236}">
                <a16:creationId xmlns:a16="http://schemas.microsoft.com/office/drawing/2014/main" id="{945938B6-711B-47B7-94C3-12F7938EAA96}"/>
              </a:ext>
            </a:extLst>
          </p:cNvPr>
          <p:cNvSpPr/>
          <p:nvPr/>
        </p:nvSpPr>
        <p:spPr>
          <a:xfrm>
            <a:off x="546100" y="3657600"/>
            <a:ext cx="5334000" cy="2743200"/>
          </a:xfrm>
          <a:prstGeom prst="roundRect">
            <a:avLst/>
          </a:prstGeom>
          <a:solidFill>
            <a:srgbClr val="FFFFFF"/>
          </a:solidFill>
          <a:ln w="12700" cap="flat" cmpd="sng" algn="ctr">
            <a:solidFill>
              <a:srgbClr val="E2E8F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5" name="DecCard">
            <a:extLst>
              <a:ext uri="{FF2B5EF4-FFF2-40B4-BE49-F238E27FC236}">
                <a16:creationId xmlns:a16="http://schemas.microsoft.com/office/drawing/2014/main" id="{769BC5B9-3C4D-4227-8B3B-8FACD1E290E0}"/>
              </a:ext>
            </a:extLst>
          </p:cNvPr>
          <p:cNvSpPr/>
          <p:nvPr/>
        </p:nvSpPr>
        <p:spPr>
          <a:xfrm>
            <a:off x="6311900" y="3657600"/>
            <a:ext cx="5334000" cy="2743200"/>
          </a:xfrm>
          <a:prstGeom prst="roundRect">
            <a:avLst/>
          </a:prstGeom>
          <a:solidFill>
            <a:srgbClr val="16223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6" name="EyebrowB">
            <a:extLst>
              <a:ext uri="{FF2B5EF4-FFF2-40B4-BE49-F238E27FC236}">
                <a16:creationId xmlns:a16="http://schemas.microsoft.com/office/drawing/2014/main" id="{0132597A-8662-4681-BE67-71F52E66C72F}"/>
              </a:ext>
            </a:extLst>
          </p:cNvPr>
          <p:cNvSpPr txBox="1"/>
          <p:nvPr/>
        </p:nvSpPr>
        <p:spPr>
          <a:xfrm>
            <a:off x="546100" y="381000"/>
            <a:ext cx="10414000" cy="279400"/>
          </a:xfrm>
          <a:prstGeom prst="rect">
            <a:avLst/>
          </a:prstGeom>
          <a:noFill/>
        </p:spPr>
        <p:txBody>
          <a:bodyPr vertOverflow="overflow" vert="horz" wrap="square" rtlCol="0" anchor="t" anchorCtr="0">
            <a:noAutofit/>
          </a:bodyPr>
          <a:lstStyle/>
          <a:p>
            <a:pPr marL="0" indent="0">
              <a:buNone/>
            </a:pPr>
            <a:r>
              <a:rPr lang="en-US" sz="1200" b="1" spc="300" dirty="0">
                <a:solidFill>
                  <a:srgbClr val="0E96AC"/>
                </a:solidFill>
                <a:latin typeface="Calibri" pitchFamily="34" charset="0"/>
              </a:rPr>
              <a:t>ARCHITECTURE &amp; DECISION</a:t>
            </a:r>
          </a:p>
        </p:txBody>
      </p:sp>
      <p:sp>
        <p:nvSpPr>
          <p:cNvPr id="7" name="TitleB">
            <a:extLst>
              <a:ext uri="{FF2B5EF4-FFF2-40B4-BE49-F238E27FC236}">
                <a16:creationId xmlns:a16="http://schemas.microsoft.com/office/drawing/2014/main" id="{46AB9848-941D-4FEF-BEB1-1414EB9FBE78}"/>
              </a:ext>
            </a:extLst>
          </p:cNvPr>
          <p:cNvSpPr txBox="1"/>
          <p:nvPr/>
        </p:nvSpPr>
        <p:spPr>
          <a:xfrm>
            <a:off x="533400" y="635000"/>
            <a:ext cx="11049000" cy="609600"/>
          </a:xfrm>
          <a:prstGeom prst="rect">
            <a:avLst/>
          </a:prstGeom>
          <a:noFill/>
        </p:spPr>
        <p:txBody>
          <a:bodyPr vertOverflow="overflow" vert="horz" wrap="square" rtlCol="0" anchor="t" anchorCtr="0">
            <a:noAutofit/>
          </a:bodyPr>
          <a:lstStyle/>
          <a:p>
            <a:pPr marL="0" indent="0">
              <a:buNone/>
            </a:pPr>
            <a:r>
              <a:rPr lang="en-US" sz="3000" b="1" dirty="0">
                <a:solidFill>
                  <a:srgbClr val="16223A"/>
                </a:solidFill>
                <a:latin typeface="Calibri" pitchFamily="34" charset="0"/>
              </a:rPr>
              <a:t>Daisy-Chain Architecture &amp; Final Selection</a:t>
            </a:r>
          </a:p>
        </p:txBody>
      </p:sp>
      <p:sp>
        <p:nvSpPr>
          <p:cNvPr id="8" name="ServoGlyphBody">
            <a:extLst>
              <a:ext uri="{FF2B5EF4-FFF2-40B4-BE49-F238E27FC236}">
                <a16:creationId xmlns:a16="http://schemas.microsoft.com/office/drawing/2014/main" id="{8A03D9A3-2075-450B-B675-A74D30FE9A88}"/>
              </a:ext>
            </a:extLst>
          </p:cNvPr>
          <p:cNvSpPr/>
          <p:nvPr/>
        </p:nvSpPr>
        <p:spPr>
          <a:xfrm>
            <a:off x="762000" y="1498600"/>
            <a:ext cx="304800" cy="228600"/>
          </a:xfrm>
          <a:prstGeom prst="roundRect">
            <a:avLst/>
          </a:prstGeom>
          <a:solidFill>
            <a:srgbClr val="5A6473"/>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9" name="ServoGlyphHorn">
            <a:extLst>
              <a:ext uri="{FF2B5EF4-FFF2-40B4-BE49-F238E27FC236}">
                <a16:creationId xmlns:a16="http://schemas.microsoft.com/office/drawing/2014/main" id="{DB2656A8-5200-4995-950C-8E582F0047DC}"/>
              </a:ext>
            </a:extLst>
          </p:cNvPr>
          <p:cNvSpPr/>
          <p:nvPr/>
        </p:nvSpPr>
        <p:spPr>
          <a:xfrm>
            <a:off x="850900" y="1435100"/>
            <a:ext cx="127000" cy="114300"/>
          </a:xfrm>
          <a:prstGeom prst="ellipse">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0" name="LeftTitle">
            <a:extLst>
              <a:ext uri="{FF2B5EF4-FFF2-40B4-BE49-F238E27FC236}">
                <a16:creationId xmlns:a16="http://schemas.microsoft.com/office/drawing/2014/main" id="{F5221BA7-BF56-4458-9848-3FCF2A8E96ED}"/>
              </a:ext>
            </a:extLst>
          </p:cNvPr>
          <p:cNvSpPr txBox="1"/>
          <p:nvPr/>
        </p:nvSpPr>
        <p:spPr>
          <a:xfrm>
            <a:off x="1168400" y="1473200"/>
            <a:ext cx="4572000" cy="279400"/>
          </a:xfrm>
          <a:prstGeom prst="rect">
            <a:avLst/>
          </a:prstGeom>
          <a:noFill/>
        </p:spPr>
        <p:txBody>
          <a:bodyPr vertOverflow="overflow" vert="horz" wrap="square" rtlCol="0" anchor="t" anchorCtr="0">
            <a:noAutofit/>
          </a:bodyPr>
          <a:lstStyle/>
          <a:p>
            <a:pPr marL="0" indent="0">
              <a:buNone/>
            </a:pPr>
            <a:r>
              <a:rPr lang="en-US" sz="1350" b="1" dirty="0">
                <a:solidFill>
                  <a:srgbClr val="16223A"/>
                </a:solidFill>
                <a:latin typeface="Calibri" pitchFamily="34" charset="0"/>
              </a:rPr>
              <a:t>Conventional Servo — Separate Wiring</a:t>
            </a:r>
          </a:p>
        </p:txBody>
      </p:sp>
      <p:sp>
        <p:nvSpPr>
          <p:cNvPr id="11" name="CtrlL">
            <a:extLst>
              <a:ext uri="{FF2B5EF4-FFF2-40B4-BE49-F238E27FC236}">
                <a16:creationId xmlns:a16="http://schemas.microsoft.com/office/drawing/2014/main" id="{E0569885-D4FA-4DD4-9A3F-1E29F3533E47}"/>
              </a:ext>
            </a:extLst>
          </p:cNvPr>
          <p:cNvSpPr/>
          <p:nvPr/>
        </p:nvSpPr>
        <p:spPr>
          <a:xfrm>
            <a:off x="800100" y="2184400"/>
            <a:ext cx="1066800" cy="685800"/>
          </a:xfrm>
          <a:prstGeom prst="rect">
            <a:avLst/>
          </a:prstGeom>
          <a:solidFill>
            <a:srgbClr val="16223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200" b="1">
                <a:solidFill>
                  <a:srgbClr val="FFFFFF"/>
                </a:solidFill>
                <a:latin typeface="Calibri"/>
                <a:ea typeface="Calibri"/>
                <a:cs typeface="Calibri"/>
              </a:rPr>
              <a:t>Controller</a:t>
            </a:r>
          </a:p>
        </p:txBody>
      </p:sp>
      <p:sp>
        <p:nvSpPr>
          <p:cNvPr id="12" name="BusV">
            <a:extLst>
              <a:ext uri="{FF2B5EF4-FFF2-40B4-BE49-F238E27FC236}">
                <a16:creationId xmlns:a16="http://schemas.microsoft.com/office/drawing/2014/main" id="{02527D18-7BCF-41AE-AD08-927C1540483A}"/>
              </a:ext>
            </a:extLst>
          </p:cNvPr>
          <p:cNvSpPr/>
          <p:nvPr/>
        </p:nvSpPr>
        <p:spPr>
          <a:xfrm>
            <a:off x="1905000" y="2032000"/>
            <a:ext cx="38100" cy="990600"/>
          </a:xfrm>
          <a:prstGeom prst="rect">
            <a:avLst/>
          </a:prstGeom>
          <a:solidFill>
            <a:srgbClr val="9AA6B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3" name="CtrlBus">
            <a:extLst>
              <a:ext uri="{FF2B5EF4-FFF2-40B4-BE49-F238E27FC236}">
                <a16:creationId xmlns:a16="http://schemas.microsoft.com/office/drawing/2014/main" id="{1CE24EE8-02CD-44D4-B87F-12FCB67D908F}"/>
              </a:ext>
            </a:extLst>
          </p:cNvPr>
          <p:cNvSpPr/>
          <p:nvPr/>
        </p:nvSpPr>
        <p:spPr>
          <a:xfrm>
            <a:off x="1866900" y="2527300"/>
            <a:ext cx="76200" cy="38100"/>
          </a:xfrm>
          <a:prstGeom prst="rect">
            <a:avLst/>
          </a:prstGeom>
          <a:solidFill>
            <a:srgbClr val="9AA6B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4" name="Stub0">
            <a:extLst>
              <a:ext uri="{FF2B5EF4-FFF2-40B4-BE49-F238E27FC236}">
                <a16:creationId xmlns:a16="http://schemas.microsoft.com/office/drawing/2014/main" id="{A9C20F89-A278-4DB5-8A0F-545E206D3B94}"/>
              </a:ext>
            </a:extLst>
          </p:cNvPr>
          <p:cNvSpPr/>
          <p:nvPr/>
        </p:nvSpPr>
        <p:spPr>
          <a:xfrm>
            <a:off x="1943100" y="2019300"/>
            <a:ext cx="1866900" cy="38100"/>
          </a:xfrm>
          <a:prstGeom prst="rect">
            <a:avLst/>
          </a:prstGeom>
          <a:solidFill>
            <a:srgbClr val="9AA6B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5" name="Servo0">
            <a:extLst>
              <a:ext uri="{FF2B5EF4-FFF2-40B4-BE49-F238E27FC236}">
                <a16:creationId xmlns:a16="http://schemas.microsoft.com/office/drawing/2014/main" id="{FE0E4700-8C3C-42D9-84F1-E6C73B1DD53A}"/>
              </a:ext>
            </a:extLst>
          </p:cNvPr>
          <p:cNvSpPr/>
          <p:nvPr/>
        </p:nvSpPr>
        <p:spPr>
          <a:xfrm>
            <a:off x="3810000" y="1905000"/>
            <a:ext cx="1524000" cy="254000"/>
          </a:xfrm>
          <a:prstGeom prst="rect">
            <a:avLst/>
          </a:prstGeom>
          <a:solidFill>
            <a:srgbClr val="EEF1F5"/>
          </a:solidFill>
          <a:ln w="12700" cap="flat" cmpd="sng" algn="ctr">
            <a:solidFill>
              <a:srgbClr val="D7DEE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200" b="1">
                <a:solidFill>
                  <a:srgbClr val="16223A"/>
                </a:solidFill>
                <a:latin typeface="Calibri"/>
                <a:ea typeface="Calibri"/>
                <a:cs typeface="Calibri"/>
              </a:rPr>
              <a:t>Servo 1</a:t>
            </a:r>
          </a:p>
        </p:txBody>
      </p:sp>
      <p:sp>
        <p:nvSpPr>
          <p:cNvPr id="16" name="Stub1">
            <a:extLst>
              <a:ext uri="{FF2B5EF4-FFF2-40B4-BE49-F238E27FC236}">
                <a16:creationId xmlns:a16="http://schemas.microsoft.com/office/drawing/2014/main" id="{814852D2-A9D9-48F2-88CF-C20F3BDEBC7E}"/>
              </a:ext>
            </a:extLst>
          </p:cNvPr>
          <p:cNvSpPr/>
          <p:nvPr/>
        </p:nvSpPr>
        <p:spPr>
          <a:xfrm>
            <a:off x="1943100" y="2349500"/>
            <a:ext cx="1866900" cy="38100"/>
          </a:xfrm>
          <a:prstGeom prst="rect">
            <a:avLst/>
          </a:prstGeom>
          <a:solidFill>
            <a:srgbClr val="9AA6B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7" name="Servo1">
            <a:extLst>
              <a:ext uri="{FF2B5EF4-FFF2-40B4-BE49-F238E27FC236}">
                <a16:creationId xmlns:a16="http://schemas.microsoft.com/office/drawing/2014/main" id="{CAEAB1FD-0CEA-4D2C-AEF7-0FF176392BDC}"/>
              </a:ext>
            </a:extLst>
          </p:cNvPr>
          <p:cNvSpPr/>
          <p:nvPr/>
        </p:nvSpPr>
        <p:spPr>
          <a:xfrm>
            <a:off x="3810000" y="2235200"/>
            <a:ext cx="1524000" cy="254000"/>
          </a:xfrm>
          <a:prstGeom prst="rect">
            <a:avLst/>
          </a:prstGeom>
          <a:solidFill>
            <a:srgbClr val="EEF1F5"/>
          </a:solidFill>
          <a:ln w="12700" cap="flat" cmpd="sng" algn="ctr">
            <a:solidFill>
              <a:srgbClr val="D7DEE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200" b="1">
                <a:solidFill>
                  <a:srgbClr val="16223A"/>
                </a:solidFill>
                <a:latin typeface="Calibri"/>
                <a:ea typeface="Calibri"/>
                <a:cs typeface="Calibri"/>
              </a:rPr>
              <a:t>Servo 2</a:t>
            </a:r>
          </a:p>
        </p:txBody>
      </p:sp>
      <p:sp>
        <p:nvSpPr>
          <p:cNvPr id="18" name="Stub2">
            <a:extLst>
              <a:ext uri="{FF2B5EF4-FFF2-40B4-BE49-F238E27FC236}">
                <a16:creationId xmlns:a16="http://schemas.microsoft.com/office/drawing/2014/main" id="{EB319E6F-F90C-43F4-9030-6DB43A605F2E}"/>
              </a:ext>
            </a:extLst>
          </p:cNvPr>
          <p:cNvSpPr/>
          <p:nvPr/>
        </p:nvSpPr>
        <p:spPr>
          <a:xfrm>
            <a:off x="1943100" y="2679700"/>
            <a:ext cx="1866900" cy="38100"/>
          </a:xfrm>
          <a:prstGeom prst="rect">
            <a:avLst/>
          </a:prstGeom>
          <a:solidFill>
            <a:srgbClr val="9AA6B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9" name="Servo2">
            <a:extLst>
              <a:ext uri="{FF2B5EF4-FFF2-40B4-BE49-F238E27FC236}">
                <a16:creationId xmlns:a16="http://schemas.microsoft.com/office/drawing/2014/main" id="{76E772AE-A541-49C3-B4C3-B05CCE714E7C}"/>
              </a:ext>
            </a:extLst>
          </p:cNvPr>
          <p:cNvSpPr/>
          <p:nvPr/>
        </p:nvSpPr>
        <p:spPr>
          <a:xfrm>
            <a:off x="3810000" y="2565400"/>
            <a:ext cx="1524000" cy="254000"/>
          </a:xfrm>
          <a:prstGeom prst="rect">
            <a:avLst/>
          </a:prstGeom>
          <a:solidFill>
            <a:srgbClr val="EEF1F5"/>
          </a:solidFill>
          <a:ln w="12700" cap="flat" cmpd="sng" algn="ctr">
            <a:solidFill>
              <a:srgbClr val="D7DEE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200" b="1">
                <a:solidFill>
                  <a:srgbClr val="16223A"/>
                </a:solidFill>
                <a:latin typeface="Calibri"/>
                <a:ea typeface="Calibri"/>
                <a:cs typeface="Calibri"/>
              </a:rPr>
              <a:t>Servo 3</a:t>
            </a:r>
          </a:p>
        </p:txBody>
      </p:sp>
      <p:sp>
        <p:nvSpPr>
          <p:cNvPr id="20" name="Stub3">
            <a:extLst>
              <a:ext uri="{FF2B5EF4-FFF2-40B4-BE49-F238E27FC236}">
                <a16:creationId xmlns:a16="http://schemas.microsoft.com/office/drawing/2014/main" id="{B02FBDF1-8D37-4D56-8B5D-B0C727AEC152}"/>
              </a:ext>
            </a:extLst>
          </p:cNvPr>
          <p:cNvSpPr/>
          <p:nvPr/>
        </p:nvSpPr>
        <p:spPr>
          <a:xfrm>
            <a:off x="1943100" y="3009900"/>
            <a:ext cx="1866900" cy="38100"/>
          </a:xfrm>
          <a:prstGeom prst="rect">
            <a:avLst/>
          </a:prstGeom>
          <a:solidFill>
            <a:srgbClr val="9AA6B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21" name="Servo3">
            <a:extLst>
              <a:ext uri="{FF2B5EF4-FFF2-40B4-BE49-F238E27FC236}">
                <a16:creationId xmlns:a16="http://schemas.microsoft.com/office/drawing/2014/main" id="{77B767ED-463D-48E9-99C3-6473A23AD437}"/>
              </a:ext>
            </a:extLst>
          </p:cNvPr>
          <p:cNvSpPr/>
          <p:nvPr/>
        </p:nvSpPr>
        <p:spPr>
          <a:xfrm>
            <a:off x="3810000" y="2895600"/>
            <a:ext cx="1524000" cy="254000"/>
          </a:xfrm>
          <a:prstGeom prst="rect">
            <a:avLst/>
          </a:prstGeom>
          <a:solidFill>
            <a:srgbClr val="EEF1F5"/>
          </a:solidFill>
          <a:ln w="12700" cap="flat" cmpd="sng" algn="ctr">
            <a:solidFill>
              <a:srgbClr val="D7DEE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200" b="1">
                <a:solidFill>
                  <a:srgbClr val="16223A"/>
                </a:solidFill>
                <a:latin typeface="Calibri"/>
                <a:ea typeface="Calibri"/>
                <a:cs typeface="Calibri"/>
              </a:rPr>
              <a:t>Servo 4</a:t>
            </a:r>
          </a:p>
        </p:txBody>
      </p:sp>
      <p:sp>
        <p:nvSpPr>
          <p:cNvPr id="22" name="LeftCap">
            <a:extLst>
              <a:ext uri="{FF2B5EF4-FFF2-40B4-BE49-F238E27FC236}">
                <a16:creationId xmlns:a16="http://schemas.microsoft.com/office/drawing/2014/main" id="{9EC08625-1DD4-4DAA-8C00-FBCBF71DFEB5}"/>
              </a:ext>
            </a:extLst>
          </p:cNvPr>
          <p:cNvSpPr txBox="1"/>
          <p:nvPr/>
        </p:nvSpPr>
        <p:spPr>
          <a:xfrm>
            <a:off x="762000" y="3238500"/>
            <a:ext cx="5080000" cy="228600"/>
          </a:xfrm>
          <a:prstGeom prst="rect">
            <a:avLst/>
          </a:prstGeom>
          <a:noFill/>
        </p:spPr>
        <p:txBody>
          <a:bodyPr vertOverflow="overflow" vert="horz" wrap="square" rtlCol="0" anchor="t" anchorCtr="0">
            <a:noAutofit/>
          </a:bodyPr>
          <a:lstStyle/>
          <a:p>
            <a:pPr marL="0" indent="0">
              <a:buNone/>
            </a:pPr>
            <a:r>
              <a:rPr lang="en-US" sz="1400" dirty="0">
                <a:solidFill>
                  <a:srgbClr val="3A4658"/>
                </a:solidFill>
                <a:latin typeface="Calibri" pitchFamily="34" charset="0"/>
              </a:rPr>
              <a:t>Every motor needs its own signal wire back to the controller.</a:t>
            </a:r>
          </a:p>
        </p:txBody>
      </p:sp>
      <p:sp>
        <p:nvSpPr>
          <p:cNvPr id="23" name="XLGlyphBody">
            <a:extLst>
              <a:ext uri="{FF2B5EF4-FFF2-40B4-BE49-F238E27FC236}">
                <a16:creationId xmlns:a16="http://schemas.microsoft.com/office/drawing/2014/main" id="{C8E18AD2-F4A3-40BC-87F2-BED483297313}"/>
              </a:ext>
            </a:extLst>
          </p:cNvPr>
          <p:cNvSpPr/>
          <p:nvPr/>
        </p:nvSpPr>
        <p:spPr>
          <a:xfrm>
            <a:off x="6527800" y="1473200"/>
            <a:ext cx="254000" cy="254000"/>
          </a:xfrm>
          <a:prstGeom prst="roundRect">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24" name="XLGlyphHorn">
            <a:extLst>
              <a:ext uri="{FF2B5EF4-FFF2-40B4-BE49-F238E27FC236}">
                <a16:creationId xmlns:a16="http://schemas.microsoft.com/office/drawing/2014/main" id="{7FC80302-C31A-4BBF-A9FA-3633069FB1AC}"/>
              </a:ext>
            </a:extLst>
          </p:cNvPr>
          <p:cNvSpPr/>
          <p:nvPr/>
        </p:nvSpPr>
        <p:spPr>
          <a:xfrm>
            <a:off x="6604000" y="1549400"/>
            <a:ext cx="101600" cy="101600"/>
          </a:xfrm>
          <a:prstGeom prst="ellipse">
            <a:avLst/>
          </a:prstGeom>
          <a:solidFill>
            <a:srgbClr val="FFFF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25" name="RightTitle">
            <a:extLst>
              <a:ext uri="{FF2B5EF4-FFF2-40B4-BE49-F238E27FC236}">
                <a16:creationId xmlns:a16="http://schemas.microsoft.com/office/drawing/2014/main" id="{4455D221-E0A3-42F1-BA92-A0B9855B4D16}"/>
              </a:ext>
            </a:extLst>
          </p:cNvPr>
          <p:cNvSpPr txBox="1"/>
          <p:nvPr/>
        </p:nvSpPr>
        <p:spPr>
          <a:xfrm>
            <a:off x="6883400" y="1473200"/>
            <a:ext cx="4699000" cy="279400"/>
          </a:xfrm>
          <a:prstGeom prst="rect">
            <a:avLst/>
          </a:prstGeom>
          <a:noFill/>
        </p:spPr>
        <p:txBody>
          <a:bodyPr vertOverflow="overflow" vert="horz" wrap="square" rtlCol="0" anchor="t" anchorCtr="0">
            <a:noAutofit/>
          </a:bodyPr>
          <a:lstStyle/>
          <a:p>
            <a:pPr marL="0" indent="0">
              <a:buNone/>
            </a:pPr>
            <a:r>
              <a:rPr lang="en-US" sz="1350" b="1" dirty="0">
                <a:solidFill>
                  <a:srgbClr val="0E96AC"/>
                </a:solidFill>
                <a:latin typeface="Calibri" pitchFamily="34" charset="0"/>
              </a:rPr>
              <a:t>Dynamixel — Daisy-Chain</a:t>
            </a:r>
          </a:p>
        </p:txBody>
      </p:sp>
      <p:sp>
        <p:nvSpPr>
          <p:cNvPr id="26" name="CtrlR">
            <a:extLst>
              <a:ext uri="{FF2B5EF4-FFF2-40B4-BE49-F238E27FC236}">
                <a16:creationId xmlns:a16="http://schemas.microsoft.com/office/drawing/2014/main" id="{93A5EAD7-35C9-42DC-A970-DE541959CA8C}"/>
              </a:ext>
            </a:extLst>
          </p:cNvPr>
          <p:cNvSpPr/>
          <p:nvPr/>
        </p:nvSpPr>
        <p:spPr>
          <a:xfrm>
            <a:off x="6502400" y="2438400"/>
            <a:ext cx="736600" cy="584200"/>
          </a:xfrm>
          <a:prstGeom prst="rect">
            <a:avLst/>
          </a:prstGeom>
          <a:solidFill>
            <a:srgbClr val="16223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200" b="1">
                <a:solidFill>
                  <a:srgbClr val="FFFFFF"/>
                </a:solidFill>
                <a:latin typeface="Calibri"/>
                <a:ea typeface="Calibri"/>
                <a:cs typeface="Calibri"/>
              </a:rPr>
              <a:t>Ctrl</a:t>
            </a:r>
          </a:p>
        </p:txBody>
      </p:sp>
      <p:sp>
        <p:nvSpPr>
          <p:cNvPr id="27" name="M0">
            <a:extLst>
              <a:ext uri="{FF2B5EF4-FFF2-40B4-BE49-F238E27FC236}">
                <a16:creationId xmlns:a16="http://schemas.microsoft.com/office/drawing/2014/main" id="{4CB46D67-A245-439A-902D-801546B8D4D1}"/>
              </a:ext>
            </a:extLst>
          </p:cNvPr>
          <p:cNvSpPr/>
          <p:nvPr/>
        </p:nvSpPr>
        <p:spPr>
          <a:xfrm>
            <a:off x="7569200" y="2438400"/>
            <a:ext cx="660400" cy="584200"/>
          </a:xfrm>
          <a:prstGeom prst="roundRect">
            <a:avLst/>
          </a:prstGeom>
          <a:solidFill>
            <a:srgbClr val="E6F4F6"/>
          </a:solidFill>
          <a:ln w="12700" cap="flat" cmpd="sng" algn="ctr">
            <a:solidFill>
              <a:srgbClr val="0E96A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300" b="1">
                <a:solidFill>
                  <a:srgbClr val="16223A"/>
                </a:solidFill>
                <a:latin typeface="Calibri"/>
                <a:ea typeface="Calibri"/>
                <a:cs typeface="Calibri"/>
              </a:rPr>
              <a:t>M1</a:t>
            </a:r>
          </a:p>
        </p:txBody>
      </p:sp>
      <p:sp>
        <p:nvSpPr>
          <p:cNvPr id="28" name="M1">
            <a:extLst>
              <a:ext uri="{FF2B5EF4-FFF2-40B4-BE49-F238E27FC236}">
                <a16:creationId xmlns:a16="http://schemas.microsoft.com/office/drawing/2014/main" id="{45FEF653-99C3-4FEF-B454-B3E087841AE7}"/>
              </a:ext>
            </a:extLst>
          </p:cNvPr>
          <p:cNvSpPr/>
          <p:nvPr/>
        </p:nvSpPr>
        <p:spPr>
          <a:xfrm>
            <a:off x="8559800" y="2438400"/>
            <a:ext cx="660400" cy="584200"/>
          </a:xfrm>
          <a:prstGeom prst="roundRect">
            <a:avLst/>
          </a:prstGeom>
          <a:solidFill>
            <a:srgbClr val="E6F4F6"/>
          </a:solidFill>
          <a:ln w="12700" cap="flat" cmpd="sng" algn="ctr">
            <a:solidFill>
              <a:srgbClr val="0E96A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300" b="1">
                <a:solidFill>
                  <a:srgbClr val="16223A"/>
                </a:solidFill>
                <a:latin typeface="Calibri"/>
                <a:ea typeface="Calibri"/>
                <a:cs typeface="Calibri"/>
              </a:rPr>
              <a:t>M2</a:t>
            </a:r>
          </a:p>
        </p:txBody>
      </p:sp>
      <p:sp>
        <p:nvSpPr>
          <p:cNvPr id="29" name="M2">
            <a:extLst>
              <a:ext uri="{FF2B5EF4-FFF2-40B4-BE49-F238E27FC236}">
                <a16:creationId xmlns:a16="http://schemas.microsoft.com/office/drawing/2014/main" id="{A74F96EC-B6BB-422E-8C35-E10D91EB265A}"/>
              </a:ext>
            </a:extLst>
          </p:cNvPr>
          <p:cNvSpPr/>
          <p:nvPr/>
        </p:nvSpPr>
        <p:spPr>
          <a:xfrm>
            <a:off x="9550400" y="2438400"/>
            <a:ext cx="660400" cy="584200"/>
          </a:xfrm>
          <a:prstGeom prst="roundRect">
            <a:avLst/>
          </a:prstGeom>
          <a:solidFill>
            <a:srgbClr val="E6F4F6"/>
          </a:solidFill>
          <a:ln w="12700" cap="flat" cmpd="sng" algn="ctr">
            <a:solidFill>
              <a:srgbClr val="0E96A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300" b="1">
                <a:solidFill>
                  <a:srgbClr val="16223A"/>
                </a:solidFill>
                <a:latin typeface="Calibri"/>
                <a:ea typeface="Calibri"/>
                <a:cs typeface="Calibri"/>
              </a:rPr>
              <a:t>M3</a:t>
            </a:r>
          </a:p>
        </p:txBody>
      </p:sp>
      <p:sp>
        <p:nvSpPr>
          <p:cNvPr id="30" name="M3">
            <a:extLst>
              <a:ext uri="{FF2B5EF4-FFF2-40B4-BE49-F238E27FC236}">
                <a16:creationId xmlns:a16="http://schemas.microsoft.com/office/drawing/2014/main" id="{A9620D07-EC3B-42BC-9AE1-D164B351DF4C}"/>
              </a:ext>
            </a:extLst>
          </p:cNvPr>
          <p:cNvSpPr/>
          <p:nvPr/>
        </p:nvSpPr>
        <p:spPr>
          <a:xfrm>
            <a:off x="10541000" y="2438400"/>
            <a:ext cx="660400" cy="584200"/>
          </a:xfrm>
          <a:prstGeom prst="roundRect">
            <a:avLst/>
          </a:prstGeom>
          <a:solidFill>
            <a:srgbClr val="E6F4F6"/>
          </a:solidFill>
          <a:ln w="12700" cap="flat" cmpd="sng" algn="ctr">
            <a:solidFill>
              <a:srgbClr val="0E96A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300" b="1">
                <a:solidFill>
                  <a:srgbClr val="16223A"/>
                </a:solidFill>
                <a:latin typeface="Calibri"/>
                <a:ea typeface="Calibri"/>
                <a:cs typeface="Calibri"/>
              </a:rPr>
              <a:t>M4</a:t>
            </a:r>
          </a:p>
        </p:txBody>
      </p:sp>
      <p:sp>
        <p:nvSpPr>
          <p:cNvPr id="31" name="Arr0">
            <a:extLst>
              <a:ext uri="{FF2B5EF4-FFF2-40B4-BE49-F238E27FC236}">
                <a16:creationId xmlns:a16="http://schemas.microsoft.com/office/drawing/2014/main" id="{854A53CA-17C5-4CFF-ADCF-E59608ACE438}"/>
              </a:ext>
            </a:extLst>
          </p:cNvPr>
          <p:cNvSpPr/>
          <p:nvPr/>
        </p:nvSpPr>
        <p:spPr>
          <a:xfrm>
            <a:off x="7264400" y="2641600"/>
            <a:ext cx="279400" cy="203200"/>
          </a:xfrm>
          <a:prstGeom prst="rightArrow">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2" name="Arr1">
            <a:extLst>
              <a:ext uri="{FF2B5EF4-FFF2-40B4-BE49-F238E27FC236}">
                <a16:creationId xmlns:a16="http://schemas.microsoft.com/office/drawing/2014/main" id="{011F0A9F-950A-45D7-A79A-BADB16577606}"/>
              </a:ext>
            </a:extLst>
          </p:cNvPr>
          <p:cNvSpPr/>
          <p:nvPr/>
        </p:nvSpPr>
        <p:spPr>
          <a:xfrm>
            <a:off x="8255000" y="2641600"/>
            <a:ext cx="279400" cy="203200"/>
          </a:xfrm>
          <a:prstGeom prst="rightArrow">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3" name="Arr2">
            <a:extLst>
              <a:ext uri="{FF2B5EF4-FFF2-40B4-BE49-F238E27FC236}">
                <a16:creationId xmlns:a16="http://schemas.microsoft.com/office/drawing/2014/main" id="{65FD6BA2-FF5F-400F-8B69-726189B56862}"/>
              </a:ext>
            </a:extLst>
          </p:cNvPr>
          <p:cNvSpPr/>
          <p:nvPr/>
        </p:nvSpPr>
        <p:spPr>
          <a:xfrm>
            <a:off x="9245600" y="2641600"/>
            <a:ext cx="279400" cy="203200"/>
          </a:xfrm>
          <a:prstGeom prst="rightArrow">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4" name="Arr3">
            <a:extLst>
              <a:ext uri="{FF2B5EF4-FFF2-40B4-BE49-F238E27FC236}">
                <a16:creationId xmlns:a16="http://schemas.microsoft.com/office/drawing/2014/main" id="{EF0861AC-0B95-4D77-BA3A-39B94625355C}"/>
              </a:ext>
            </a:extLst>
          </p:cNvPr>
          <p:cNvSpPr/>
          <p:nvPr/>
        </p:nvSpPr>
        <p:spPr>
          <a:xfrm>
            <a:off x="10236200" y="2641600"/>
            <a:ext cx="279400" cy="203200"/>
          </a:xfrm>
          <a:prstGeom prst="rightArrow">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5" name="RightCap">
            <a:extLst>
              <a:ext uri="{FF2B5EF4-FFF2-40B4-BE49-F238E27FC236}">
                <a16:creationId xmlns:a16="http://schemas.microsoft.com/office/drawing/2014/main" id="{1D352562-1583-4A2A-8FB0-A5F8D6FC580A}"/>
              </a:ext>
            </a:extLst>
          </p:cNvPr>
          <p:cNvSpPr txBox="1"/>
          <p:nvPr/>
        </p:nvSpPr>
        <p:spPr>
          <a:xfrm>
            <a:off x="6527800" y="3251200"/>
            <a:ext cx="5080000" cy="228600"/>
          </a:xfrm>
          <a:prstGeom prst="rect">
            <a:avLst/>
          </a:prstGeom>
          <a:noFill/>
        </p:spPr>
        <p:txBody>
          <a:bodyPr vertOverflow="overflow" vert="horz" wrap="square" rtlCol="0" anchor="t" anchorCtr="0">
            <a:noAutofit/>
          </a:bodyPr>
          <a:lstStyle/>
          <a:p>
            <a:pPr marL="0" indent="0">
              <a:buNone/>
            </a:pPr>
            <a:r>
              <a:rPr lang="en-US" sz="1400" dirty="0">
                <a:solidFill>
                  <a:srgbClr val="3A4658"/>
                </a:solidFill>
                <a:latin typeface="Calibri" pitchFamily="34" charset="0"/>
              </a:rPr>
              <a:t>One cable carries power and data to every joint in sequence.</a:t>
            </a:r>
          </a:p>
        </p:txBody>
      </p:sp>
      <p:sp>
        <p:nvSpPr>
          <p:cNvPr id="36" name="LearnEye">
            <a:extLst>
              <a:ext uri="{FF2B5EF4-FFF2-40B4-BE49-F238E27FC236}">
                <a16:creationId xmlns:a16="http://schemas.microsoft.com/office/drawing/2014/main" id="{A968E41C-DC93-4198-90D6-3BE8A1F7B0D1}"/>
              </a:ext>
            </a:extLst>
          </p:cNvPr>
          <p:cNvSpPr txBox="1"/>
          <p:nvPr/>
        </p:nvSpPr>
        <p:spPr>
          <a:xfrm>
            <a:off x="762000" y="3810000"/>
            <a:ext cx="4902200" cy="228600"/>
          </a:xfrm>
          <a:prstGeom prst="rect">
            <a:avLst/>
          </a:prstGeom>
          <a:noFill/>
        </p:spPr>
        <p:txBody>
          <a:bodyPr vertOverflow="overflow" vert="horz" wrap="square" rtlCol="0" anchor="t" anchorCtr="0">
            <a:noAutofit/>
          </a:bodyPr>
          <a:lstStyle/>
          <a:p>
            <a:pPr marL="0" indent="0">
              <a:buNone/>
            </a:pPr>
            <a:r>
              <a:rPr lang="en-US" sz="1100" b="1" spc="200" dirty="0">
                <a:solidFill>
                  <a:srgbClr val="0E96AC"/>
                </a:solidFill>
                <a:latin typeface="Calibri" pitchFamily="34" charset="0"/>
              </a:rPr>
              <a:t>KEY LEARNINGS</a:t>
            </a:r>
          </a:p>
        </p:txBody>
      </p:sp>
      <p:sp>
        <p:nvSpPr>
          <p:cNvPr id="37" name="LearnBul">
            <a:extLst>
              <a:ext uri="{FF2B5EF4-FFF2-40B4-BE49-F238E27FC236}">
                <a16:creationId xmlns:a16="http://schemas.microsoft.com/office/drawing/2014/main" id="{D174C345-5C6B-4F4C-B12D-913378F38B4A}"/>
              </a:ext>
            </a:extLst>
          </p:cNvPr>
          <p:cNvSpPr txBox="1"/>
          <p:nvPr/>
        </p:nvSpPr>
        <p:spPr>
          <a:xfrm>
            <a:off x="762000" y="4114800"/>
            <a:ext cx="4902200" cy="2159000"/>
          </a:xfrm>
          <a:prstGeom prst="rect">
            <a:avLst/>
          </a:prstGeom>
          <a:noFill/>
        </p:spPr>
        <p:txBody>
          <a:bodyPr vertOverflow="overflow" vert="horz" wrap="square" rtlCol="0" anchor="t" anchorCtr="0">
            <a:noAutofit/>
          </a:bodyPr>
          <a:lstStyle/>
          <a:p>
            <a:pPr marL="200000" indent="-200000">
              <a:spcBef>
                <a:spcPts val="600"/>
              </a:spcBef>
              <a:buClr>
                <a:srgbClr val="0E96AC"/>
              </a:buClr>
              <a:buFont typeface="Arial"/>
              <a:buChar char="•"/>
            </a:pPr>
            <a:r>
              <a:rPr lang="en-US" sz="1400" dirty="0">
                <a:solidFill>
                  <a:srgbClr val="16223A"/>
                </a:solidFill>
                <a:latin typeface="Calibri" pitchFamily="34" charset="0"/>
              </a:rPr>
              <a:t>Daisy-chain wiring sharply cuts cabling and assembly effort.</a:t>
            </a:r>
          </a:p>
          <a:p>
            <a:pPr marL="200000" indent="-200000">
              <a:spcBef>
                <a:spcPts val="600"/>
              </a:spcBef>
              <a:buClr>
                <a:srgbClr val="0E96AC"/>
              </a:buClr>
              <a:buFont typeface="Arial"/>
              <a:buChar char="•"/>
            </a:pPr>
            <a:r>
              <a:rPr lang="en-US" sz="1400" dirty="0">
                <a:solidFill>
                  <a:srgbClr val="16223A"/>
                </a:solidFill>
                <a:latin typeface="Calibri" pitchFamily="34" charset="0"/>
              </a:rPr>
              <a:t>A controller built into every motor simplifies integration.</a:t>
            </a:r>
          </a:p>
          <a:p>
            <a:pPr marL="200000" indent="-200000">
              <a:spcBef>
                <a:spcPts val="600"/>
              </a:spcBef>
              <a:buClr>
                <a:srgbClr val="0E96AC"/>
              </a:buClr>
              <a:buFont typeface="Arial"/>
              <a:buChar char="•"/>
            </a:pPr>
            <a:r>
              <a:rPr lang="en-US" sz="1400" dirty="0">
                <a:solidFill>
                  <a:srgbClr val="16223A"/>
                </a:solidFill>
                <a:latin typeface="Calibri" pitchFamily="34" charset="0"/>
              </a:rPr>
              <a:t>Real-time feedback enables future closed-loop control.</a:t>
            </a:r>
          </a:p>
          <a:p>
            <a:pPr marL="200000" indent="-200000">
              <a:spcBef>
                <a:spcPts val="600"/>
              </a:spcBef>
              <a:buClr>
                <a:srgbClr val="0E96AC"/>
              </a:buClr>
              <a:buFont typeface="Arial"/>
              <a:buChar char="•"/>
            </a:pPr>
            <a:r>
              <a:rPr lang="en-US" sz="1400" dirty="0">
                <a:solidFill>
                  <a:srgbClr val="16223A"/>
                </a:solidFill>
                <a:latin typeface="Calibri" pitchFamily="34" charset="0"/>
              </a:rPr>
              <a:t>Compact form factor suits modular robot segments.</a:t>
            </a:r>
          </a:p>
          <a:p>
            <a:pPr marL="200000" indent="-200000">
              <a:spcBef>
                <a:spcPts val="600"/>
              </a:spcBef>
              <a:buClr>
                <a:srgbClr val="0E96AC"/>
              </a:buClr>
              <a:buFont typeface="Arial"/>
              <a:buChar char="•"/>
            </a:pPr>
            <a:r>
              <a:rPr lang="en-US" sz="1400" dirty="0">
                <a:solidFill>
                  <a:srgbClr val="16223A"/>
                </a:solidFill>
                <a:latin typeface="Calibri" pitchFamily="34" charset="0"/>
              </a:rPr>
              <a:t>High precision and smart control fit advanced robotics.</a:t>
            </a:r>
          </a:p>
        </p:txBody>
      </p:sp>
      <p:sp>
        <p:nvSpPr>
          <p:cNvPr id="38" name="DecEye">
            <a:extLst>
              <a:ext uri="{FF2B5EF4-FFF2-40B4-BE49-F238E27FC236}">
                <a16:creationId xmlns:a16="http://schemas.microsoft.com/office/drawing/2014/main" id="{760A87DD-1FD4-4129-AFBF-9525367131E6}"/>
              </a:ext>
            </a:extLst>
          </p:cNvPr>
          <p:cNvSpPr txBox="1"/>
          <p:nvPr/>
        </p:nvSpPr>
        <p:spPr>
          <a:xfrm>
            <a:off x="6565900" y="3835400"/>
            <a:ext cx="4826000" cy="228600"/>
          </a:xfrm>
          <a:prstGeom prst="rect">
            <a:avLst/>
          </a:prstGeom>
          <a:noFill/>
        </p:spPr>
        <p:txBody>
          <a:bodyPr vertOverflow="overflow" vert="horz" wrap="square" rtlCol="0" anchor="t" anchorCtr="0">
            <a:noAutofit/>
          </a:bodyPr>
          <a:lstStyle/>
          <a:p>
            <a:pPr marL="0" indent="0">
              <a:buNone/>
            </a:pPr>
            <a:r>
              <a:rPr lang="en-US" sz="1100" b="1" spc="200" dirty="0">
                <a:solidFill>
                  <a:srgbClr val="0E96AC"/>
                </a:solidFill>
                <a:latin typeface="Calibri" pitchFamily="34" charset="0"/>
              </a:rPr>
              <a:t>FINAL SELECTED ACTUATOR</a:t>
            </a:r>
          </a:p>
        </p:txBody>
      </p:sp>
      <p:sp>
        <p:nvSpPr>
          <p:cNvPr id="39" name="DecTitle">
            <a:extLst>
              <a:ext uri="{FF2B5EF4-FFF2-40B4-BE49-F238E27FC236}">
                <a16:creationId xmlns:a16="http://schemas.microsoft.com/office/drawing/2014/main" id="{C7311885-27E4-43E5-B854-ED56274278BD}"/>
              </a:ext>
            </a:extLst>
          </p:cNvPr>
          <p:cNvSpPr txBox="1"/>
          <p:nvPr/>
        </p:nvSpPr>
        <p:spPr>
          <a:xfrm>
            <a:off x="6565900" y="4102100"/>
            <a:ext cx="4826000" cy="431800"/>
          </a:xfrm>
          <a:prstGeom prst="rect">
            <a:avLst/>
          </a:prstGeom>
          <a:noFill/>
        </p:spPr>
        <p:txBody>
          <a:bodyPr vertOverflow="overflow" vert="horz" wrap="square" rtlCol="0" anchor="t" anchorCtr="0">
            <a:noAutofit/>
          </a:bodyPr>
          <a:lstStyle/>
          <a:p>
            <a:pPr marL="0" indent="0">
              <a:buNone/>
            </a:pPr>
            <a:r>
              <a:rPr lang="en-US" sz="2200" b="1" dirty="0">
                <a:solidFill>
                  <a:srgbClr val="FFFFFF"/>
                </a:solidFill>
                <a:latin typeface="Calibri" pitchFamily="34" charset="0"/>
              </a:rPr>
              <a:t>Dynamixel XL330 Series</a:t>
            </a:r>
          </a:p>
        </p:txBody>
      </p:sp>
      <p:sp>
        <p:nvSpPr>
          <p:cNvPr id="40" name="DecReason">
            <a:extLst>
              <a:ext uri="{FF2B5EF4-FFF2-40B4-BE49-F238E27FC236}">
                <a16:creationId xmlns:a16="http://schemas.microsoft.com/office/drawing/2014/main" id="{1D6D8D35-098D-49CE-A5B5-D938206E0D70}"/>
              </a:ext>
            </a:extLst>
          </p:cNvPr>
          <p:cNvSpPr txBox="1"/>
          <p:nvPr/>
        </p:nvSpPr>
        <p:spPr>
          <a:xfrm>
            <a:off x="6565900" y="4597400"/>
            <a:ext cx="4826000" cy="1676400"/>
          </a:xfrm>
          <a:prstGeom prst="rect">
            <a:avLst/>
          </a:prstGeom>
          <a:noFill/>
        </p:spPr>
        <p:txBody>
          <a:bodyPr vertOverflow="overflow" vert="horz" wrap="square" rtlCol="0" anchor="t" anchorCtr="0">
            <a:noAutofit/>
          </a:bodyPr>
          <a:lstStyle/>
          <a:p>
            <a:pPr marL="0" indent="0">
              <a:lnSpc>
                <a:spcPct val="112000"/>
              </a:lnSpc>
              <a:buNone/>
            </a:pPr>
            <a:r>
              <a:rPr lang="en-US" sz="1400" dirty="0">
                <a:solidFill>
                  <a:srgbClr val="D6DEE8"/>
                </a:solidFill>
                <a:latin typeface="Calibri" pitchFamily="34" charset="0"/>
              </a:rPr>
              <a:t>Chosen for its smart serial communication, full-state feedback, compact form factor and effortless multi-joint scaling — the right fit for a multi-segment snake robot.</a:t>
            </a:r>
          </a:p>
        </p:txBody>
      </p:sp>
    </p:spTree>
    <p:extLst>
      <p:ext uri="{BB962C8B-B14F-4D97-AF65-F5344CB8AC3E}">
        <p14:creationId xmlns:p14="http://schemas.microsoft.com/office/powerpoint/2010/main" val="5049174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lIns="0" tIns="0" rIns="0" bIns="0" rtlCol="0" anchor="ctr"/>
          <a:lstStyle/>
          <a:p>
            <a:pPr marL="0" indent="0">
              <a:buNone/>
            </a:pPr>
            <a:r>
              <a:rPr lang="en-US" sz="1200" b="1" kern="0" spc="300" dirty="0">
                <a:solidFill>
                  <a:srgbClr val="0E96AC"/>
                </a:solidFill>
                <a:latin typeface="Calibri" pitchFamily="34" charset="0"/>
                <a:ea typeface="Calibri" pitchFamily="34" charset="-122"/>
                <a:cs typeface="Calibri" pitchFamily="34" charset="-120"/>
              </a:rPr>
              <a:t>GOALS &amp; EXPECTED OUTCOMES</a:t>
            </a:r>
            <a:endParaRPr lang="en-US" sz="1200" dirty="0"/>
          </a:p>
        </p:txBody>
      </p:sp>
      <p:sp>
        <p:nvSpPr>
          <p:cNvPr id="3" name="Text 1"/>
          <p:cNvSpPr/>
          <p:nvPr/>
        </p:nvSpPr>
        <p:spPr>
          <a:xfrm>
            <a:off x="530352" y="640080"/>
            <a:ext cx="9509760" cy="640080"/>
          </a:xfrm>
          <a:prstGeom prst="rect">
            <a:avLst/>
          </a:prstGeom>
          <a:noFill/>
          <a:ln/>
        </p:spPr>
        <p:txBody>
          <a:bodyPr wrap="square" lIns="0" tIns="0" rIns="0" bIns="0" rtlCol="0" anchor="ctr"/>
          <a:lstStyle/>
          <a:p>
            <a:pPr marL="0" indent="0">
              <a:buNone/>
            </a:pPr>
            <a:r>
              <a:rPr lang="en-US" sz="3000" b="1" dirty="0">
                <a:solidFill>
                  <a:srgbClr val="16223A"/>
                </a:solidFill>
                <a:latin typeface="Calibri" pitchFamily="34" charset="0"/>
                <a:ea typeface="Calibri" pitchFamily="34" charset="-122"/>
                <a:cs typeface="Calibri" pitchFamily="34" charset="-120"/>
              </a:rPr>
              <a:t>What This Project Sets Out to Build</a:t>
            </a:r>
            <a:endParaRPr lang="en-US" sz="3000" dirty="0"/>
          </a:p>
        </p:txBody>
      </p:sp>
      <p:sp>
        <p:nvSpPr>
          <p:cNvPr id="10" name="Shape 8"/>
          <p:cNvSpPr/>
          <p:nvPr/>
        </p:nvSpPr>
        <p:spPr>
          <a:xfrm>
            <a:off x="548640" y="1627632"/>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txBody>
          <a:bodyPr/>
          <a:lstStyle/>
          <a:p>
            <a:endParaRPr lang="en-IN"/>
          </a:p>
        </p:txBody>
      </p:sp>
      <p:sp>
        <p:nvSpPr>
          <p:cNvPr id="11" name="Shape 9"/>
          <p:cNvSpPr/>
          <p:nvPr/>
        </p:nvSpPr>
        <p:spPr>
          <a:xfrm>
            <a:off x="822960" y="1920240"/>
            <a:ext cx="713232" cy="713232"/>
          </a:xfrm>
          <a:prstGeom prst="ellipse">
            <a:avLst/>
          </a:prstGeom>
          <a:solidFill>
            <a:srgbClr val="0E96AC"/>
          </a:solidFill>
          <a:ln/>
        </p:spPr>
        <p:txBody>
          <a:bodyPr/>
          <a:lstStyle/>
          <a:p>
            <a:endParaRPr lang="en-IN"/>
          </a:p>
        </p:txBody>
      </p:sp>
      <p:pic>
        <p:nvPicPr>
          <p:cNvPr id="12" name="Image 0" descr="preencoded.png"/>
          <p:cNvPicPr>
            <a:picLocks noChangeAspect="1"/>
          </p:cNvPicPr>
          <p:nvPr/>
        </p:nvPicPr>
        <p:blipFill>
          <a:blip r:embed="rId3"/>
          <a:stretch>
            <a:fillRect/>
          </a:stretch>
        </p:blipFill>
        <p:spPr>
          <a:xfrm>
            <a:off x="1001268" y="2098548"/>
            <a:ext cx="356616" cy="356616"/>
          </a:xfrm>
          <a:prstGeom prst="rect">
            <a:avLst/>
          </a:prstGeom>
        </p:spPr>
      </p:pic>
      <p:sp>
        <p:nvSpPr>
          <p:cNvPr id="13" name="Text 10"/>
          <p:cNvSpPr/>
          <p:nvPr/>
        </p:nvSpPr>
        <p:spPr>
          <a:xfrm>
            <a:off x="3118104" y="1847088"/>
            <a:ext cx="777240" cy="548640"/>
          </a:xfrm>
          <a:prstGeom prst="rect">
            <a:avLst/>
          </a:prstGeom>
          <a:noFill/>
          <a:ln/>
        </p:spPr>
        <p:txBody>
          <a:bodyPr wrap="square" lIns="0" tIns="0" rIns="0" bIns="0" rtlCol="0" anchor="ctr"/>
          <a:lstStyle/>
          <a:p>
            <a:pPr marL="0" indent="0" algn="r">
              <a:buNone/>
            </a:pPr>
            <a:r>
              <a:rPr lang="en-US" sz="3000" b="1" dirty="0">
                <a:solidFill>
                  <a:srgbClr val="E2E8F0"/>
                </a:solidFill>
                <a:latin typeface="Calibri" pitchFamily="34" charset="0"/>
                <a:ea typeface="Calibri" pitchFamily="34" charset="-122"/>
                <a:cs typeface="Calibri" pitchFamily="34" charset="-120"/>
              </a:rPr>
              <a:t>01</a:t>
            </a:r>
            <a:endParaRPr lang="en-US" sz="3000" dirty="0"/>
          </a:p>
        </p:txBody>
      </p:sp>
      <p:sp>
        <p:nvSpPr>
          <p:cNvPr id="14" name="Text 11"/>
          <p:cNvSpPr/>
          <p:nvPr/>
        </p:nvSpPr>
        <p:spPr>
          <a:xfrm>
            <a:off x="822960" y="2743200"/>
            <a:ext cx="3026664" cy="365760"/>
          </a:xfrm>
          <a:prstGeom prst="rect">
            <a:avLst/>
          </a:prstGeom>
          <a:noFill/>
          <a:ln/>
        </p:spPr>
        <p:txBody>
          <a:bodyPr wrap="square" lIns="0" tIns="0" rIns="0" bIns="0" rtlCol="0" anchor="ctr"/>
          <a:lstStyle/>
          <a:p>
            <a:pPr marL="0" indent="0">
              <a:buNone/>
            </a:pPr>
            <a:r>
              <a:rPr lang="en-US" sz="1550" b="1" dirty="0">
                <a:solidFill>
                  <a:srgbClr val="16223A"/>
                </a:solidFill>
                <a:latin typeface="Calibri" pitchFamily="34" charset="0"/>
                <a:ea typeface="Calibri" pitchFamily="34" charset="-122"/>
                <a:cs typeface="Calibri" pitchFamily="34" charset="-120"/>
              </a:rPr>
              <a:t>Modular Architecture</a:t>
            </a:r>
            <a:endParaRPr lang="en-US" sz="1550" dirty="0"/>
          </a:p>
        </p:txBody>
      </p:sp>
      <p:sp>
        <p:nvSpPr>
          <p:cNvPr id="15" name="Text 12"/>
          <p:cNvSpPr/>
          <p:nvPr/>
        </p:nvSpPr>
        <p:spPr>
          <a:xfrm>
            <a:off x="822960" y="3108960"/>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A repeatable segment-based mechanical design.</a:t>
            </a:r>
            <a:endParaRPr lang="en-US" sz="1150" dirty="0"/>
          </a:p>
        </p:txBody>
      </p:sp>
      <p:sp>
        <p:nvSpPr>
          <p:cNvPr id="16" name="Shape 13"/>
          <p:cNvSpPr/>
          <p:nvPr/>
        </p:nvSpPr>
        <p:spPr>
          <a:xfrm>
            <a:off x="4370832" y="1627632"/>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txBody>
          <a:bodyPr/>
          <a:lstStyle/>
          <a:p>
            <a:endParaRPr lang="en-IN"/>
          </a:p>
        </p:txBody>
      </p:sp>
      <p:sp>
        <p:nvSpPr>
          <p:cNvPr id="17" name="Shape 14"/>
          <p:cNvSpPr/>
          <p:nvPr/>
        </p:nvSpPr>
        <p:spPr>
          <a:xfrm>
            <a:off x="4645152" y="1920240"/>
            <a:ext cx="713232" cy="713232"/>
          </a:xfrm>
          <a:prstGeom prst="ellipse">
            <a:avLst/>
          </a:prstGeom>
          <a:solidFill>
            <a:srgbClr val="E08A1E"/>
          </a:solidFill>
          <a:ln/>
        </p:spPr>
        <p:txBody>
          <a:bodyPr/>
          <a:lstStyle/>
          <a:p>
            <a:endParaRPr lang="en-IN"/>
          </a:p>
        </p:txBody>
      </p:sp>
      <p:pic>
        <p:nvPicPr>
          <p:cNvPr id="18" name="Image 1" descr="preencoded.png"/>
          <p:cNvPicPr>
            <a:picLocks noChangeAspect="1"/>
          </p:cNvPicPr>
          <p:nvPr/>
        </p:nvPicPr>
        <p:blipFill>
          <a:blip r:embed="rId4"/>
          <a:stretch>
            <a:fillRect/>
          </a:stretch>
        </p:blipFill>
        <p:spPr>
          <a:xfrm>
            <a:off x="4823460" y="2098548"/>
            <a:ext cx="356616" cy="356616"/>
          </a:xfrm>
          <a:prstGeom prst="rect">
            <a:avLst/>
          </a:prstGeom>
        </p:spPr>
      </p:pic>
      <p:sp>
        <p:nvSpPr>
          <p:cNvPr id="19" name="Text 15"/>
          <p:cNvSpPr/>
          <p:nvPr/>
        </p:nvSpPr>
        <p:spPr>
          <a:xfrm>
            <a:off x="6940296" y="1847088"/>
            <a:ext cx="777240" cy="548640"/>
          </a:xfrm>
          <a:prstGeom prst="rect">
            <a:avLst/>
          </a:prstGeom>
          <a:noFill/>
          <a:ln/>
        </p:spPr>
        <p:txBody>
          <a:bodyPr wrap="square" lIns="0" tIns="0" rIns="0" bIns="0" rtlCol="0" anchor="ctr"/>
          <a:lstStyle/>
          <a:p>
            <a:pPr marL="0" indent="0" algn="r">
              <a:buNone/>
            </a:pPr>
            <a:r>
              <a:rPr lang="en-US" sz="3000" b="1" dirty="0">
                <a:solidFill>
                  <a:srgbClr val="E2E8F0"/>
                </a:solidFill>
                <a:latin typeface="Calibri" pitchFamily="34" charset="0"/>
                <a:ea typeface="Calibri" pitchFamily="34" charset="-122"/>
                <a:cs typeface="Calibri" pitchFamily="34" charset="-120"/>
              </a:rPr>
              <a:t>02</a:t>
            </a:r>
            <a:endParaRPr lang="en-US" sz="3000" dirty="0"/>
          </a:p>
        </p:txBody>
      </p:sp>
      <p:sp>
        <p:nvSpPr>
          <p:cNvPr id="20" name="Text 16"/>
          <p:cNvSpPr/>
          <p:nvPr/>
        </p:nvSpPr>
        <p:spPr>
          <a:xfrm>
            <a:off x="4645152" y="2743200"/>
            <a:ext cx="3026664" cy="365760"/>
          </a:xfrm>
          <a:prstGeom prst="rect">
            <a:avLst/>
          </a:prstGeom>
          <a:noFill/>
          <a:ln/>
        </p:spPr>
        <p:txBody>
          <a:bodyPr wrap="square" lIns="0" tIns="0" rIns="0" bIns="0" rtlCol="0" anchor="ctr"/>
          <a:lstStyle/>
          <a:p>
            <a:pPr marL="0" indent="0">
              <a:buNone/>
            </a:pPr>
            <a:r>
              <a:rPr lang="en-US" sz="1550" b="1" dirty="0">
                <a:solidFill>
                  <a:srgbClr val="16223A"/>
                </a:solidFill>
                <a:latin typeface="Calibri" pitchFamily="34" charset="0"/>
                <a:ea typeface="Calibri" pitchFamily="34" charset="-122"/>
                <a:cs typeface="Calibri" pitchFamily="34" charset="-120"/>
              </a:rPr>
              <a:t>Dynamixel Actuators</a:t>
            </a:r>
            <a:endParaRPr lang="en-US" sz="1550" dirty="0"/>
          </a:p>
        </p:txBody>
      </p:sp>
      <p:sp>
        <p:nvSpPr>
          <p:cNvPr id="21" name="Text 17"/>
          <p:cNvSpPr/>
          <p:nvPr/>
        </p:nvSpPr>
        <p:spPr>
          <a:xfrm>
            <a:off x="4645152" y="3108960"/>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Integrate smart servos with daisy-chained control.</a:t>
            </a:r>
            <a:endParaRPr lang="en-US" sz="1150" dirty="0"/>
          </a:p>
        </p:txBody>
      </p:sp>
      <p:sp>
        <p:nvSpPr>
          <p:cNvPr id="22" name="Shape 18"/>
          <p:cNvSpPr/>
          <p:nvPr/>
        </p:nvSpPr>
        <p:spPr>
          <a:xfrm>
            <a:off x="8193024" y="1627632"/>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txBody>
          <a:bodyPr/>
          <a:lstStyle/>
          <a:p>
            <a:endParaRPr lang="en-IN"/>
          </a:p>
        </p:txBody>
      </p:sp>
      <p:sp>
        <p:nvSpPr>
          <p:cNvPr id="23" name="Shape 19"/>
          <p:cNvSpPr/>
          <p:nvPr/>
        </p:nvSpPr>
        <p:spPr>
          <a:xfrm>
            <a:off x="8467344" y="1920240"/>
            <a:ext cx="713232" cy="713232"/>
          </a:xfrm>
          <a:prstGeom prst="ellipse">
            <a:avLst/>
          </a:prstGeom>
          <a:solidFill>
            <a:srgbClr val="12A678"/>
          </a:solidFill>
          <a:ln/>
        </p:spPr>
        <p:txBody>
          <a:bodyPr/>
          <a:lstStyle/>
          <a:p>
            <a:endParaRPr lang="en-IN"/>
          </a:p>
        </p:txBody>
      </p:sp>
      <p:pic>
        <p:nvPicPr>
          <p:cNvPr id="24" name="Image 2" descr="preencoded.png"/>
          <p:cNvPicPr>
            <a:picLocks noChangeAspect="1"/>
          </p:cNvPicPr>
          <p:nvPr/>
        </p:nvPicPr>
        <p:blipFill>
          <a:blip r:embed="rId5"/>
          <a:stretch>
            <a:fillRect/>
          </a:stretch>
        </p:blipFill>
        <p:spPr>
          <a:xfrm>
            <a:off x="8645652" y="2098548"/>
            <a:ext cx="356616" cy="356616"/>
          </a:xfrm>
          <a:prstGeom prst="rect">
            <a:avLst/>
          </a:prstGeom>
        </p:spPr>
      </p:pic>
      <p:sp>
        <p:nvSpPr>
          <p:cNvPr id="25" name="Text 20"/>
          <p:cNvSpPr/>
          <p:nvPr/>
        </p:nvSpPr>
        <p:spPr>
          <a:xfrm>
            <a:off x="10762488" y="1847088"/>
            <a:ext cx="777240" cy="548640"/>
          </a:xfrm>
          <a:prstGeom prst="rect">
            <a:avLst/>
          </a:prstGeom>
          <a:noFill/>
          <a:ln/>
        </p:spPr>
        <p:txBody>
          <a:bodyPr wrap="square" lIns="0" tIns="0" rIns="0" bIns="0" rtlCol="0" anchor="ctr"/>
          <a:lstStyle/>
          <a:p>
            <a:pPr marL="0" indent="0" algn="r">
              <a:buNone/>
            </a:pPr>
            <a:r>
              <a:rPr lang="en-US" sz="3000" b="1" dirty="0">
                <a:solidFill>
                  <a:srgbClr val="E2E8F0"/>
                </a:solidFill>
                <a:latin typeface="Calibri" pitchFamily="34" charset="0"/>
                <a:ea typeface="Calibri" pitchFamily="34" charset="-122"/>
                <a:cs typeface="Calibri" pitchFamily="34" charset="-120"/>
              </a:rPr>
              <a:t>03</a:t>
            </a:r>
            <a:endParaRPr lang="en-US" sz="3000" dirty="0"/>
          </a:p>
        </p:txBody>
      </p:sp>
      <p:sp>
        <p:nvSpPr>
          <p:cNvPr id="26" name="Text 21"/>
          <p:cNvSpPr/>
          <p:nvPr/>
        </p:nvSpPr>
        <p:spPr>
          <a:xfrm>
            <a:off x="8467344" y="2743200"/>
            <a:ext cx="3026664" cy="365760"/>
          </a:xfrm>
          <a:prstGeom prst="rect">
            <a:avLst/>
          </a:prstGeom>
          <a:noFill/>
          <a:ln/>
        </p:spPr>
        <p:txBody>
          <a:bodyPr wrap="square" lIns="0" tIns="0" rIns="0" bIns="0" rtlCol="0" anchor="ctr"/>
          <a:lstStyle/>
          <a:p>
            <a:pPr marL="0" indent="0">
              <a:buNone/>
            </a:pPr>
            <a:r>
              <a:rPr lang="en-US" sz="1550" b="1" dirty="0">
                <a:solidFill>
                  <a:srgbClr val="16223A"/>
                </a:solidFill>
                <a:latin typeface="Calibri" pitchFamily="34" charset="0"/>
                <a:ea typeface="Calibri" pitchFamily="34" charset="-122"/>
                <a:cs typeface="Calibri" pitchFamily="34" charset="-120"/>
              </a:rPr>
              <a:t>Raspberry Pi Control</a:t>
            </a:r>
            <a:endParaRPr lang="en-US" sz="1550" dirty="0"/>
          </a:p>
        </p:txBody>
      </p:sp>
      <p:sp>
        <p:nvSpPr>
          <p:cNvPr id="27" name="Text 22"/>
          <p:cNvSpPr/>
          <p:nvPr/>
        </p:nvSpPr>
        <p:spPr>
          <a:xfrm>
            <a:off x="8467344" y="3108960"/>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A single-board-computer control system.</a:t>
            </a:r>
            <a:endParaRPr lang="en-US" sz="1150" dirty="0"/>
          </a:p>
        </p:txBody>
      </p:sp>
      <p:sp>
        <p:nvSpPr>
          <p:cNvPr id="28" name="Shape 23"/>
          <p:cNvSpPr/>
          <p:nvPr/>
        </p:nvSpPr>
        <p:spPr>
          <a:xfrm>
            <a:off x="548640" y="3877056"/>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txBody>
          <a:bodyPr/>
          <a:lstStyle/>
          <a:p>
            <a:endParaRPr lang="en-IN"/>
          </a:p>
        </p:txBody>
      </p:sp>
      <p:sp>
        <p:nvSpPr>
          <p:cNvPr id="29" name="Shape 24"/>
          <p:cNvSpPr/>
          <p:nvPr/>
        </p:nvSpPr>
        <p:spPr>
          <a:xfrm>
            <a:off x="822960" y="4169664"/>
            <a:ext cx="713232" cy="713232"/>
          </a:xfrm>
          <a:prstGeom prst="ellipse">
            <a:avLst/>
          </a:prstGeom>
          <a:solidFill>
            <a:srgbClr val="0E96AC"/>
          </a:solidFill>
          <a:ln/>
        </p:spPr>
        <p:txBody>
          <a:bodyPr/>
          <a:lstStyle/>
          <a:p>
            <a:endParaRPr lang="en-IN"/>
          </a:p>
        </p:txBody>
      </p:sp>
      <p:pic>
        <p:nvPicPr>
          <p:cNvPr id="30" name="Image 3" descr="preencoded.png"/>
          <p:cNvPicPr>
            <a:picLocks noChangeAspect="1"/>
          </p:cNvPicPr>
          <p:nvPr/>
        </p:nvPicPr>
        <p:blipFill>
          <a:blip r:embed="rId6"/>
          <a:stretch>
            <a:fillRect/>
          </a:stretch>
        </p:blipFill>
        <p:spPr>
          <a:xfrm>
            <a:off x="1001268" y="4347972"/>
            <a:ext cx="356616" cy="356616"/>
          </a:xfrm>
          <a:prstGeom prst="rect">
            <a:avLst/>
          </a:prstGeom>
        </p:spPr>
      </p:pic>
      <p:sp>
        <p:nvSpPr>
          <p:cNvPr id="31" name="Text 25"/>
          <p:cNvSpPr/>
          <p:nvPr/>
        </p:nvSpPr>
        <p:spPr>
          <a:xfrm>
            <a:off x="3118104" y="4096512"/>
            <a:ext cx="777240" cy="548640"/>
          </a:xfrm>
          <a:prstGeom prst="rect">
            <a:avLst/>
          </a:prstGeom>
          <a:noFill/>
          <a:ln/>
        </p:spPr>
        <p:txBody>
          <a:bodyPr wrap="square" lIns="0" tIns="0" rIns="0" bIns="0" rtlCol="0" anchor="ctr"/>
          <a:lstStyle/>
          <a:p>
            <a:pPr marL="0" indent="0" algn="r">
              <a:buNone/>
            </a:pPr>
            <a:r>
              <a:rPr lang="en-US" sz="3000" b="1" dirty="0">
                <a:solidFill>
                  <a:srgbClr val="E2E8F0"/>
                </a:solidFill>
                <a:latin typeface="Calibri" pitchFamily="34" charset="0"/>
                <a:ea typeface="Calibri" pitchFamily="34" charset="-122"/>
                <a:cs typeface="Calibri" pitchFamily="34" charset="-120"/>
              </a:rPr>
              <a:t>04</a:t>
            </a:r>
            <a:endParaRPr lang="en-US" sz="3000" dirty="0"/>
          </a:p>
        </p:txBody>
      </p:sp>
      <p:sp>
        <p:nvSpPr>
          <p:cNvPr id="32" name="Text 26"/>
          <p:cNvSpPr/>
          <p:nvPr/>
        </p:nvSpPr>
        <p:spPr>
          <a:xfrm>
            <a:off x="822960" y="4992624"/>
            <a:ext cx="3026664" cy="365760"/>
          </a:xfrm>
          <a:prstGeom prst="rect">
            <a:avLst/>
          </a:prstGeom>
          <a:noFill/>
          <a:ln/>
        </p:spPr>
        <p:txBody>
          <a:bodyPr wrap="square" lIns="0" tIns="0" rIns="0" bIns="0" rtlCol="0" anchor="ctr"/>
          <a:lstStyle/>
          <a:p>
            <a:pPr marL="0" indent="0">
              <a:buNone/>
            </a:pPr>
            <a:r>
              <a:rPr lang="en-US" sz="1550" b="1" dirty="0">
                <a:solidFill>
                  <a:srgbClr val="16223A"/>
                </a:solidFill>
                <a:latin typeface="Calibri" pitchFamily="34" charset="0"/>
                <a:ea typeface="Calibri" pitchFamily="34" charset="-122"/>
                <a:cs typeface="Calibri" pitchFamily="34" charset="-120"/>
              </a:rPr>
              <a:t>Locomotion Algorithms</a:t>
            </a:r>
            <a:endParaRPr lang="en-US" sz="1550" dirty="0"/>
          </a:p>
        </p:txBody>
      </p:sp>
      <p:sp>
        <p:nvSpPr>
          <p:cNvPr id="33" name="Text 27"/>
          <p:cNvSpPr/>
          <p:nvPr/>
        </p:nvSpPr>
        <p:spPr>
          <a:xfrm>
            <a:off x="822960" y="5358384"/>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Implement serpentine and gait-based motion.</a:t>
            </a:r>
            <a:endParaRPr lang="en-US" sz="1150" dirty="0"/>
          </a:p>
        </p:txBody>
      </p:sp>
      <p:sp>
        <p:nvSpPr>
          <p:cNvPr id="34" name="Shape 28"/>
          <p:cNvSpPr/>
          <p:nvPr/>
        </p:nvSpPr>
        <p:spPr>
          <a:xfrm>
            <a:off x="4370832" y="3877056"/>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txBody>
          <a:bodyPr/>
          <a:lstStyle/>
          <a:p>
            <a:endParaRPr lang="en-IN"/>
          </a:p>
        </p:txBody>
      </p:sp>
      <p:sp>
        <p:nvSpPr>
          <p:cNvPr id="35" name="Shape 29"/>
          <p:cNvSpPr/>
          <p:nvPr/>
        </p:nvSpPr>
        <p:spPr>
          <a:xfrm>
            <a:off x="4645152" y="4169664"/>
            <a:ext cx="713232" cy="713232"/>
          </a:xfrm>
          <a:prstGeom prst="ellipse">
            <a:avLst/>
          </a:prstGeom>
          <a:solidFill>
            <a:srgbClr val="E08A1E"/>
          </a:solidFill>
          <a:ln/>
        </p:spPr>
        <p:txBody>
          <a:bodyPr/>
          <a:lstStyle/>
          <a:p>
            <a:endParaRPr lang="en-IN"/>
          </a:p>
        </p:txBody>
      </p:sp>
      <p:pic>
        <p:nvPicPr>
          <p:cNvPr id="36" name="Image 4" descr="preencoded.png"/>
          <p:cNvPicPr>
            <a:picLocks noChangeAspect="1"/>
          </p:cNvPicPr>
          <p:nvPr/>
        </p:nvPicPr>
        <p:blipFill>
          <a:blip r:embed="rId7"/>
          <a:stretch>
            <a:fillRect/>
          </a:stretch>
        </p:blipFill>
        <p:spPr>
          <a:xfrm>
            <a:off x="4823460" y="4347972"/>
            <a:ext cx="356616" cy="356616"/>
          </a:xfrm>
          <a:prstGeom prst="rect">
            <a:avLst/>
          </a:prstGeom>
        </p:spPr>
      </p:pic>
      <p:sp>
        <p:nvSpPr>
          <p:cNvPr id="37" name="Text 30"/>
          <p:cNvSpPr/>
          <p:nvPr/>
        </p:nvSpPr>
        <p:spPr>
          <a:xfrm>
            <a:off x="6940296" y="4096512"/>
            <a:ext cx="777240" cy="548640"/>
          </a:xfrm>
          <a:prstGeom prst="rect">
            <a:avLst/>
          </a:prstGeom>
          <a:noFill/>
          <a:ln/>
        </p:spPr>
        <p:txBody>
          <a:bodyPr wrap="square" lIns="0" tIns="0" rIns="0" bIns="0" rtlCol="0" anchor="ctr"/>
          <a:lstStyle/>
          <a:p>
            <a:pPr marL="0" indent="0" algn="r">
              <a:buNone/>
            </a:pPr>
            <a:r>
              <a:rPr lang="en-US" sz="3000" b="1" dirty="0">
                <a:solidFill>
                  <a:srgbClr val="E2E8F0"/>
                </a:solidFill>
                <a:latin typeface="Calibri" pitchFamily="34" charset="0"/>
                <a:ea typeface="Calibri" pitchFamily="34" charset="-122"/>
                <a:cs typeface="Calibri" pitchFamily="34" charset="-120"/>
              </a:rPr>
              <a:t>05</a:t>
            </a:r>
            <a:endParaRPr lang="en-US" sz="3000" dirty="0"/>
          </a:p>
        </p:txBody>
      </p:sp>
      <p:sp>
        <p:nvSpPr>
          <p:cNvPr id="38" name="Text 31"/>
          <p:cNvSpPr/>
          <p:nvPr/>
        </p:nvSpPr>
        <p:spPr>
          <a:xfrm>
            <a:off x="4645152" y="4992624"/>
            <a:ext cx="3026664" cy="365760"/>
          </a:xfrm>
          <a:prstGeom prst="rect">
            <a:avLst/>
          </a:prstGeom>
          <a:noFill/>
          <a:ln/>
        </p:spPr>
        <p:txBody>
          <a:bodyPr wrap="square" lIns="0" tIns="0" rIns="0" bIns="0" rtlCol="0" anchor="ctr"/>
          <a:lstStyle/>
          <a:p>
            <a:pPr marL="0" indent="0">
              <a:buNone/>
            </a:pPr>
            <a:r>
              <a:rPr lang="en-US" sz="1550" b="1" dirty="0">
                <a:solidFill>
                  <a:srgbClr val="16223A"/>
                </a:solidFill>
                <a:latin typeface="Calibri" pitchFamily="34" charset="0"/>
                <a:ea typeface="Calibri" pitchFamily="34" charset="-122"/>
                <a:cs typeface="Calibri" pitchFamily="34" charset="-120"/>
              </a:rPr>
              <a:t>Sensor Integration</a:t>
            </a:r>
            <a:endParaRPr lang="en-US" sz="1550" dirty="0"/>
          </a:p>
        </p:txBody>
      </p:sp>
      <p:sp>
        <p:nvSpPr>
          <p:cNvPr id="39" name="Text 32"/>
          <p:cNvSpPr/>
          <p:nvPr/>
        </p:nvSpPr>
        <p:spPr>
          <a:xfrm>
            <a:off x="4645152" y="5358384"/>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Add sensing for future intelligent navigation.</a:t>
            </a:r>
            <a:endParaRPr lang="en-US" sz="1150" dirty="0"/>
          </a:p>
        </p:txBody>
      </p:sp>
      <p:sp>
        <p:nvSpPr>
          <p:cNvPr id="40" name="Shape 33"/>
          <p:cNvSpPr/>
          <p:nvPr/>
        </p:nvSpPr>
        <p:spPr>
          <a:xfrm>
            <a:off x="8193024" y="3877056"/>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txBody>
          <a:bodyPr/>
          <a:lstStyle/>
          <a:p>
            <a:endParaRPr lang="en-IN"/>
          </a:p>
        </p:txBody>
      </p:sp>
      <p:sp>
        <p:nvSpPr>
          <p:cNvPr id="41" name="Shape 34"/>
          <p:cNvSpPr/>
          <p:nvPr/>
        </p:nvSpPr>
        <p:spPr>
          <a:xfrm>
            <a:off x="8467344" y="4169664"/>
            <a:ext cx="713232" cy="713232"/>
          </a:xfrm>
          <a:prstGeom prst="ellipse">
            <a:avLst/>
          </a:prstGeom>
          <a:solidFill>
            <a:srgbClr val="12A678"/>
          </a:solidFill>
          <a:ln/>
        </p:spPr>
        <p:txBody>
          <a:bodyPr/>
          <a:lstStyle/>
          <a:p>
            <a:endParaRPr lang="en-IN"/>
          </a:p>
        </p:txBody>
      </p:sp>
      <p:pic>
        <p:nvPicPr>
          <p:cNvPr id="42" name="Image 5" descr="preencoded.png"/>
          <p:cNvPicPr>
            <a:picLocks noChangeAspect="1"/>
          </p:cNvPicPr>
          <p:nvPr/>
        </p:nvPicPr>
        <p:blipFill>
          <a:blip r:embed="rId8"/>
          <a:stretch>
            <a:fillRect/>
          </a:stretch>
        </p:blipFill>
        <p:spPr>
          <a:xfrm>
            <a:off x="8645652" y="4347972"/>
            <a:ext cx="356616" cy="356616"/>
          </a:xfrm>
          <a:prstGeom prst="rect">
            <a:avLst/>
          </a:prstGeom>
        </p:spPr>
      </p:pic>
      <p:sp>
        <p:nvSpPr>
          <p:cNvPr id="43" name="Text 35"/>
          <p:cNvSpPr/>
          <p:nvPr/>
        </p:nvSpPr>
        <p:spPr>
          <a:xfrm>
            <a:off x="10762488" y="4096512"/>
            <a:ext cx="777240" cy="548640"/>
          </a:xfrm>
          <a:prstGeom prst="rect">
            <a:avLst/>
          </a:prstGeom>
          <a:noFill/>
          <a:ln/>
        </p:spPr>
        <p:txBody>
          <a:bodyPr wrap="square" lIns="0" tIns="0" rIns="0" bIns="0" rtlCol="0" anchor="ctr"/>
          <a:lstStyle/>
          <a:p>
            <a:pPr marL="0" indent="0" algn="r">
              <a:buNone/>
            </a:pPr>
            <a:r>
              <a:rPr lang="en-US" sz="3000" b="1" dirty="0">
                <a:solidFill>
                  <a:srgbClr val="E2E8F0"/>
                </a:solidFill>
                <a:latin typeface="Calibri" pitchFamily="34" charset="0"/>
                <a:ea typeface="Calibri" pitchFamily="34" charset="-122"/>
                <a:cs typeface="Calibri" pitchFamily="34" charset="-120"/>
              </a:rPr>
              <a:t>06</a:t>
            </a:r>
            <a:endParaRPr lang="en-US" sz="3000" dirty="0"/>
          </a:p>
        </p:txBody>
      </p:sp>
      <p:sp>
        <p:nvSpPr>
          <p:cNvPr id="44" name="Text 36"/>
          <p:cNvSpPr/>
          <p:nvPr/>
        </p:nvSpPr>
        <p:spPr>
          <a:xfrm>
            <a:off x="8467344" y="4992624"/>
            <a:ext cx="3026664" cy="365760"/>
          </a:xfrm>
          <a:prstGeom prst="rect">
            <a:avLst/>
          </a:prstGeom>
          <a:noFill/>
          <a:ln/>
        </p:spPr>
        <p:txBody>
          <a:bodyPr wrap="square" lIns="0" tIns="0" rIns="0" bIns="0" rtlCol="0" anchor="ctr"/>
          <a:lstStyle/>
          <a:p>
            <a:pPr marL="0" indent="0">
              <a:buNone/>
            </a:pPr>
            <a:r>
              <a:rPr lang="en-US" sz="1550" b="1" dirty="0">
                <a:solidFill>
                  <a:srgbClr val="16223A"/>
                </a:solidFill>
                <a:latin typeface="Calibri" pitchFamily="34" charset="0"/>
                <a:ea typeface="Calibri" pitchFamily="34" charset="-122"/>
                <a:cs typeface="Calibri" pitchFamily="34" charset="-120"/>
              </a:rPr>
              <a:t>Scalable Platform</a:t>
            </a:r>
            <a:endParaRPr lang="en-US" sz="1550" dirty="0"/>
          </a:p>
        </p:txBody>
      </p:sp>
      <p:sp>
        <p:nvSpPr>
          <p:cNvPr id="45" name="Text 37"/>
          <p:cNvSpPr/>
          <p:nvPr/>
        </p:nvSpPr>
        <p:spPr>
          <a:xfrm>
            <a:off x="8467344" y="5358384"/>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Keep it maintainable and easy to extend.</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lIns="0" tIns="0" rIns="0" bIns="0" rtlCol="0" anchor="ctr"/>
          <a:lstStyle/>
          <a:p>
            <a:pPr marL="0" indent="0">
              <a:buNone/>
            </a:pPr>
            <a:r>
              <a:rPr lang="en-US" sz="1200" b="1" kern="0" spc="300" dirty="0">
                <a:solidFill>
                  <a:srgbClr val="0E96AC"/>
                </a:solidFill>
                <a:latin typeface="Calibri" pitchFamily="34" charset="0"/>
                <a:ea typeface="Calibri" pitchFamily="34" charset="-122"/>
                <a:cs typeface="Calibri" pitchFamily="34" charset="-120"/>
              </a:rPr>
              <a:t>WORK COMPLETED SO FAR</a:t>
            </a:r>
            <a:endParaRPr lang="en-US" sz="1200" dirty="0"/>
          </a:p>
        </p:txBody>
      </p:sp>
      <p:sp>
        <p:nvSpPr>
          <p:cNvPr id="3" name="Text 1"/>
          <p:cNvSpPr/>
          <p:nvPr/>
        </p:nvSpPr>
        <p:spPr>
          <a:xfrm>
            <a:off x="530352" y="640080"/>
            <a:ext cx="9509760" cy="640080"/>
          </a:xfrm>
          <a:prstGeom prst="rect">
            <a:avLst/>
          </a:prstGeom>
          <a:noFill/>
          <a:ln/>
        </p:spPr>
        <p:txBody>
          <a:bodyPr wrap="square" lIns="0" tIns="0" rIns="0" bIns="0" rtlCol="0" anchor="ctr"/>
          <a:lstStyle/>
          <a:p>
            <a:pPr marL="0" indent="0">
              <a:buNone/>
            </a:pPr>
            <a:r>
              <a:rPr lang="en-US" sz="3000" b="1" dirty="0">
                <a:solidFill>
                  <a:srgbClr val="16223A"/>
                </a:solidFill>
                <a:latin typeface="Calibri" pitchFamily="34" charset="0"/>
                <a:ea typeface="Calibri" pitchFamily="34" charset="-122"/>
                <a:cs typeface="Calibri" pitchFamily="34" charset="-120"/>
              </a:rPr>
              <a:t>Quarter-One Progress Summary</a:t>
            </a:r>
            <a:endParaRPr lang="en-US" sz="3000" dirty="0"/>
          </a:p>
        </p:txBody>
      </p:sp>
      <p:sp>
        <p:nvSpPr>
          <p:cNvPr id="10" name="Shape 8"/>
          <p:cNvSpPr/>
          <p:nvPr/>
        </p:nvSpPr>
        <p:spPr>
          <a:xfrm>
            <a:off x="548640" y="1645920"/>
            <a:ext cx="3657600" cy="4434840"/>
          </a:xfrm>
          <a:prstGeom prst="roundRect">
            <a:avLst>
              <a:gd name="adj" fmla="val 2500"/>
            </a:avLst>
          </a:prstGeom>
          <a:solidFill>
            <a:srgbClr val="16223A"/>
          </a:solidFill>
          <a:ln/>
          <a:effectLst>
            <a:outerShdw blurRad="114300" dist="38100" dir="5400000" algn="bl" rotWithShape="0">
              <a:srgbClr val="1A2440">
                <a:alpha val="16000"/>
              </a:srgbClr>
            </a:outerShdw>
          </a:effectLst>
        </p:spPr>
      </p:sp>
      <p:sp>
        <p:nvSpPr>
          <p:cNvPr id="11" name="Text 9"/>
          <p:cNvSpPr/>
          <p:nvPr/>
        </p:nvSpPr>
        <p:spPr>
          <a:xfrm>
            <a:off x="777240" y="1965960"/>
            <a:ext cx="3200400" cy="274320"/>
          </a:xfrm>
          <a:prstGeom prst="rect">
            <a:avLst/>
          </a:prstGeom>
          <a:noFill/>
          <a:ln/>
        </p:spPr>
        <p:txBody>
          <a:bodyPr wrap="square" lIns="0" tIns="0" rIns="0" bIns="0" rtlCol="0" anchor="ctr"/>
          <a:lstStyle/>
          <a:p>
            <a:pPr marL="0" indent="0">
              <a:buNone/>
            </a:pPr>
            <a:r>
              <a:rPr lang="en-US" sz="1150" b="1" kern="0" spc="200" dirty="0">
                <a:solidFill>
                  <a:srgbClr val="2BD4E8"/>
                </a:solidFill>
                <a:latin typeface="Calibri" pitchFamily="34" charset="0"/>
                <a:ea typeface="Calibri" pitchFamily="34" charset="-122"/>
                <a:cs typeface="Calibri" pitchFamily="34" charset="-120"/>
              </a:rPr>
              <a:t>OVERALL COMPLETION(till now)</a:t>
            </a:r>
            <a:endParaRPr lang="en-US" sz="1150" dirty="0"/>
          </a:p>
        </p:txBody>
      </p:sp>
      <p:sp>
        <p:nvSpPr>
          <p:cNvPr id="12" name="Text 10"/>
          <p:cNvSpPr/>
          <p:nvPr/>
        </p:nvSpPr>
        <p:spPr>
          <a:xfrm>
            <a:off x="777240" y="2240280"/>
            <a:ext cx="3200400" cy="1188720"/>
          </a:xfrm>
          <a:prstGeom prst="rect">
            <a:avLst/>
          </a:prstGeom>
          <a:noFill/>
          <a:ln/>
        </p:spPr>
        <p:txBody>
          <a:bodyPr wrap="square" lIns="0" tIns="0" rIns="0" bIns="0" rtlCol="0" anchor="ctr"/>
          <a:lstStyle/>
          <a:p>
            <a:pPr marL="0" indent="0">
              <a:buNone/>
            </a:pPr>
            <a:r>
              <a:rPr lang="en-US" sz="7800" b="1" dirty="0">
                <a:solidFill>
                  <a:srgbClr val="FFFFFF"/>
                </a:solidFill>
                <a:latin typeface="Calibri" pitchFamily="34" charset="0"/>
                <a:ea typeface="Calibri" pitchFamily="34" charset="-122"/>
                <a:cs typeface="Calibri" pitchFamily="34" charset="-120"/>
              </a:rPr>
              <a:t>25</a:t>
            </a:r>
            <a:r>
              <a:rPr lang="en-US" sz="3400" b="1" dirty="0">
                <a:solidFill>
                  <a:srgbClr val="2BD4E8"/>
                </a:solidFill>
                <a:latin typeface="Calibri" pitchFamily="34" charset="0"/>
                <a:ea typeface="Calibri" pitchFamily="34" charset="-122"/>
                <a:cs typeface="Calibri" pitchFamily="34" charset="-120"/>
              </a:rPr>
              <a:t> %</a:t>
            </a:r>
            <a:endParaRPr lang="en-US" sz="7800" dirty="0"/>
          </a:p>
        </p:txBody>
      </p:sp>
      <p:sp>
        <p:nvSpPr>
          <p:cNvPr id="13" name="Shape 11"/>
          <p:cNvSpPr/>
          <p:nvPr/>
        </p:nvSpPr>
        <p:spPr>
          <a:xfrm>
            <a:off x="777240" y="3611880"/>
            <a:ext cx="352044" cy="310896"/>
          </a:xfrm>
          <a:prstGeom prst="roundRect">
            <a:avLst>
              <a:gd name="adj" fmla="val 14706"/>
            </a:avLst>
          </a:prstGeom>
          <a:solidFill>
            <a:srgbClr val="2BD4E8"/>
          </a:solidFill>
          <a:ln/>
        </p:spPr>
      </p:sp>
      <p:sp>
        <p:nvSpPr>
          <p:cNvPr id="14" name="Shape 12"/>
          <p:cNvSpPr/>
          <p:nvPr/>
        </p:nvSpPr>
        <p:spPr>
          <a:xfrm>
            <a:off x="1184148" y="3611880"/>
            <a:ext cx="352044" cy="310896"/>
          </a:xfrm>
          <a:prstGeom prst="roundRect">
            <a:avLst>
              <a:gd name="adj" fmla="val 14706"/>
            </a:avLst>
          </a:prstGeom>
          <a:solidFill>
            <a:srgbClr val="2BD4E8"/>
          </a:solidFill>
          <a:ln/>
        </p:spPr>
      </p:sp>
      <p:sp>
        <p:nvSpPr>
          <p:cNvPr id="15" name="Shape 13"/>
          <p:cNvSpPr/>
          <p:nvPr/>
        </p:nvSpPr>
        <p:spPr>
          <a:xfrm>
            <a:off x="1591056" y="3611880"/>
            <a:ext cx="352044" cy="310896"/>
          </a:xfrm>
          <a:prstGeom prst="roundRect">
            <a:avLst>
              <a:gd name="adj" fmla="val 14706"/>
            </a:avLst>
          </a:prstGeom>
          <a:solidFill>
            <a:srgbClr val="2A3958"/>
          </a:solidFill>
          <a:ln/>
        </p:spPr>
      </p:sp>
      <p:sp>
        <p:nvSpPr>
          <p:cNvPr id="16" name="Shape 14"/>
          <p:cNvSpPr/>
          <p:nvPr/>
        </p:nvSpPr>
        <p:spPr>
          <a:xfrm>
            <a:off x="1997964" y="3611880"/>
            <a:ext cx="352044" cy="310896"/>
          </a:xfrm>
          <a:prstGeom prst="roundRect">
            <a:avLst>
              <a:gd name="adj" fmla="val 14706"/>
            </a:avLst>
          </a:prstGeom>
          <a:solidFill>
            <a:srgbClr val="2A3958"/>
          </a:solidFill>
          <a:ln/>
        </p:spPr>
      </p:sp>
      <p:sp>
        <p:nvSpPr>
          <p:cNvPr id="17" name="Shape 15"/>
          <p:cNvSpPr/>
          <p:nvPr/>
        </p:nvSpPr>
        <p:spPr>
          <a:xfrm>
            <a:off x="2404872" y="3611880"/>
            <a:ext cx="352044" cy="310896"/>
          </a:xfrm>
          <a:prstGeom prst="roundRect">
            <a:avLst>
              <a:gd name="adj" fmla="val 14706"/>
            </a:avLst>
          </a:prstGeom>
          <a:solidFill>
            <a:srgbClr val="2A3958"/>
          </a:solidFill>
          <a:ln/>
        </p:spPr>
      </p:sp>
      <p:sp>
        <p:nvSpPr>
          <p:cNvPr id="18" name="Shape 16"/>
          <p:cNvSpPr/>
          <p:nvPr/>
        </p:nvSpPr>
        <p:spPr>
          <a:xfrm>
            <a:off x="2811780" y="3611880"/>
            <a:ext cx="352044" cy="310896"/>
          </a:xfrm>
          <a:prstGeom prst="roundRect">
            <a:avLst>
              <a:gd name="adj" fmla="val 14706"/>
            </a:avLst>
          </a:prstGeom>
          <a:solidFill>
            <a:srgbClr val="2A3958"/>
          </a:solidFill>
          <a:ln/>
        </p:spPr>
      </p:sp>
      <p:sp>
        <p:nvSpPr>
          <p:cNvPr id="19" name="Shape 17"/>
          <p:cNvSpPr/>
          <p:nvPr/>
        </p:nvSpPr>
        <p:spPr>
          <a:xfrm>
            <a:off x="3218688" y="3611880"/>
            <a:ext cx="352044" cy="310896"/>
          </a:xfrm>
          <a:prstGeom prst="roundRect">
            <a:avLst>
              <a:gd name="adj" fmla="val 14706"/>
            </a:avLst>
          </a:prstGeom>
          <a:solidFill>
            <a:srgbClr val="2A3958"/>
          </a:solidFill>
          <a:ln/>
        </p:spPr>
      </p:sp>
      <p:sp>
        <p:nvSpPr>
          <p:cNvPr id="20" name="Shape 18"/>
          <p:cNvSpPr/>
          <p:nvPr/>
        </p:nvSpPr>
        <p:spPr>
          <a:xfrm>
            <a:off x="3625596" y="3611880"/>
            <a:ext cx="352044" cy="310896"/>
          </a:xfrm>
          <a:prstGeom prst="roundRect">
            <a:avLst>
              <a:gd name="adj" fmla="val 14706"/>
            </a:avLst>
          </a:prstGeom>
          <a:solidFill>
            <a:srgbClr val="2A3958"/>
          </a:solidFill>
          <a:ln/>
        </p:spPr>
      </p:sp>
      <p:sp>
        <p:nvSpPr>
          <p:cNvPr id="21" name="Text 19"/>
          <p:cNvSpPr/>
          <p:nvPr/>
        </p:nvSpPr>
        <p:spPr>
          <a:xfrm>
            <a:off x="777240" y="4023360"/>
            <a:ext cx="3200400" cy="274320"/>
          </a:xfrm>
          <a:prstGeom prst="rect">
            <a:avLst/>
          </a:prstGeom>
          <a:noFill/>
          <a:ln/>
        </p:spPr>
        <p:txBody>
          <a:bodyPr wrap="square" lIns="0" tIns="0" rIns="0" bIns="0" rtlCol="0" anchor="ctr"/>
          <a:lstStyle/>
          <a:p>
            <a:pPr marL="0" indent="0">
              <a:buNone/>
            </a:pPr>
            <a:r>
              <a:rPr lang="en-US" sz="1150" dirty="0">
                <a:solidFill>
                  <a:srgbClr val="6B7890"/>
                </a:solidFill>
                <a:latin typeface="Calibri" pitchFamily="34" charset="0"/>
                <a:ea typeface="Calibri" pitchFamily="34" charset="-122"/>
                <a:cs typeface="Calibri" pitchFamily="34" charset="-120"/>
              </a:rPr>
              <a:t>Phase 1 complete · Phase 2 underway</a:t>
            </a:r>
            <a:endParaRPr lang="en-US" sz="1150" dirty="0"/>
          </a:p>
        </p:txBody>
      </p:sp>
      <p:sp>
        <p:nvSpPr>
          <p:cNvPr id="22" name="Shape 20"/>
          <p:cNvSpPr/>
          <p:nvPr/>
        </p:nvSpPr>
        <p:spPr>
          <a:xfrm>
            <a:off x="777240" y="4526280"/>
            <a:ext cx="960120" cy="1207008"/>
          </a:xfrm>
          <a:prstGeom prst="roundRect">
            <a:avLst>
              <a:gd name="adj" fmla="val 7619"/>
            </a:avLst>
          </a:prstGeom>
          <a:solidFill>
            <a:srgbClr val="1E2A45"/>
          </a:solidFill>
          <a:ln/>
        </p:spPr>
      </p:sp>
      <p:sp>
        <p:nvSpPr>
          <p:cNvPr id="23" name="Text 21"/>
          <p:cNvSpPr/>
          <p:nvPr/>
        </p:nvSpPr>
        <p:spPr>
          <a:xfrm>
            <a:off x="777240" y="4681728"/>
            <a:ext cx="960120" cy="548640"/>
          </a:xfrm>
          <a:prstGeom prst="rect">
            <a:avLst/>
          </a:prstGeom>
          <a:noFill/>
          <a:ln/>
        </p:spPr>
        <p:txBody>
          <a:bodyPr wrap="square" lIns="0" tIns="0" rIns="0" bIns="0" rtlCol="0" anchor="ctr"/>
          <a:lstStyle/>
          <a:p>
            <a:pPr marL="0" indent="0" algn="ctr">
              <a:buNone/>
            </a:pPr>
            <a:r>
              <a:rPr lang="en-US" sz="2800" b="1" dirty="0">
                <a:solidFill>
                  <a:srgbClr val="2BD4E8"/>
                </a:solidFill>
                <a:latin typeface="Calibri" pitchFamily="34" charset="0"/>
                <a:ea typeface="Calibri" pitchFamily="34" charset="-122"/>
                <a:cs typeface="Calibri" pitchFamily="34" charset="-120"/>
              </a:rPr>
              <a:t>10</a:t>
            </a:r>
            <a:endParaRPr lang="en-US" sz="2800" dirty="0"/>
          </a:p>
        </p:txBody>
      </p:sp>
      <p:sp>
        <p:nvSpPr>
          <p:cNvPr id="24" name="Text 22"/>
          <p:cNvSpPr/>
          <p:nvPr/>
        </p:nvSpPr>
        <p:spPr>
          <a:xfrm>
            <a:off x="777240" y="5230368"/>
            <a:ext cx="960120" cy="411480"/>
          </a:xfrm>
          <a:prstGeom prst="rect">
            <a:avLst/>
          </a:prstGeom>
          <a:noFill/>
          <a:ln/>
        </p:spPr>
        <p:txBody>
          <a:bodyPr wrap="square" lIns="0" tIns="0" rIns="0" bIns="0" rtlCol="0" anchor="ctr"/>
          <a:lstStyle/>
          <a:p>
            <a:pPr marL="0" indent="0" algn="ctr">
              <a:lnSpc>
                <a:spcPct val="95000"/>
              </a:lnSpc>
              <a:buNone/>
            </a:pPr>
            <a:r>
              <a:rPr lang="en-US" sz="950" dirty="0">
                <a:solidFill>
                  <a:srgbClr val="FFFFFF"/>
                </a:solidFill>
                <a:latin typeface="Calibri" pitchFamily="34" charset="0"/>
                <a:ea typeface="Calibri" pitchFamily="34" charset="-122"/>
                <a:cs typeface="Calibri" pitchFamily="34" charset="-120"/>
              </a:rPr>
              <a:t>Tasks done</a:t>
            </a:r>
            <a:endParaRPr lang="en-US" sz="950" dirty="0"/>
          </a:p>
        </p:txBody>
      </p:sp>
      <p:sp>
        <p:nvSpPr>
          <p:cNvPr id="25" name="Shape 23"/>
          <p:cNvSpPr/>
          <p:nvPr/>
        </p:nvSpPr>
        <p:spPr>
          <a:xfrm>
            <a:off x="1856232" y="4526280"/>
            <a:ext cx="960120" cy="1207008"/>
          </a:xfrm>
          <a:prstGeom prst="roundRect">
            <a:avLst>
              <a:gd name="adj" fmla="val 7619"/>
            </a:avLst>
          </a:prstGeom>
          <a:solidFill>
            <a:srgbClr val="1E2A45"/>
          </a:solidFill>
          <a:ln/>
        </p:spPr>
      </p:sp>
      <p:sp>
        <p:nvSpPr>
          <p:cNvPr id="26" name="Text 24"/>
          <p:cNvSpPr/>
          <p:nvPr/>
        </p:nvSpPr>
        <p:spPr>
          <a:xfrm>
            <a:off x="1856232" y="4681728"/>
            <a:ext cx="960120" cy="548640"/>
          </a:xfrm>
          <a:prstGeom prst="rect">
            <a:avLst/>
          </a:prstGeom>
          <a:noFill/>
          <a:ln/>
        </p:spPr>
        <p:txBody>
          <a:bodyPr wrap="square" lIns="0" tIns="0" rIns="0" bIns="0" rtlCol="0" anchor="ctr"/>
          <a:lstStyle/>
          <a:p>
            <a:pPr marL="0" indent="0" algn="ctr">
              <a:buNone/>
            </a:pPr>
            <a:r>
              <a:rPr lang="en-US" sz="2800" b="1" dirty="0">
                <a:solidFill>
                  <a:srgbClr val="2BD4E8"/>
                </a:solidFill>
                <a:latin typeface="Calibri" pitchFamily="34" charset="0"/>
                <a:ea typeface="Calibri" pitchFamily="34" charset="-122"/>
                <a:cs typeface="Calibri" pitchFamily="34" charset="-120"/>
              </a:rPr>
              <a:t>2</a:t>
            </a:r>
            <a:endParaRPr lang="en-US" sz="2800" dirty="0"/>
          </a:p>
        </p:txBody>
      </p:sp>
      <p:sp>
        <p:nvSpPr>
          <p:cNvPr id="27" name="Text 25"/>
          <p:cNvSpPr/>
          <p:nvPr/>
        </p:nvSpPr>
        <p:spPr>
          <a:xfrm>
            <a:off x="1856232" y="5230368"/>
            <a:ext cx="960120" cy="411480"/>
          </a:xfrm>
          <a:prstGeom prst="rect">
            <a:avLst/>
          </a:prstGeom>
          <a:noFill/>
          <a:ln/>
        </p:spPr>
        <p:txBody>
          <a:bodyPr wrap="square" lIns="0" tIns="0" rIns="0" bIns="0" rtlCol="0" anchor="ctr"/>
          <a:lstStyle/>
          <a:p>
            <a:pPr marL="0" indent="0" algn="ctr">
              <a:lnSpc>
                <a:spcPct val="95000"/>
              </a:lnSpc>
              <a:buNone/>
            </a:pPr>
            <a:r>
              <a:rPr lang="en-US" sz="950" dirty="0">
                <a:solidFill>
                  <a:srgbClr val="FFFFFF"/>
                </a:solidFill>
                <a:latin typeface="Calibri" pitchFamily="34" charset="0"/>
                <a:ea typeface="Calibri" pitchFamily="34" charset="-122"/>
                <a:cs typeface="Calibri" pitchFamily="34" charset="-120"/>
              </a:rPr>
              <a:t>Segments printed</a:t>
            </a:r>
            <a:endParaRPr lang="en-US" sz="950" dirty="0"/>
          </a:p>
        </p:txBody>
      </p:sp>
      <p:sp>
        <p:nvSpPr>
          <p:cNvPr id="28" name="Shape 26"/>
          <p:cNvSpPr/>
          <p:nvPr/>
        </p:nvSpPr>
        <p:spPr>
          <a:xfrm>
            <a:off x="2935224" y="4526280"/>
            <a:ext cx="960120" cy="1207008"/>
          </a:xfrm>
          <a:prstGeom prst="roundRect">
            <a:avLst>
              <a:gd name="adj" fmla="val 7619"/>
            </a:avLst>
          </a:prstGeom>
          <a:solidFill>
            <a:srgbClr val="1E2A45"/>
          </a:solidFill>
          <a:ln/>
        </p:spPr>
      </p:sp>
      <p:sp>
        <p:nvSpPr>
          <p:cNvPr id="29" name="Text 27"/>
          <p:cNvSpPr/>
          <p:nvPr/>
        </p:nvSpPr>
        <p:spPr>
          <a:xfrm>
            <a:off x="2935224" y="4681728"/>
            <a:ext cx="960120" cy="548640"/>
          </a:xfrm>
          <a:prstGeom prst="rect">
            <a:avLst/>
          </a:prstGeom>
          <a:noFill/>
          <a:ln/>
        </p:spPr>
        <p:txBody>
          <a:bodyPr wrap="square" lIns="0" tIns="0" rIns="0" bIns="0" rtlCol="0" anchor="ctr"/>
          <a:lstStyle/>
          <a:p>
            <a:pPr marL="0" indent="0" algn="ctr">
              <a:buNone/>
            </a:pPr>
            <a:r>
              <a:rPr lang="en-US" sz="2800" b="1" dirty="0">
                <a:solidFill>
                  <a:srgbClr val="2BD4E8"/>
                </a:solidFill>
                <a:latin typeface="Calibri" pitchFamily="34" charset="0"/>
                <a:ea typeface="Calibri" pitchFamily="34" charset="-122"/>
                <a:cs typeface="Calibri" pitchFamily="34" charset="-120"/>
              </a:rPr>
              <a:t>1</a:t>
            </a:r>
            <a:endParaRPr lang="en-US" sz="2800" dirty="0"/>
          </a:p>
        </p:txBody>
      </p:sp>
      <p:sp>
        <p:nvSpPr>
          <p:cNvPr id="30" name="Text 28"/>
          <p:cNvSpPr/>
          <p:nvPr/>
        </p:nvSpPr>
        <p:spPr>
          <a:xfrm>
            <a:off x="2935224" y="5230368"/>
            <a:ext cx="960120" cy="411480"/>
          </a:xfrm>
          <a:prstGeom prst="rect">
            <a:avLst/>
          </a:prstGeom>
          <a:noFill/>
          <a:ln/>
        </p:spPr>
        <p:txBody>
          <a:bodyPr wrap="square" lIns="0" tIns="0" rIns="0" bIns="0" rtlCol="0" anchor="ctr"/>
          <a:lstStyle/>
          <a:p>
            <a:pPr marL="0" indent="0" algn="ctr">
              <a:lnSpc>
                <a:spcPct val="95000"/>
              </a:lnSpc>
              <a:buNone/>
            </a:pPr>
            <a:r>
              <a:rPr lang="en-US" sz="950" dirty="0">
                <a:solidFill>
                  <a:srgbClr val="FFFFFF"/>
                </a:solidFill>
                <a:latin typeface="Calibri" pitchFamily="34" charset="0"/>
                <a:ea typeface="Calibri" pitchFamily="34" charset="-122"/>
                <a:cs typeface="Calibri" pitchFamily="34" charset="-120"/>
              </a:rPr>
              <a:t>Pi configured</a:t>
            </a:r>
            <a:endParaRPr lang="en-US" sz="950" dirty="0"/>
          </a:p>
        </p:txBody>
      </p:sp>
      <p:sp>
        <p:nvSpPr>
          <p:cNvPr id="31" name="Text 29"/>
          <p:cNvSpPr/>
          <p:nvPr/>
        </p:nvSpPr>
        <p:spPr>
          <a:xfrm>
            <a:off x="4526280" y="1645920"/>
            <a:ext cx="7315200" cy="274320"/>
          </a:xfrm>
          <a:prstGeom prst="rect">
            <a:avLst/>
          </a:prstGeom>
          <a:noFill/>
          <a:ln/>
        </p:spPr>
        <p:txBody>
          <a:bodyPr wrap="square" lIns="0" tIns="0" rIns="0" bIns="0" rtlCol="0" anchor="ctr"/>
          <a:lstStyle/>
          <a:p>
            <a:pPr marL="0" indent="0">
              <a:buNone/>
            </a:pPr>
            <a:r>
              <a:rPr lang="en-US" sz="1200" b="1" kern="0" spc="200" dirty="0">
                <a:solidFill>
                  <a:srgbClr val="6B7890"/>
                </a:solidFill>
                <a:latin typeface="Calibri" pitchFamily="34" charset="0"/>
                <a:ea typeface="Calibri" pitchFamily="34" charset="-122"/>
                <a:cs typeface="Calibri" pitchFamily="34" charset="-120"/>
              </a:rPr>
              <a:t>COMPLETED TASKS</a:t>
            </a:r>
            <a:endParaRPr lang="en-US" sz="1200" dirty="0"/>
          </a:p>
        </p:txBody>
      </p:sp>
      <p:sp>
        <p:nvSpPr>
          <p:cNvPr id="32" name="Shape 30"/>
          <p:cNvSpPr/>
          <p:nvPr/>
        </p:nvSpPr>
        <p:spPr>
          <a:xfrm>
            <a:off x="4526280" y="2103120"/>
            <a:ext cx="3657600" cy="676656"/>
          </a:xfrm>
          <a:prstGeom prst="roundRect">
            <a:avLst>
              <a:gd name="adj" fmla="val 9459"/>
            </a:avLst>
          </a:prstGeom>
          <a:solidFill>
            <a:srgbClr val="FFFFFF"/>
          </a:solidFill>
          <a:ln w="12700">
            <a:solidFill>
              <a:srgbClr val="E2E8F0"/>
            </a:solidFill>
            <a:prstDash val="solid"/>
          </a:ln>
        </p:spPr>
      </p:sp>
      <p:pic>
        <p:nvPicPr>
          <p:cNvPr id="33" name="Image 0" descr="preencoded.png"/>
          <p:cNvPicPr>
            <a:picLocks noChangeAspect="1"/>
          </p:cNvPicPr>
          <p:nvPr/>
        </p:nvPicPr>
        <p:blipFill>
          <a:blip r:embed="rId3"/>
          <a:stretch>
            <a:fillRect/>
          </a:stretch>
        </p:blipFill>
        <p:spPr>
          <a:xfrm>
            <a:off x="4690872" y="2304288"/>
            <a:ext cx="274320" cy="274320"/>
          </a:xfrm>
          <a:prstGeom prst="rect">
            <a:avLst/>
          </a:prstGeom>
        </p:spPr>
      </p:pic>
      <p:sp>
        <p:nvSpPr>
          <p:cNvPr id="34" name="Text 31"/>
          <p:cNvSpPr/>
          <p:nvPr/>
        </p:nvSpPr>
        <p:spPr>
          <a:xfrm>
            <a:off x="5093208" y="2103120"/>
            <a:ext cx="2944368" cy="676656"/>
          </a:xfrm>
          <a:prstGeom prst="rect">
            <a:avLst/>
          </a:prstGeom>
          <a:noFill/>
          <a:ln/>
        </p:spPr>
        <p:txBody>
          <a:bodyPr wrap="square" lIns="0" tIns="0" rIns="0" bIns="0" rtlCol="0" anchor="ctr"/>
          <a:lstStyle/>
          <a:p>
            <a:pPr marL="0" indent="0">
              <a:lnSpc>
                <a:spcPct val="98000"/>
              </a:lnSpc>
              <a:buNone/>
            </a:pPr>
            <a:r>
              <a:rPr lang="en-US" sz="1200" dirty="0">
                <a:solidFill>
                  <a:srgbClr val="16223A"/>
                </a:solidFill>
                <a:latin typeface="Calibri" pitchFamily="34" charset="0"/>
                <a:ea typeface="Calibri" pitchFamily="34" charset="-122"/>
                <a:cs typeface="Calibri" pitchFamily="34" charset="-120"/>
              </a:rPr>
              <a:t>Literature review &amp; project understanding</a:t>
            </a:r>
            <a:endParaRPr lang="en-US" sz="1200" dirty="0"/>
          </a:p>
        </p:txBody>
      </p:sp>
      <p:sp>
        <p:nvSpPr>
          <p:cNvPr id="35" name="Shape 32"/>
          <p:cNvSpPr/>
          <p:nvPr/>
        </p:nvSpPr>
        <p:spPr>
          <a:xfrm>
            <a:off x="4526280" y="2907792"/>
            <a:ext cx="3657600" cy="676656"/>
          </a:xfrm>
          <a:prstGeom prst="roundRect">
            <a:avLst>
              <a:gd name="adj" fmla="val 9459"/>
            </a:avLst>
          </a:prstGeom>
          <a:solidFill>
            <a:srgbClr val="FFFFFF"/>
          </a:solidFill>
          <a:ln w="12700">
            <a:solidFill>
              <a:srgbClr val="E2E8F0"/>
            </a:solidFill>
            <a:prstDash val="solid"/>
          </a:ln>
        </p:spPr>
      </p:sp>
      <p:pic>
        <p:nvPicPr>
          <p:cNvPr id="36" name="Image 1" descr="preencoded.png"/>
          <p:cNvPicPr>
            <a:picLocks noChangeAspect="1"/>
          </p:cNvPicPr>
          <p:nvPr/>
        </p:nvPicPr>
        <p:blipFill>
          <a:blip r:embed="rId3"/>
          <a:stretch>
            <a:fillRect/>
          </a:stretch>
        </p:blipFill>
        <p:spPr>
          <a:xfrm>
            <a:off x="4690872" y="3108960"/>
            <a:ext cx="274320" cy="274320"/>
          </a:xfrm>
          <a:prstGeom prst="rect">
            <a:avLst/>
          </a:prstGeom>
        </p:spPr>
      </p:pic>
      <p:sp>
        <p:nvSpPr>
          <p:cNvPr id="37" name="Text 33"/>
          <p:cNvSpPr/>
          <p:nvPr/>
        </p:nvSpPr>
        <p:spPr>
          <a:xfrm>
            <a:off x="5093208" y="2907792"/>
            <a:ext cx="2944368" cy="676656"/>
          </a:xfrm>
          <a:prstGeom prst="rect">
            <a:avLst/>
          </a:prstGeom>
          <a:noFill/>
          <a:ln/>
        </p:spPr>
        <p:txBody>
          <a:bodyPr wrap="square" lIns="0" tIns="0" rIns="0" bIns="0" rtlCol="0" anchor="ctr"/>
          <a:lstStyle/>
          <a:p>
            <a:pPr marL="0" indent="0">
              <a:lnSpc>
                <a:spcPct val="98000"/>
              </a:lnSpc>
              <a:buNone/>
            </a:pPr>
            <a:r>
              <a:rPr lang="en-US" sz="1200" dirty="0">
                <a:solidFill>
                  <a:srgbClr val="16223A"/>
                </a:solidFill>
                <a:latin typeface="Calibri" pitchFamily="34" charset="0"/>
                <a:ea typeface="Calibri" pitchFamily="34" charset="-122"/>
                <a:cs typeface="Calibri" pitchFamily="34" charset="-120"/>
              </a:rPr>
              <a:t>Hardware selection &amp; BOM preparation</a:t>
            </a:r>
            <a:endParaRPr lang="en-US" sz="1200" dirty="0"/>
          </a:p>
        </p:txBody>
      </p:sp>
      <p:sp>
        <p:nvSpPr>
          <p:cNvPr id="38" name="Shape 34"/>
          <p:cNvSpPr/>
          <p:nvPr/>
        </p:nvSpPr>
        <p:spPr>
          <a:xfrm>
            <a:off x="4526280" y="3712464"/>
            <a:ext cx="3657600" cy="676656"/>
          </a:xfrm>
          <a:prstGeom prst="roundRect">
            <a:avLst>
              <a:gd name="adj" fmla="val 9459"/>
            </a:avLst>
          </a:prstGeom>
          <a:solidFill>
            <a:srgbClr val="FFFFFF"/>
          </a:solidFill>
          <a:ln w="12700">
            <a:solidFill>
              <a:srgbClr val="E2E8F0"/>
            </a:solidFill>
            <a:prstDash val="solid"/>
          </a:ln>
        </p:spPr>
      </p:sp>
      <p:pic>
        <p:nvPicPr>
          <p:cNvPr id="39" name="Image 2" descr="preencoded.png"/>
          <p:cNvPicPr>
            <a:picLocks noChangeAspect="1"/>
          </p:cNvPicPr>
          <p:nvPr/>
        </p:nvPicPr>
        <p:blipFill>
          <a:blip r:embed="rId3"/>
          <a:stretch>
            <a:fillRect/>
          </a:stretch>
        </p:blipFill>
        <p:spPr>
          <a:xfrm>
            <a:off x="4690872" y="3913632"/>
            <a:ext cx="274320" cy="274320"/>
          </a:xfrm>
          <a:prstGeom prst="rect">
            <a:avLst/>
          </a:prstGeom>
        </p:spPr>
      </p:pic>
      <p:sp>
        <p:nvSpPr>
          <p:cNvPr id="40" name="Text 35"/>
          <p:cNvSpPr/>
          <p:nvPr/>
        </p:nvSpPr>
        <p:spPr>
          <a:xfrm>
            <a:off x="5093208" y="3712464"/>
            <a:ext cx="2944368" cy="676656"/>
          </a:xfrm>
          <a:prstGeom prst="rect">
            <a:avLst/>
          </a:prstGeom>
          <a:noFill/>
          <a:ln/>
        </p:spPr>
        <p:txBody>
          <a:bodyPr wrap="square" lIns="0" tIns="0" rIns="0" bIns="0" rtlCol="0" anchor="ctr"/>
          <a:lstStyle/>
          <a:p>
            <a:pPr marL="0" indent="0">
              <a:lnSpc>
                <a:spcPct val="98000"/>
              </a:lnSpc>
              <a:buNone/>
            </a:pPr>
            <a:r>
              <a:rPr lang="en-US" sz="1200" dirty="0">
                <a:solidFill>
                  <a:srgbClr val="16223A"/>
                </a:solidFill>
                <a:latin typeface="Calibri" pitchFamily="34" charset="0"/>
                <a:ea typeface="Calibri" pitchFamily="34" charset="-122"/>
                <a:cs typeface="Calibri" pitchFamily="34" charset="-120"/>
              </a:rPr>
              <a:t>CAD design of snake-robot segment</a:t>
            </a:r>
            <a:endParaRPr lang="en-US" sz="1200" dirty="0"/>
          </a:p>
        </p:txBody>
      </p:sp>
      <p:sp>
        <p:nvSpPr>
          <p:cNvPr id="41" name="Shape 36"/>
          <p:cNvSpPr/>
          <p:nvPr/>
        </p:nvSpPr>
        <p:spPr>
          <a:xfrm>
            <a:off x="4526280" y="4517136"/>
            <a:ext cx="3657600" cy="676656"/>
          </a:xfrm>
          <a:prstGeom prst="roundRect">
            <a:avLst>
              <a:gd name="adj" fmla="val 9459"/>
            </a:avLst>
          </a:prstGeom>
          <a:solidFill>
            <a:srgbClr val="FFFFFF"/>
          </a:solidFill>
          <a:ln w="12700">
            <a:solidFill>
              <a:srgbClr val="E2E8F0"/>
            </a:solidFill>
            <a:prstDash val="solid"/>
          </a:ln>
        </p:spPr>
      </p:sp>
      <p:pic>
        <p:nvPicPr>
          <p:cNvPr id="42" name="Image 3" descr="preencoded.png"/>
          <p:cNvPicPr>
            <a:picLocks noChangeAspect="1"/>
          </p:cNvPicPr>
          <p:nvPr/>
        </p:nvPicPr>
        <p:blipFill>
          <a:blip r:embed="rId3"/>
          <a:stretch>
            <a:fillRect/>
          </a:stretch>
        </p:blipFill>
        <p:spPr>
          <a:xfrm>
            <a:off x="4690872" y="4718304"/>
            <a:ext cx="274320" cy="274320"/>
          </a:xfrm>
          <a:prstGeom prst="rect">
            <a:avLst/>
          </a:prstGeom>
        </p:spPr>
      </p:pic>
      <p:sp>
        <p:nvSpPr>
          <p:cNvPr id="43" name="Text 37"/>
          <p:cNvSpPr/>
          <p:nvPr/>
        </p:nvSpPr>
        <p:spPr>
          <a:xfrm>
            <a:off x="5093208" y="4517136"/>
            <a:ext cx="2944368" cy="676656"/>
          </a:xfrm>
          <a:prstGeom prst="rect">
            <a:avLst/>
          </a:prstGeom>
          <a:noFill/>
          <a:ln/>
        </p:spPr>
        <p:txBody>
          <a:bodyPr wrap="square" lIns="0" tIns="0" rIns="0" bIns="0" rtlCol="0" anchor="ctr"/>
          <a:lstStyle/>
          <a:p>
            <a:pPr marL="0" indent="0">
              <a:lnSpc>
                <a:spcPct val="98000"/>
              </a:lnSpc>
              <a:buNone/>
            </a:pPr>
            <a:r>
              <a:rPr lang="en-US" sz="1200" dirty="0">
                <a:solidFill>
                  <a:srgbClr val="16223A"/>
                </a:solidFill>
                <a:latin typeface="Calibri" pitchFamily="34" charset="0"/>
                <a:ea typeface="Calibri" pitchFamily="34" charset="-122"/>
                <a:cs typeface="Calibri" pitchFamily="34" charset="-120"/>
              </a:rPr>
              <a:t>Assembly sized to Dynamixel XL330 dims</a:t>
            </a:r>
            <a:endParaRPr lang="en-US" sz="1200" dirty="0"/>
          </a:p>
        </p:txBody>
      </p:sp>
      <p:sp>
        <p:nvSpPr>
          <p:cNvPr id="44" name="Shape 38"/>
          <p:cNvSpPr/>
          <p:nvPr/>
        </p:nvSpPr>
        <p:spPr>
          <a:xfrm>
            <a:off x="4526280" y="5321808"/>
            <a:ext cx="3657600" cy="676656"/>
          </a:xfrm>
          <a:prstGeom prst="roundRect">
            <a:avLst>
              <a:gd name="adj" fmla="val 9459"/>
            </a:avLst>
          </a:prstGeom>
          <a:solidFill>
            <a:srgbClr val="FFFFFF"/>
          </a:solidFill>
          <a:ln w="12700">
            <a:solidFill>
              <a:srgbClr val="E2E8F0"/>
            </a:solidFill>
            <a:prstDash val="solid"/>
          </a:ln>
        </p:spPr>
      </p:sp>
      <p:pic>
        <p:nvPicPr>
          <p:cNvPr id="45" name="Image 4" descr="preencoded.png"/>
          <p:cNvPicPr>
            <a:picLocks noChangeAspect="1"/>
          </p:cNvPicPr>
          <p:nvPr/>
        </p:nvPicPr>
        <p:blipFill>
          <a:blip r:embed="rId3"/>
          <a:stretch>
            <a:fillRect/>
          </a:stretch>
        </p:blipFill>
        <p:spPr>
          <a:xfrm>
            <a:off x="4690872" y="5522976"/>
            <a:ext cx="274320" cy="274320"/>
          </a:xfrm>
          <a:prstGeom prst="rect">
            <a:avLst/>
          </a:prstGeom>
        </p:spPr>
      </p:pic>
      <p:sp>
        <p:nvSpPr>
          <p:cNvPr id="46" name="Text 39"/>
          <p:cNvSpPr/>
          <p:nvPr/>
        </p:nvSpPr>
        <p:spPr>
          <a:xfrm>
            <a:off x="5093208" y="5321808"/>
            <a:ext cx="2944368" cy="676656"/>
          </a:xfrm>
          <a:prstGeom prst="rect">
            <a:avLst/>
          </a:prstGeom>
          <a:noFill/>
          <a:ln/>
        </p:spPr>
        <p:txBody>
          <a:bodyPr wrap="square" lIns="0" tIns="0" rIns="0" bIns="0" rtlCol="0" anchor="ctr"/>
          <a:lstStyle/>
          <a:p>
            <a:pPr marL="0" indent="0">
              <a:lnSpc>
                <a:spcPct val="98000"/>
              </a:lnSpc>
              <a:buNone/>
            </a:pPr>
            <a:r>
              <a:rPr lang="en-US" sz="1200" dirty="0">
                <a:solidFill>
                  <a:srgbClr val="16223A"/>
                </a:solidFill>
                <a:latin typeface="Calibri" pitchFamily="34" charset="0"/>
                <a:ea typeface="Calibri" pitchFamily="34" charset="-122"/>
                <a:cs typeface="Calibri" pitchFamily="34" charset="-120"/>
              </a:rPr>
              <a:t>3D printing of two prototype segments</a:t>
            </a:r>
            <a:endParaRPr lang="en-US" sz="1200" dirty="0"/>
          </a:p>
        </p:txBody>
      </p:sp>
      <p:sp>
        <p:nvSpPr>
          <p:cNvPr id="47" name="Shape 40"/>
          <p:cNvSpPr/>
          <p:nvPr/>
        </p:nvSpPr>
        <p:spPr>
          <a:xfrm>
            <a:off x="8366760" y="2103120"/>
            <a:ext cx="3657600" cy="676656"/>
          </a:xfrm>
          <a:prstGeom prst="roundRect">
            <a:avLst>
              <a:gd name="adj" fmla="val 9459"/>
            </a:avLst>
          </a:prstGeom>
          <a:solidFill>
            <a:srgbClr val="FFFFFF"/>
          </a:solidFill>
          <a:ln w="12700">
            <a:solidFill>
              <a:srgbClr val="E2E8F0"/>
            </a:solidFill>
            <a:prstDash val="solid"/>
          </a:ln>
        </p:spPr>
      </p:sp>
      <p:pic>
        <p:nvPicPr>
          <p:cNvPr id="48" name="Image 5" descr="preencoded.png"/>
          <p:cNvPicPr>
            <a:picLocks noChangeAspect="1"/>
          </p:cNvPicPr>
          <p:nvPr/>
        </p:nvPicPr>
        <p:blipFill>
          <a:blip r:embed="rId3"/>
          <a:stretch>
            <a:fillRect/>
          </a:stretch>
        </p:blipFill>
        <p:spPr>
          <a:xfrm>
            <a:off x="8531352" y="2304288"/>
            <a:ext cx="274320" cy="274320"/>
          </a:xfrm>
          <a:prstGeom prst="rect">
            <a:avLst/>
          </a:prstGeom>
        </p:spPr>
      </p:pic>
      <p:sp>
        <p:nvSpPr>
          <p:cNvPr id="49" name="Text 41"/>
          <p:cNvSpPr/>
          <p:nvPr/>
        </p:nvSpPr>
        <p:spPr>
          <a:xfrm>
            <a:off x="8933688" y="2103120"/>
            <a:ext cx="2944368" cy="676656"/>
          </a:xfrm>
          <a:prstGeom prst="rect">
            <a:avLst/>
          </a:prstGeom>
          <a:noFill/>
          <a:ln/>
        </p:spPr>
        <p:txBody>
          <a:bodyPr wrap="square" lIns="0" tIns="0" rIns="0" bIns="0" rtlCol="0" anchor="ctr"/>
          <a:lstStyle/>
          <a:p>
            <a:pPr marL="0" indent="0">
              <a:lnSpc>
                <a:spcPct val="98000"/>
              </a:lnSpc>
              <a:buNone/>
            </a:pPr>
            <a:r>
              <a:rPr lang="en-US" sz="1200" dirty="0">
                <a:solidFill>
                  <a:srgbClr val="16223A"/>
                </a:solidFill>
                <a:latin typeface="Calibri" pitchFamily="34" charset="0"/>
                <a:ea typeface="Calibri" pitchFamily="34" charset="-122"/>
                <a:cs typeface="Calibri" pitchFamily="34" charset="-120"/>
              </a:rPr>
              <a:t>Raspberry Pi setup &amp; configuration</a:t>
            </a:r>
            <a:endParaRPr lang="en-US" sz="1200" dirty="0"/>
          </a:p>
        </p:txBody>
      </p:sp>
      <p:sp>
        <p:nvSpPr>
          <p:cNvPr id="50" name="Shape 42"/>
          <p:cNvSpPr/>
          <p:nvPr/>
        </p:nvSpPr>
        <p:spPr>
          <a:xfrm>
            <a:off x="8366760" y="2907792"/>
            <a:ext cx="3657600" cy="676656"/>
          </a:xfrm>
          <a:prstGeom prst="roundRect">
            <a:avLst>
              <a:gd name="adj" fmla="val 9459"/>
            </a:avLst>
          </a:prstGeom>
          <a:solidFill>
            <a:srgbClr val="FFFFFF"/>
          </a:solidFill>
          <a:ln w="12700">
            <a:solidFill>
              <a:srgbClr val="E2E8F0"/>
            </a:solidFill>
            <a:prstDash val="solid"/>
          </a:ln>
        </p:spPr>
      </p:sp>
      <p:pic>
        <p:nvPicPr>
          <p:cNvPr id="51" name="Image 6" descr="preencoded.png"/>
          <p:cNvPicPr>
            <a:picLocks noChangeAspect="1"/>
          </p:cNvPicPr>
          <p:nvPr/>
        </p:nvPicPr>
        <p:blipFill>
          <a:blip r:embed="rId3"/>
          <a:stretch>
            <a:fillRect/>
          </a:stretch>
        </p:blipFill>
        <p:spPr>
          <a:xfrm>
            <a:off x="8531352" y="3108960"/>
            <a:ext cx="274320" cy="274320"/>
          </a:xfrm>
          <a:prstGeom prst="rect">
            <a:avLst/>
          </a:prstGeom>
        </p:spPr>
      </p:pic>
      <p:sp>
        <p:nvSpPr>
          <p:cNvPr id="52" name="Text 43"/>
          <p:cNvSpPr/>
          <p:nvPr/>
        </p:nvSpPr>
        <p:spPr>
          <a:xfrm>
            <a:off x="8933688" y="2907792"/>
            <a:ext cx="2944368" cy="676656"/>
          </a:xfrm>
          <a:prstGeom prst="rect">
            <a:avLst/>
          </a:prstGeom>
          <a:noFill/>
          <a:ln/>
        </p:spPr>
        <p:txBody>
          <a:bodyPr wrap="square" lIns="0" tIns="0" rIns="0" bIns="0" rtlCol="0" anchor="ctr"/>
          <a:lstStyle/>
          <a:p>
            <a:pPr marL="0" indent="0">
              <a:lnSpc>
                <a:spcPct val="98000"/>
              </a:lnSpc>
              <a:buNone/>
            </a:pPr>
            <a:r>
              <a:rPr lang="en-US" sz="1200" dirty="0">
                <a:solidFill>
                  <a:srgbClr val="16223A"/>
                </a:solidFill>
                <a:latin typeface="Calibri" pitchFamily="34" charset="0"/>
                <a:ea typeface="Calibri" pitchFamily="34" charset="-122"/>
                <a:cs typeface="Calibri" pitchFamily="34" charset="-120"/>
              </a:rPr>
              <a:t>Wi-Fi connectivity testing on the Pi</a:t>
            </a:r>
            <a:endParaRPr lang="en-US" sz="1200" dirty="0"/>
          </a:p>
        </p:txBody>
      </p:sp>
      <p:sp>
        <p:nvSpPr>
          <p:cNvPr id="53" name="Shape 44"/>
          <p:cNvSpPr/>
          <p:nvPr/>
        </p:nvSpPr>
        <p:spPr>
          <a:xfrm>
            <a:off x="8366760" y="3712464"/>
            <a:ext cx="3657600" cy="676656"/>
          </a:xfrm>
          <a:prstGeom prst="roundRect">
            <a:avLst>
              <a:gd name="adj" fmla="val 9459"/>
            </a:avLst>
          </a:prstGeom>
          <a:solidFill>
            <a:srgbClr val="FFFFFF"/>
          </a:solidFill>
          <a:ln w="12700">
            <a:solidFill>
              <a:srgbClr val="E2E8F0"/>
            </a:solidFill>
            <a:prstDash val="solid"/>
          </a:ln>
        </p:spPr>
      </p:sp>
      <p:pic>
        <p:nvPicPr>
          <p:cNvPr id="54" name="Image 7" descr="preencoded.png"/>
          <p:cNvPicPr>
            <a:picLocks noChangeAspect="1"/>
          </p:cNvPicPr>
          <p:nvPr/>
        </p:nvPicPr>
        <p:blipFill>
          <a:blip r:embed="rId3"/>
          <a:stretch>
            <a:fillRect/>
          </a:stretch>
        </p:blipFill>
        <p:spPr>
          <a:xfrm>
            <a:off x="8531352" y="3913632"/>
            <a:ext cx="274320" cy="274320"/>
          </a:xfrm>
          <a:prstGeom prst="rect">
            <a:avLst/>
          </a:prstGeom>
        </p:spPr>
      </p:pic>
      <p:sp>
        <p:nvSpPr>
          <p:cNvPr id="55" name="Text 45"/>
          <p:cNvSpPr/>
          <p:nvPr/>
        </p:nvSpPr>
        <p:spPr>
          <a:xfrm>
            <a:off x="8933688" y="3712464"/>
            <a:ext cx="2944368" cy="676656"/>
          </a:xfrm>
          <a:prstGeom prst="rect">
            <a:avLst/>
          </a:prstGeom>
          <a:noFill/>
          <a:ln/>
        </p:spPr>
        <p:txBody>
          <a:bodyPr wrap="square" lIns="0" tIns="0" rIns="0" bIns="0" rtlCol="0" anchor="ctr"/>
          <a:lstStyle/>
          <a:p>
            <a:pPr marL="0" indent="0">
              <a:lnSpc>
                <a:spcPct val="98000"/>
              </a:lnSpc>
              <a:buNone/>
            </a:pPr>
            <a:r>
              <a:rPr lang="en-US" sz="1200" dirty="0">
                <a:solidFill>
                  <a:srgbClr val="16223A"/>
                </a:solidFill>
                <a:latin typeface="Calibri" pitchFamily="34" charset="0"/>
                <a:ea typeface="Calibri" pitchFamily="34" charset="-122"/>
                <a:cs typeface="Calibri" pitchFamily="34" charset="-120"/>
              </a:rPr>
              <a:t>Basic Raspberry Pi lab projects executed</a:t>
            </a:r>
            <a:endParaRPr lang="en-US" sz="1200" dirty="0"/>
          </a:p>
        </p:txBody>
      </p:sp>
      <p:sp>
        <p:nvSpPr>
          <p:cNvPr id="56" name="Shape 46"/>
          <p:cNvSpPr/>
          <p:nvPr/>
        </p:nvSpPr>
        <p:spPr>
          <a:xfrm>
            <a:off x="8366760" y="4517136"/>
            <a:ext cx="3657600" cy="676656"/>
          </a:xfrm>
          <a:prstGeom prst="roundRect">
            <a:avLst>
              <a:gd name="adj" fmla="val 9459"/>
            </a:avLst>
          </a:prstGeom>
          <a:solidFill>
            <a:srgbClr val="FFFFFF"/>
          </a:solidFill>
          <a:ln w="12700">
            <a:solidFill>
              <a:srgbClr val="E2E8F0"/>
            </a:solidFill>
            <a:prstDash val="solid"/>
          </a:ln>
        </p:spPr>
      </p:sp>
      <p:pic>
        <p:nvPicPr>
          <p:cNvPr id="57" name="Image 8" descr="preencoded.png"/>
          <p:cNvPicPr>
            <a:picLocks noChangeAspect="1"/>
          </p:cNvPicPr>
          <p:nvPr/>
        </p:nvPicPr>
        <p:blipFill>
          <a:blip r:embed="rId3"/>
          <a:stretch>
            <a:fillRect/>
          </a:stretch>
        </p:blipFill>
        <p:spPr>
          <a:xfrm>
            <a:off x="8531352" y="4718304"/>
            <a:ext cx="274320" cy="274320"/>
          </a:xfrm>
          <a:prstGeom prst="rect">
            <a:avLst/>
          </a:prstGeom>
        </p:spPr>
      </p:pic>
      <p:sp>
        <p:nvSpPr>
          <p:cNvPr id="58" name="Text 47"/>
          <p:cNvSpPr/>
          <p:nvPr/>
        </p:nvSpPr>
        <p:spPr>
          <a:xfrm>
            <a:off x="8933688" y="4517136"/>
            <a:ext cx="2944368" cy="676656"/>
          </a:xfrm>
          <a:prstGeom prst="rect">
            <a:avLst/>
          </a:prstGeom>
          <a:noFill/>
          <a:ln/>
        </p:spPr>
        <p:txBody>
          <a:bodyPr wrap="square" lIns="0" tIns="0" rIns="0" bIns="0" rtlCol="0" anchor="ctr"/>
          <a:lstStyle/>
          <a:p>
            <a:pPr marL="0" indent="0">
              <a:lnSpc>
                <a:spcPct val="98000"/>
              </a:lnSpc>
              <a:buNone/>
            </a:pPr>
            <a:r>
              <a:rPr lang="en-US" sz="1200" dirty="0">
                <a:solidFill>
                  <a:srgbClr val="16223A"/>
                </a:solidFill>
                <a:latin typeface="Calibri" pitchFamily="34" charset="0"/>
                <a:ea typeface="Calibri" pitchFamily="34" charset="-122"/>
                <a:cs typeface="Calibri" pitchFamily="34" charset="-120"/>
              </a:rPr>
              <a:t>GitHub repository created &amp; maintained</a:t>
            </a:r>
            <a:endParaRPr lang="en-US" sz="1200" dirty="0"/>
          </a:p>
        </p:txBody>
      </p:sp>
      <p:sp>
        <p:nvSpPr>
          <p:cNvPr id="59" name="Shape 48"/>
          <p:cNvSpPr/>
          <p:nvPr/>
        </p:nvSpPr>
        <p:spPr>
          <a:xfrm>
            <a:off x="8366760" y="5321808"/>
            <a:ext cx="3657600" cy="676656"/>
          </a:xfrm>
          <a:prstGeom prst="roundRect">
            <a:avLst>
              <a:gd name="adj" fmla="val 9459"/>
            </a:avLst>
          </a:prstGeom>
          <a:solidFill>
            <a:srgbClr val="FFFFFF"/>
          </a:solidFill>
          <a:ln w="12700">
            <a:solidFill>
              <a:srgbClr val="E2E8F0"/>
            </a:solidFill>
            <a:prstDash val="solid"/>
          </a:ln>
        </p:spPr>
      </p:sp>
      <p:pic>
        <p:nvPicPr>
          <p:cNvPr id="60" name="Image 9" descr="preencoded.png"/>
          <p:cNvPicPr>
            <a:picLocks noChangeAspect="1"/>
          </p:cNvPicPr>
          <p:nvPr/>
        </p:nvPicPr>
        <p:blipFill>
          <a:blip r:embed="rId3"/>
          <a:stretch>
            <a:fillRect/>
          </a:stretch>
        </p:blipFill>
        <p:spPr>
          <a:xfrm>
            <a:off x="8531352" y="5522976"/>
            <a:ext cx="274320" cy="274320"/>
          </a:xfrm>
          <a:prstGeom prst="rect">
            <a:avLst/>
          </a:prstGeom>
        </p:spPr>
      </p:pic>
      <p:sp>
        <p:nvSpPr>
          <p:cNvPr id="61" name="Text 49"/>
          <p:cNvSpPr/>
          <p:nvPr/>
        </p:nvSpPr>
        <p:spPr>
          <a:xfrm>
            <a:off x="8933688" y="5321808"/>
            <a:ext cx="2944368" cy="676656"/>
          </a:xfrm>
          <a:prstGeom prst="rect">
            <a:avLst/>
          </a:prstGeom>
          <a:noFill/>
          <a:ln/>
        </p:spPr>
        <p:txBody>
          <a:bodyPr wrap="square" lIns="0" tIns="0" rIns="0" bIns="0" rtlCol="0" anchor="ctr"/>
          <a:lstStyle/>
          <a:p>
            <a:pPr marL="0" indent="0">
              <a:lnSpc>
                <a:spcPct val="98000"/>
              </a:lnSpc>
              <a:buNone/>
            </a:pPr>
            <a:r>
              <a:rPr lang="en-US" sz="1200" dirty="0">
                <a:solidFill>
                  <a:srgbClr val="16223A"/>
                </a:solidFill>
                <a:latin typeface="Calibri" pitchFamily="34" charset="0"/>
                <a:ea typeface="Calibri" pitchFamily="34" charset="-122"/>
                <a:cs typeface="Calibri" pitchFamily="34" charset="-120"/>
              </a:rPr>
              <a:t>Procurement process initiated</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6F8FB"/>
        </a:solidFill>
        <a:effectLst/>
      </p:bgPr>
    </p:bg>
    <p:spTree>
      <p:nvGrpSpPr>
        <p:cNvPr id="1" name=""/>
        <p:cNvGrpSpPr/>
        <p:nvPr/>
      </p:nvGrpSpPr>
      <p:grpSpPr>
        <a:xfrm>
          <a:off x="0" y="0"/>
          <a:ext cx="0" cy="0"/>
          <a:chOff x="0" y="0"/>
          <a:chExt cx="0" cy="0"/>
        </a:xfrm>
      </p:grpSpPr>
      <p:sp>
        <p:nvSpPr>
          <p:cNvPr id="400" name="PwrBlock"/>
          <p:cNvSpPr/>
          <p:nvPr/>
        </p:nvSpPr>
        <p:spPr>
          <a:xfrm>
            <a:off x="635000" y="1143000"/>
            <a:ext cx="3683000" cy="609600"/>
          </a:xfrm>
          <a:prstGeom prst="rect">
            <a:avLst/>
          </a:prstGeom>
          <a:solidFill>
            <a:srgbClr val="E8F5EE"/>
          </a:solidFill>
          <a:ln w="19050">
            <a:solidFill>
              <a:srgbClr val="2E8A5A"/>
            </a:solidFill>
          </a:ln>
        </p:spPr>
        <p:txBody>
          <a:bodyPr/>
          <a:lstStyle/>
          <a:p>
            <a:endParaRPr/>
          </a:p>
        </p:txBody>
      </p:sp>
      <p:sp>
        <p:nvSpPr>
          <p:cNvPr id="401" name="PwrLabel"/>
          <p:cNvSpPr/>
          <p:nvPr/>
        </p:nvSpPr>
        <p:spPr>
          <a:xfrm>
            <a:off x="635000" y="1143000"/>
            <a:ext cx="3683000" cy="609600"/>
          </a:xfrm>
          <a:prstGeom prst="rect">
            <a:avLst/>
          </a:prstGeom>
          <a:noFill/>
          <a:ln>
            <a:noFill/>
          </a:ln>
        </p:spPr>
        <p:txBody>
          <a:bodyPr wrap="square" rtlCol="0" anchor="ctr"/>
          <a:lstStyle/>
          <a:p>
            <a:pPr marL="0" indent="0" algn="ctr">
              <a:buNone/>
            </a:pPr>
            <a:r>
              <a:rPr lang="en-US" sz="1100" b="1" dirty="0">
                <a:solidFill>
                  <a:srgbClr val="1A7A4A"/>
                </a:solidFill>
                <a:latin typeface="Calibri" pitchFamily="34" charset="0"/>
              </a:rPr>
              <a:t>Power Supply</a:t>
            </a:r>
          </a:p>
        </p:txBody>
      </p:sp>
      <p:sp>
        <p:nvSpPr>
          <p:cNvPr id="402" name="Arr1"/>
          <p:cNvSpPr/>
          <p:nvPr/>
        </p:nvSpPr>
        <p:spPr>
          <a:xfrm>
            <a:off x="2463800" y="1752600"/>
            <a:ext cx="25400" cy="203200"/>
          </a:xfrm>
          <a:prstGeom prst="rect">
            <a:avLst/>
          </a:prstGeom>
          <a:solidFill>
            <a:srgbClr val="4A6080"/>
          </a:solidFill>
          <a:ln>
            <a:noFill/>
          </a:ln>
        </p:spPr>
        <p:txBody>
          <a:bodyPr/>
          <a:lstStyle/>
          <a:p>
            <a:endParaRPr/>
          </a:p>
        </p:txBody>
      </p:sp>
      <p:sp>
        <p:nvSpPr>
          <p:cNvPr id="403" name="ArrH1"/>
          <p:cNvSpPr/>
          <p:nvPr/>
        </p:nvSpPr>
        <p:spPr>
          <a:xfrm flipV="1">
            <a:off x="2413000" y="1879600"/>
            <a:ext cx="127000" cy="101600"/>
          </a:xfrm>
          <a:prstGeom prst="triangle">
            <a:avLst/>
          </a:prstGeom>
          <a:solidFill>
            <a:srgbClr val="4A6080"/>
          </a:solidFill>
          <a:ln>
            <a:noFill/>
          </a:ln>
        </p:spPr>
        <p:txBody>
          <a:bodyPr/>
          <a:lstStyle/>
          <a:p>
            <a:endParaRPr/>
          </a:p>
        </p:txBody>
      </p:sp>
      <p:sp>
        <p:nvSpPr>
          <p:cNvPr id="404" name="RPiBlock"/>
          <p:cNvSpPr/>
          <p:nvPr/>
        </p:nvSpPr>
        <p:spPr>
          <a:xfrm>
            <a:off x="635000" y="1981200"/>
            <a:ext cx="3683000" cy="609600"/>
          </a:xfrm>
          <a:prstGeom prst="rect">
            <a:avLst/>
          </a:prstGeom>
          <a:solidFill>
            <a:srgbClr val="E8F5EE"/>
          </a:solidFill>
          <a:ln w="25400">
            <a:solidFill>
              <a:srgbClr val="2E8A5A"/>
            </a:solidFill>
          </a:ln>
        </p:spPr>
        <p:txBody>
          <a:bodyPr/>
          <a:lstStyle/>
          <a:p>
            <a:endParaRPr/>
          </a:p>
        </p:txBody>
      </p:sp>
      <p:sp>
        <p:nvSpPr>
          <p:cNvPr id="405" name="RPiLabel"/>
          <p:cNvSpPr/>
          <p:nvPr/>
        </p:nvSpPr>
        <p:spPr>
          <a:xfrm>
            <a:off x="635000" y="1981200"/>
            <a:ext cx="3683000" cy="609600"/>
          </a:xfrm>
          <a:prstGeom prst="rect">
            <a:avLst/>
          </a:prstGeom>
          <a:noFill/>
          <a:ln>
            <a:noFill/>
          </a:ln>
        </p:spPr>
        <p:txBody>
          <a:bodyPr wrap="square" rtlCol="0" anchor="ctr"/>
          <a:lstStyle/>
          <a:p>
            <a:pPr marL="0" indent="0" algn="ctr">
              <a:buNone/>
            </a:pPr>
            <a:r>
              <a:rPr lang="en-US" sz="1050" b="1" dirty="0">
                <a:solidFill>
                  <a:srgbClr val="1A7A4A"/>
                </a:solidFill>
                <a:latin typeface="Calibri" pitchFamily="34" charset="0"/>
              </a:rPr>
              <a:t>Raspberry Pi 5  [Central Controller]</a:t>
            </a:r>
          </a:p>
        </p:txBody>
      </p:sp>
      <p:sp>
        <p:nvSpPr>
          <p:cNvPr id="406" name="Arr2"/>
          <p:cNvSpPr/>
          <p:nvPr/>
        </p:nvSpPr>
        <p:spPr>
          <a:xfrm>
            <a:off x="2463800" y="2590800"/>
            <a:ext cx="25400" cy="203200"/>
          </a:xfrm>
          <a:prstGeom prst="rect">
            <a:avLst/>
          </a:prstGeom>
          <a:solidFill>
            <a:srgbClr val="4A6080"/>
          </a:solidFill>
          <a:ln>
            <a:noFill/>
          </a:ln>
        </p:spPr>
        <p:txBody>
          <a:bodyPr/>
          <a:lstStyle/>
          <a:p>
            <a:endParaRPr/>
          </a:p>
        </p:txBody>
      </p:sp>
      <p:sp>
        <p:nvSpPr>
          <p:cNvPr id="407" name="ArrH2"/>
          <p:cNvSpPr/>
          <p:nvPr/>
        </p:nvSpPr>
        <p:spPr>
          <a:xfrm flipV="1">
            <a:off x="2413000" y="2717800"/>
            <a:ext cx="127000" cy="101600"/>
          </a:xfrm>
          <a:prstGeom prst="triangle">
            <a:avLst/>
          </a:prstGeom>
          <a:solidFill>
            <a:srgbClr val="4A6080"/>
          </a:solidFill>
          <a:ln>
            <a:noFill/>
          </a:ln>
        </p:spPr>
        <p:txBody>
          <a:bodyPr/>
          <a:lstStyle/>
          <a:p>
            <a:endParaRPr/>
          </a:p>
        </p:txBody>
      </p:sp>
      <p:sp>
        <p:nvSpPr>
          <p:cNvPr id="408" name="CommBlock"/>
          <p:cNvSpPr/>
          <p:nvPr/>
        </p:nvSpPr>
        <p:spPr>
          <a:xfrm>
            <a:off x="635000" y="2819400"/>
            <a:ext cx="3683000" cy="609600"/>
          </a:xfrm>
          <a:prstGeom prst="rect">
            <a:avLst/>
          </a:prstGeom>
          <a:solidFill>
            <a:srgbClr val="E8F0FA"/>
          </a:solidFill>
          <a:ln w="19050">
            <a:solidFill>
              <a:srgbClr val="2563A8"/>
            </a:solidFill>
          </a:ln>
        </p:spPr>
        <p:txBody>
          <a:bodyPr/>
          <a:lstStyle/>
          <a:p>
            <a:endParaRPr/>
          </a:p>
        </p:txBody>
      </p:sp>
      <p:sp>
        <p:nvSpPr>
          <p:cNvPr id="409" name="CommLabel"/>
          <p:cNvSpPr/>
          <p:nvPr/>
        </p:nvSpPr>
        <p:spPr>
          <a:xfrm>
            <a:off x="635000" y="2819400"/>
            <a:ext cx="3683000" cy="609600"/>
          </a:xfrm>
          <a:prstGeom prst="rect">
            <a:avLst/>
          </a:prstGeom>
          <a:noFill/>
          <a:ln>
            <a:noFill/>
          </a:ln>
        </p:spPr>
        <p:txBody>
          <a:bodyPr wrap="square" rtlCol="0" anchor="ctr"/>
          <a:lstStyle/>
          <a:p>
            <a:pPr marL="0" indent="0" algn="ctr">
              <a:buNone/>
            </a:pPr>
            <a:r>
              <a:rPr lang="en-US" sz="1000" b="1" dirty="0">
                <a:solidFill>
                  <a:srgbClr val="1A5C8A"/>
                </a:solidFill>
                <a:latin typeface="Calibri" pitchFamily="34" charset="0"/>
              </a:rPr>
              <a:t>Communication Layer  (U2D2 / UART)</a:t>
            </a:r>
          </a:p>
        </p:txBody>
      </p:sp>
      <p:sp>
        <p:nvSpPr>
          <p:cNvPr id="410" name="Arr3"/>
          <p:cNvSpPr/>
          <p:nvPr/>
        </p:nvSpPr>
        <p:spPr>
          <a:xfrm>
            <a:off x="2463800" y="3429000"/>
            <a:ext cx="25400" cy="203200"/>
          </a:xfrm>
          <a:prstGeom prst="rect">
            <a:avLst/>
          </a:prstGeom>
          <a:solidFill>
            <a:srgbClr val="4A6080"/>
          </a:solidFill>
          <a:ln>
            <a:noFill/>
          </a:ln>
        </p:spPr>
        <p:txBody>
          <a:bodyPr/>
          <a:lstStyle/>
          <a:p>
            <a:endParaRPr/>
          </a:p>
        </p:txBody>
      </p:sp>
      <p:sp>
        <p:nvSpPr>
          <p:cNvPr id="411" name="ArrH3"/>
          <p:cNvSpPr/>
          <p:nvPr/>
        </p:nvSpPr>
        <p:spPr>
          <a:xfrm flipV="1">
            <a:off x="2413000" y="3556000"/>
            <a:ext cx="127000" cy="101600"/>
          </a:xfrm>
          <a:prstGeom prst="triangle">
            <a:avLst/>
          </a:prstGeom>
          <a:solidFill>
            <a:srgbClr val="4A6080"/>
          </a:solidFill>
          <a:ln>
            <a:noFill/>
          </a:ln>
        </p:spPr>
        <p:txBody>
          <a:bodyPr/>
          <a:lstStyle/>
          <a:p>
            <a:endParaRPr/>
          </a:p>
        </p:txBody>
      </p:sp>
      <p:sp>
        <p:nvSpPr>
          <p:cNvPr id="412" name="DynBlock"/>
          <p:cNvSpPr/>
          <p:nvPr/>
        </p:nvSpPr>
        <p:spPr>
          <a:xfrm>
            <a:off x="635000" y="3657600"/>
            <a:ext cx="3683000" cy="609600"/>
          </a:xfrm>
          <a:prstGeom prst="rect">
            <a:avLst/>
          </a:prstGeom>
          <a:solidFill>
            <a:srgbClr val="E8F0FA"/>
          </a:solidFill>
          <a:ln w="19050">
            <a:solidFill>
              <a:srgbClr val="2563A8"/>
            </a:solidFill>
          </a:ln>
        </p:spPr>
        <p:txBody>
          <a:bodyPr/>
          <a:lstStyle/>
          <a:p>
            <a:endParaRPr/>
          </a:p>
        </p:txBody>
      </p:sp>
      <p:sp>
        <p:nvSpPr>
          <p:cNvPr id="413" name="DynLabel"/>
          <p:cNvSpPr/>
          <p:nvPr/>
        </p:nvSpPr>
        <p:spPr>
          <a:xfrm>
            <a:off x="635000" y="3657600"/>
            <a:ext cx="3683000" cy="609600"/>
          </a:xfrm>
          <a:prstGeom prst="rect">
            <a:avLst/>
          </a:prstGeom>
          <a:noFill/>
          <a:ln>
            <a:noFill/>
          </a:ln>
        </p:spPr>
        <p:txBody>
          <a:bodyPr wrap="square" rtlCol="0" anchor="ctr"/>
          <a:lstStyle/>
          <a:p>
            <a:pPr marL="0" indent="0" algn="ctr">
              <a:buNone/>
            </a:pPr>
            <a:r>
              <a:rPr lang="en-US" sz="1050" b="1" dirty="0">
                <a:solidFill>
                  <a:srgbClr val="1A5C8A"/>
                </a:solidFill>
                <a:latin typeface="Calibri" pitchFamily="34" charset="0"/>
              </a:rPr>
              <a:t>Dynamixel Motor Network</a:t>
            </a:r>
          </a:p>
        </p:txBody>
      </p:sp>
      <p:sp>
        <p:nvSpPr>
          <p:cNvPr id="414" name="Arr4"/>
          <p:cNvSpPr/>
          <p:nvPr/>
        </p:nvSpPr>
        <p:spPr>
          <a:xfrm>
            <a:off x="2463800" y="4267200"/>
            <a:ext cx="25400" cy="203200"/>
          </a:xfrm>
          <a:prstGeom prst="rect">
            <a:avLst/>
          </a:prstGeom>
          <a:solidFill>
            <a:srgbClr val="4A6080"/>
          </a:solidFill>
          <a:ln>
            <a:noFill/>
          </a:ln>
        </p:spPr>
        <p:txBody>
          <a:bodyPr/>
          <a:lstStyle/>
          <a:p>
            <a:endParaRPr/>
          </a:p>
        </p:txBody>
      </p:sp>
      <p:sp>
        <p:nvSpPr>
          <p:cNvPr id="415" name="ArrH4"/>
          <p:cNvSpPr/>
          <p:nvPr/>
        </p:nvSpPr>
        <p:spPr>
          <a:xfrm flipV="1">
            <a:off x="2413000" y="4394200"/>
            <a:ext cx="127000" cy="101600"/>
          </a:xfrm>
          <a:prstGeom prst="triangle">
            <a:avLst/>
          </a:prstGeom>
          <a:solidFill>
            <a:srgbClr val="4A6080"/>
          </a:solidFill>
          <a:ln>
            <a:noFill/>
          </a:ln>
        </p:spPr>
        <p:txBody>
          <a:bodyPr/>
          <a:lstStyle/>
          <a:p>
            <a:endParaRPr/>
          </a:p>
        </p:txBody>
      </p:sp>
      <p:sp>
        <p:nvSpPr>
          <p:cNvPr id="416" name="RobBlock"/>
          <p:cNvSpPr/>
          <p:nvPr/>
        </p:nvSpPr>
        <p:spPr>
          <a:xfrm>
            <a:off x="635000" y="4495800"/>
            <a:ext cx="3683000" cy="609600"/>
          </a:xfrm>
          <a:prstGeom prst="rect">
            <a:avLst/>
          </a:prstGeom>
          <a:solidFill>
            <a:srgbClr val="E8F0FA"/>
          </a:solidFill>
          <a:ln w="19050">
            <a:solidFill>
              <a:srgbClr val="2563A8"/>
            </a:solidFill>
          </a:ln>
        </p:spPr>
        <p:txBody>
          <a:bodyPr/>
          <a:lstStyle/>
          <a:p>
            <a:endParaRPr/>
          </a:p>
        </p:txBody>
      </p:sp>
      <p:sp>
        <p:nvSpPr>
          <p:cNvPr id="417" name="RobLabel"/>
          <p:cNvSpPr/>
          <p:nvPr/>
        </p:nvSpPr>
        <p:spPr>
          <a:xfrm>
            <a:off x="635000" y="4495800"/>
            <a:ext cx="3683000" cy="609600"/>
          </a:xfrm>
          <a:prstGeom prst="rect">
            <a:avLst/>
          </a:prstGeom>
          <a:noFill/>
          <a:ln>
            <a:noFill/>
          </a:ln>
        </p:spPr>
        <p:txBody>
          <a:bodyPr wrap="square" rtlCol="0" anchor="ctr"/>
          <a:lstStyle/>
          <a:p>
            <a:pPr marL="0" indent="0" algn="ctr">
              <a:buNone/>
            </a:pPr>
            <a:r>
              <a:rPr lang="en-US" sz="1000" b="1" dirty="0">
                <a:solidFill>
                  <a:srgbClr val="1A5C8A"/>
                </a:solidFill>
                <a:latin typeface="Calibri" pitchFamily="34" charset="0"/>
              </a:rPr>
              <a:t>Robot Segments  (10 × servo joints)</a:t>
            </a:r>
          </a:p>
        </p:txBody>
      </p:sp>
      <p:sp>
        <p:nvSpPr>
          <p:cNvPr id="420" name="CABlock"/>
          <p:cNvSpPr/>
          <p:nvPr/>
        </p:nvSpPr>
        <p:spPr>
          <a:xfrm>
            <a:off x="4826000" y="2019300"/>
            <a:ext cx="2159000" cy="533400"/>
          </a:xfrm>
          <a:prstGeom prst="rect">
            <a:avLst/>
          </a:prstGeom>
          <a:solidFill>
            <a:srgbClr val="E8F5EE"/>
          </a:solidFill>
          <a:ln w="19050">
            <a:solidFill>
              <a:srgbClr val="2E8A5A"/>
            </a:solidFill>
          </a:ln>
        </p:spPr>
        <p:txBody>
          <a:bodyPr/>
          <a:lstStyle/>
          <a:p>
            <a:endParaRPr/>
          </a:p>
        </p:txBody>
      </p:sp>
      <p:sp>
        <p:nvSpPr>
          <p:cNvPr id="421" name="CALabel"/>
          <p:cNvSpPr/>
          <p:nvPr/>
        </p:nvSpPr>
        <p:spPr>
          <a:xfrm>
            <a:off x="4826000" y="2019300"/>
            <a:ext cx="2159000" cy="533400"/>
          </a:xfrm>
          <a:prstGeom prst="rect">
            <a:avLst/>
          </a:prstGeom>
          <a:noFill/>
          <a:ln>
            <a:noFill/>
          </a:ln>
        </p:spPr>
        <p:txBody>
          <a:bodyPr wrap="square" rtlCol="0" anchor="ctr"/>
          <a:lstStyle/>
          <a:p>
            <a:pPr marL="0" indent="0" algn="ctr">
              <a:buNone/>
            </a:pPr>
            <a:r>
              <a:rPr lang="en-US" sz="1000" b="1" dirty="0">
                <a:solidFill>
                  <a:srgbClr val="1A7A4A"/>
                </a:solidFill>
                <a:latin typeface="Calibri" pitchFamily="34" charset="0"/>
              </a:rPr>
              <a:t>Control Algorithms</a:t>
            </a:r>
          </a:p>
        </p:txBody>
      </p:sp>
      <p:sp>
        <p:nvSpPr>
          <p:cNvPr id="422" name="HConn1"/>
          <p:cNvSpPr/>
          <p:nvPr/>
        </p:nvSpPr>
        <p:spPr>
          <a:xfrm>
            <a:off x="4318000" y="2273300"/>
            <a:ext cx="508000" cy="25400"/>
          </a:xfrm>
          <a:prstGeom prst="rect">
            <a:avLst/>
          </a:prstGeom>
          <a:solidFill>
            <a:srgbClr val="4A6080"/>
          </a:solidFill>
          <a:ln>
            <a:noFill/>
          </a:ln>
        </p:spPr>
        <p:txBody>
          <a:bodyPr/>
          <a:lstStyle/>
          <a:p>
            <a:endParaRPr/>
          </a:p>
        </p:txBody>
      </p:sp>
      <p:sp>
        <p:nvSpPr>
          <p:cNvPr id="451" name="SensorBox"/>
          <p:cNvSpPr/>
          <p:nvPr/>
        </p:nvSpPr>
        <p:spPr>
          <a:xfrm>
            <a:off x="7620000" y="1308100"/>
            <a:ext cx="2362200" cy="533400"/>
          </a:xfrm>
          <a:prstGeom prst="rect">
            <a:avLst/>
          </a:prstGeom>
          <a:solidFill>
            <a:srgbClr val="EAEEF4"/>
          </a:solidFill>
          <a:ln w="19050">
            <a:solidFill>
              <a:srgbClr val="8A96A8"/>
            </a:solidFill>
            <a:prstDash val="dash"/>
          </a:ln>
        </p:spPr>
        <p:txBody>
          <a:bodyPr/>
          <a:lstStyle/>
          <a:p>
            <a:endParaRPr/>
          </a:p>
        </p:txBody>
      </p:sp>
      <p:sp>
        <p:nvSpPr>
          <p:cNvPr id="452" name="SensorLabel"/>
          <p:cNvSpPr/>
          <p:nvPr/>
        </p:nvSpPr>
        <p:spPr>
          <a:xfrm>
            <a:off x="7620000" y="1308100"/>
            <a:ext cx="2362200" cy="533400"/>
          </a:xfrm>
          <a:prstGeom prst="rect">
            <a:avLst/>
          </a:prstGeom>
          <a:noFill/>
          <a:ln>
            <a:noFill/>
          </a:ln>
        </p:spPr>
        <p:txBody>
          <a:bodyPr wrap="square" rtlCol="0" anchor="ctr"/>
          <a:lstStyle/>
          <a:p>
            <a:pPr marL="0" indent="0" algn="ctr">
              <a:buNone/>
            </a:pPr>
            <a:r>
              <a:rPr lang="en-US" sz="1050" b="0" dirty="0">
                <a:solidFill>
                  <a:srgbClr val="2C3E52"/>
                </a:solidFill>
                <a:latin typeface="Calibri" pitchFamily="34" charset="0"/>
              </a:rPr>
              <a:t>IMU / Force Sensors</a:t>
            </a:r>
          </a:p>
        </p:txBody>
      </p:sp>
      <p:sp>
        <p:nvSpPr>
          <p:cNvPr id="453" name="CamBox"/>
          <p:cNvSpPr/>
          <p:nvPr/>
        </p:nvSpPr>
        <p:spPr>
          <a:xfrm>
            <a:off x="7620000" y="1968500"/>
            <a:ext cx="2362200" cy="533400"/>
          </a:xfrm>
          <a:prstGeom prst="rect">
            <a:avLst/>
          </a:prstGeom>
          <a:solidFill>
            <a:srgbClr val="EAEEF4"/>
          </a:solidFill>
          <a:ln w="19050">
            <a:solidFill>
              <a:srgbClr val="8A96A8"/>
            </a:solidFill>
            <a:prstDash val="dash"/>
          </a:ln>
        </p:spPr>
        <p:txBody>
          <a:bodyPr/>
          <a:lstStyle/>
          <a:p>
            <a:endParaRPr/>
          </a:p>
        </p:txBody>
      </p:sp>
      <p:sp>
        <p:nvSpPr>
          <p:cNvPr id="454" name="CamLabel"/>
          <p:cNvSpPr/>
          <p:nvPr/>
        </p:nvSpPr>
        <p:spPr>
          <a:xfrm>
            <a:off x="7620000" y="1968500"/>
            <a:ext cx="2362200" cy="533400"/>
          </a:xfrm>
          <a:prstGeom prst="rect">
            <a:avLst/>
          </a:prstGeom>
          <a:noFill/>
          <a:ln>
            <a:noFill/>
          </a:ln>
        </p:spPr>
        <p:txBody>
          <a:bodyPr wrap="square" rtlCol="0" anchor="ctr"/>
          <a:lstStyle/>
          <a:p>
            <a:pPr marL="0" indent="0" algn="ctr">
              <a:buNone/>
            </a:pPr>
            <a:r>
              <a:rPr lang="en-US" sz="1050" b="0" dirty="0">
                <a:solidFill>
                  <a:srgbClr val="2C3E52"/>
                </a:solidFill>
                <a:latin typeface="Calibri" pitchFamily="34" charset="0"/>
              </a:rPr>
              <a:t>Camera Module</a:t>
            </a:r>
          </a:p>
        </p:txBody>
      </p:sp>
      <p:sp>
        <p:nvSpPr>
          <p:cNvPr id="455" name="WirelessBox"/>
          <p:cNvSpPr/>
          <p:nvPr/>
        </p:nvSpPr>
        <p:spPr>
          <a:xfrm>
            <a:off x="7620000" y="2628900"/>
            <a:ext cx="2362200" cy="533400"/>
          </a:xfrm>
          <a:prstGeom prst="rect">
            <a:avLst/>
          </a:prstGeom>
          <a:solidFill>
            <a:srgbClr val="EAEEF4"/>
          </a:solidFill>
          <a:ln w="19050">
            <a:solidFill>
              <a:srgbClr val="8A96A8"/>
            </a:solidFill>
            <a:prstDash val="dash"/>
          </a:ln>
        </p:spPr>
        <p:txBody>
          <a:bodyPr/>
          <a:lstStyle/>
          <a:p>
            <a:endParaRPr/>
          </a:p>
        </p:txBody>
      </p:sp>
      <p:sp>
        <p:nvSpPr>
          <p:cNvPr id="456" name="WirelessLabel"/>
          <p:cNvSpPr/>
          <p:nvPr/>
        </p:nvSpPr>
        <p:spPr>
          <a:xfrm>
            <a:off x="7620000" y="2628900"/>
            <a:ext cx="2362200" cy="533400"/>
          </a:xfrm>
          <a:prstGeom prst="rect">
            <a:avLst/>
          </a:prstGeom>
          <a:noFill/>
          <a:ln>
            <a:noFill/>
          </a:ln>
        </p:spPr>
        <p:txBody>
          <a:bodyPr wrap="square" rtlCol="0" anchor="ctr"/>
          <a:lstStyle/>
          <a:p>
            <a:pPr marL="0" indent="0" algn="ctr">
              <a:buNone/>
            </a:pPr>
            <a:r>
              <a:rPr lang="en-US" sz="1050" b="0" dirty="0">
                <a:solidFill>
                  <a:srgbClr val="2C3E52"/>
                </a:solidFill>
                <a:latin typeface="Calibri" pitchFamily="34" charset="0"/>
              </a:rPr>
              <a:t>Wireless Control Module</a:t>
            </a:r>
          </a:p>
        </p:txBody>
      </p:sp>
      <p:sp>
        <p:nvSpPr>
          <p:cNvPr id="460" name="FutConn1"/>
          <p:cNvSpPr/>
          <p:nvPr/>
        </p:nvSpPr>
        <p:spPr>
          <a:xfrm>
            <a:off x="4318000" y="3111500"/>
            <a:ext cx="3302000" cy="25400"/>
          </a:xfrm>
          <a:prstGeom prst="rect">
            <a:avLst/>
          </a:prstGeom>
          <a:solidFill>
            <a:srgbClr val="9AACBE"/>
          </a:solidFill>
          <a:ln>
            <a:noFill/>
          </a:ln>
        </p:spPr>
        <p:txBody>
          <a:bodyPr/>
          <a:lstStyle/>
          <a:p>
            <a:endParaRPr/>
          </a:p>
        </p:txBody>
      </p:sp>
      <p:sp>
        <p:nvSpPr>
          <p:cNvPr id="470" name="LegHeader"/>
          <p:cNvSpPr/>
          <p:nvPr/>
        </p:nvSpPr>
        <p:spPr>
          <a:xfrm>
            <a:off x="7620000" y="4546600"/>
            <a:ext cx="2286000" cy="203200"/>
          </a:xfrm>
          <a:prstGeom prst="rect">
            <a:avLst/>
          </a:prstGeom>
          <a:noFill/>
          <a:ln>
            <a:noFill/>
          </a:ln>
        </p:spPr>
        <p:txBody>
          <a:bodyPr wrap="square" rtlCol="0" anchor="ctr"/>
          <a:lstStyle/>
          <a:p>
            <a:pPr marL="0" indent="0" algn="l">
              <a:buNone/>
            </a:pPr>
            <a:r>
              <a:rPr lang="en-US" sz="1000" b="1" dirty="0">
                <a:solidFill>
                  <a:srgbClr val="334860"/>
                </a:solidFill>
                <a:latin typeface="Calibri" pitchFamily="34" charset="0"/>
              </a:rPr>
              <a:t>LEGEND</a:t>
            </a:r>
          </a:p>
        </p:txBody>
      </p:sp>
      <p:sp>
        <p:nvSpPr>
          <p:cNvPr id="471" name="LegGreen"/>
          <p:cNvSpPr/>
          <p:nvPr/>
        </p:nvSpPr>
        <p:spPr>
          <a:xfrm>
            <a:off x="7620000" y="4775200"/>
            <a:ext cx="177800" cy="177800"/>
          </a:xfrm>
          <a:prstGeom prst="rect">
            <a:avLst/>
          </a:prstGeom>
          <a:solidFill>
            <a:srgbClr val="E8F5EE"/>
          </a:solidFill>
          <a:ln w="12700">
            <a:solidFill>
              <a:srgbClr val="2E8A5A"/>
            </a:solidFill>
          </a:ln>
        </p:spPr>
        <p:txBody>
          <a:bodyPr/>
          <a:lstStyle/>
          <a:p>
            <a:endParaRPr/>
          </a:p>
        </p:txBody>
      </p:sp>
      <p:sp>
        <p:nvSpPr>
          <p:cNvPr id="472" name="LegGreenTxt"/>
          <p:cNvSpPr/>
          <p:nvPr/>
        </p:nvSpPr>
        <p:spPr>
          <a:xfrm>
            <a:off x="7848600" y="4749800"/>
            <a:ext cx="2032000" cy="203200"/>
          </a:xfrm>
          <a:prstGeom prst="rect">
            <a:avLst/>
          </a:prstGeom>
          <a:noFill/>
          <a:ln>
            <a:noFill/>
          </a:ln>
        </p:spPr>
        <p:txBody>
          <a:bodyPr wrap="square" rtlCol="0" anchor="ctr"/>
          <a:lstStyle/>
          <a:p>
            <a:pPr marL="0" indent="0" algn="l">
              <a:buNone/>
            </a:pPr>
            <a:r>
              <a:rPr lang="en-US" sz="1000" dirty="0">
                <a:solidFill>
                  <a:srgbClr val="334860"/>
                </a:solidFill>
                <a:latin typeface="Calibri" pitchFamily="34" charset="0"/>
              </a:rPr>
              <a:t>Implemented</a:t>
            </a:r>
          </a:p>
        </p:txBody>
      </p:sp>
      <p:sp>
        <p:nvSpPr>
          <p:cNvPr id="473" name="LegBlue"/>
          <p:cNvSpPr/>
          <p:nvPr/>
        </p:nvSpPr>
        <p:spPr>
          <a:xfrm>
            <a:off x="7620000" y="5003800"/>
            <a:ext cx="177800" cy="177800"/>
          </a:xfrm>
          <a:prstGeom prst="rect">
            <a:avLst/>
          </a:prstGeom>
          <a:solidFill>
            <a:srgbClr val="E8F0FA"/>
          </a:solidFill>
          <a:ln w="12700">
            <a:solidFill>
              <a:srgbClr val="2563A8"/>
            </a:solidFill>
          </a:ln>
        </p:spPr>
        <p:txBody>
          <a:bodyPr/>
          <a:lstStyle/>
          <a:p>
            <a:endParaRPr/>
          </a:p>
        </p:txBody>
      </p:sp>
      <p:sp>
        <p:nvSpPr>
          <p:cNvPr id="474" name="LegBlueTxt"/>
          <p:cNvSpPr/>
          <p:nvPr/>
        </p:nvSpPr>
        <p:spPr>
          <a:xfrm>
            <a:off x="7848600" y="4978400"/>
            <a:ext cx="2032000" cy="203200"/>
          </a:xfrm>
          <a:prstGeom prst="rect">
            <a:avLst/>
          </a:prstGeom>
          <a:noFill/>
          <a:ln>
            <a:noFill/>
          </a:ln>
        </p:spPr>
        <p:txBody>
          <a:bodyPr wrap="square" rtlCol="0" anchor="ctr"/>
          <a:lstStyle/>
          <a:p>
            <a:pPr marL="0" indent="0" algn="l">
              <a:buNone/>
            </a:pPr>
            <a:r>
              <a:rPr lang="en-US" sz="1000" dirty="0">
                <a:solidFill>
                  <a:srgbClr val="334860"/>
                </a:solidFill>
                <a:latin typeface="Calibri" pitchFamily="34" charset="0"/>
              </a:rPr>
              <a:t>In Progress</a:t>
            </a:r>
          </a:p>
        </p:txBody>
      </p:sp>
      <p:sp>
        <p:nvSpPr>
          <p:cNvPr id="475" name="LegGrey"/>
          <p:cNvSpPr/>
          <p:nvPr/>
        </p:nvSpPr>
        <p:spPr>
          <a:xfrm>
            <a:off x="7620000" y="5232400"/>
            <a:ext cx="177800" cy="177800"/>
          </a:xfrm>
          <a:prstGeom prst="rect">
            <a:avLst/>
          </a:prstGeom>
          <a:noFill/>
          <a:ln w="19050">
            <a:solidFill>
              <a:srgbClr val="8A96A8"/>
            </a:solidFill>
            <a:prstDash val="dash"/>
          </a:ln>
        </p:spPr>
        <p:txBody>
          <a:bodyPr/>
          <a:lstStyle/>
          <a:p>
            <a:endParaRPr/>
          </a:p>
        </p:txBody>
      </p:sp>
      <p:sp>
        <p:nvSpPr>
          <p:cNvPr id="476" name="LegGreyTxt"/>
          <p:cNvSpPr/>
          <p:nvPr/>
        </p:nvSpPr>
        <p:spPr>
          <a:xfrm>
            <a:off x="7848600" y="5207000"/>
            <a:ext cx="2159000" cy="203200"/>
          </a:xfrm>
          <a:prstGeom prst="rect">
            <a:avLst/>
          </a:prstGeom>
          <a:noFill/>
          <a:ln>
            <a:noFill/>
          </a:ln>
        </p:spPr>
        <p:txBody>
          <a:bodyPr wrap="square" rtlCol="0" anchor="ctr"/>
          <a:lstStyle/>
          <a:p>
            <a:pPr marL="0" indent="0" algn="l">
              <a:buNone/>
            </a:pPr>
            <a:r>
              <a:rPr lang="en-US" sz="1000" dirty="0">
                <a:solidFill>
                  <a:srgbClr val="334860"/>
                </a:solidFill>
                <a:latin typeface="Calibri" pitchFamily="34" charset="0"/>
              </a:rPr>
              <a:t>Planned Future Work</a:t>
            </a:r>
          </a:p>
        </p:txBody>
      </p:sp>
      <p:sp>
        <p:nvSpPr>
          <p:cNvPr id="480" name="SepLine"/>
          <p:cNvSpPr/>
          <p:nvPr/>
        </p:nvSpPr>
        <p:spPr>
          <a:xfrm>
            <a:off x="558800" y="5511800"/>
            <a:ext cx="11049000" cy="12700"/>
          </a:xfrm>
          <a:prstGeom prst="rect">
            <a:avLst/>
          </a:prstGeom>
          <a:solidFill>
            <a:srgbClr val="DDE5EF"/>
          </a:solidFill>
          <a:ln>
            <a:noFill/>
          </a:ln>
        </p:spPr>
        <p:txBody>
          <a:bodyPr/>
          <a:lstStyle/>
          <a:p>
            <a:endParaRPr/>
          </a:p>
        </p:txBody>
      </p:sp>
      <p:sp>
        <p:nvSpPr>
          <p:cNvPr id="481" name="StatHead"/>
          <p:cNvSpPr/>
          <p:nvPr/>
        </p:nvSpPr>
        <p:spPr>
          <a:xfrm>
            <a:off x="558800" y="5588000"/>
            <a:ext cx="4318000" cy="203200"/>
          </a:xfrm>
          <a:prstGeom prst="rect">
            <a:avLst/>
          </a:prstGeom>
          <a:noFill/>
          <a:ln>
            <a:noFill/>
          </a:ln>
        </p:spPr>
        <p:txBody>
          <a:bodyPr wrap="square" rtlCol="0" anchor="ctr"/>
          <a:lstStyle/>
          <a:p>
            <a:pPr marL="0" indent="0" algn="l">
              <a:buNone/>
            </a:pPr>
            <a:r>
              <a:rPr lang="en-US" sz="1150" b="1" dirty="0">
                <a:solidFill>
                  <a:srgbClr val="16223A"/>
                </a:solidFill>
                <a:latin typeface="Calibri" pitchFamily="34" charset="0"/>
              </a:rPr>
              <a:t>Current Implementation Status</a:t>
            </a:r>
          </a:p>
        </p:txBody>
      </p:sp>
      <p:sp>
        <p:nvSpPr>
          <p:cNvPr id="490" name="Dot0"/>
          <p:cNvSpPr/>
          <p:nvPr/>
        </p:nvSpPr>
        <p:spPr>
          <a:xfrm>
            <a:off x="558800" y="5892800"/>
            <a:ext cx="101600" cy="101600"/>
          </a:xfrm>
          <a:prstGeom prst="rect">
            <a:avLst/>
          </a:prstGeom>
          <a:solidFill>
            <a:srgbClr val="1A7A4A"/>
          </a:solidFill>
          <a:ln>
            <a:noFill/>
          </a:ln>
        </p:spPr>
        <p:txBody>
          <a:bodyPr/>
          <a:lstStyle/>
          <a:p>
            <a:endParaRPr/>
          </a:p>
        </p:txBody>
      </p:sp>
      <p:sp>
        <p:nvSpPr>
          <p:cNvPr id="491" name="StatItem0"/>
          <p:cNvSpPr/>
          <p:nvPr/>
        </p:nvSpPr>
        <p:spPr>
          <a:xfrm>
            <a:off x="698500" y="5842000"/>
            <a:ext cx="5080000" cy="203200"/>
          </a:xfrm>
          <a:prstGeom prst="rect">
            <a:avLst/>
          </a:prstGeom>
          <a:noFill/>
          <a:ln>
            <a:noFill/>
          </a:ln>
        </p:spPr>
        <p:txBody>
          <a:bodyPr wrap="square" rtlCol="0" anchor="ctr"/>
          <a:lstStyle/>
          <a:p>
            <a:pPr marL="0" indent="0" algn="l">
              <a:buNone/>
            </a:pPr>
            <a:r>
              <a:rPr lang="en-US" sz="1100" dirty="0">
                <a:solidFill>
                  <a:srgbClr val="1A7A4A"/>
                </a:solidFill>
                <a:latin typeface="Calibri" pitchFamily="34" charset="0"/>
              </a:rPr>
              <a:t>Raspberry Pi 5 configured and tested</a:t>
            </a:r>
          </a:p>
        </p:txBody>
      </p:sp>
      <p:sp>
        <p:nvSpPr>
          <p:cNvPr id="494" name="Dot1"/>
          <p:cNvSpPr/>
          <p:nvPr/>
        </p:nvSpPr>
        <p:spPr>
          <a:xfrm>
            <a:off x="558800" y="6146800"/>
            <a:ext cx="101600" cy="101600"/>
          </a:xfrm>
          <a:prstGeom prst="rect">
            <a:avLst/>
          </a:prstGeom>
          <a:solidFill>
            <a:srgbClr val="1A7A4A"/>
          </a:solidFill>
          <a:ln>
            <a:noFill/>
          </a:ln>
        </p:spPr>
        <p:txBody>
          <a:bodyPr/>
          <a:lstStyle/>
          <a:p>
            <a:endParaRPr/>
          </a:p>
        </p:txBody>
      </p:sp>
      <p:sp>
        <p:nvSpPr>
          <p:cNvPr id="495" name="StatItem1"/>
          <p:cNvSpPr/>
          <p:nvPr/>
        </p:nvSpPr>
        <p:spPr>
          <a:xfrm>
            <a:off x="698500" y="6096000"/>
            <a:ext cx="5080000" cy="203200"/>
          </a:xfrm>
          <a:prstGeom prst="rect">
            <a:avLst/>
          </a:prstGeom>
          <a:noFill/>
          <a:ln>
            <a:noFill/>
          </a:ln>
        </p:spPr>
        <p:txBody>
          <a:bodyPr wrap="square" rtlCol="0" anchor="ctr"/>
          <a:lstStyle/>
          <a:p>
            <a:pPr marL="0" indent="0" algn="l">
              <a:buNone/>
            </a:pPr>
            <a:r>
              <a:rPr lang="en-US" sz="1100" dirty="0">
                <a:solidFill>
                  <a:srgbClr val="1A7A4A"/>
                </a:solidFill>
                <a:latin typeface="Calibri" pitchFamily="34" charset="0"/>
              </a:rPr>
              <a:t>Communication architecture defined</a:t>
            </a:r>
          </a:p>
        </p:txBody>
      </p:sp>
      <p:sp>
        <p:nvSpPr>
          <p:cNvPr id="498" name="Dot2_0"/>
          <p:cNvSpPr/>
          <p:nvPr/>
        </p:nvSpPr>
        <p:spPr>
          <a:xfrm>
            <a:off x="6223000" y="5892800"/>
            <a:ext cx="101600" cy="101600"/>
          </a:xfrm>
          <a:prstGeom prst="rect">
            <a:avLst/>
          </a:prstGeom>
          <a:solidFill>
            <a:srgbClr val="1A5C8A"/>
          </a:solidFill>
          <a:ln>
            <a:noFill/>
          </a:ln>
        </p:spPr>
        <p:txBody>
          <a:bodyPr/>
          <a:lstStyle/>
          <a:p>
            <a:endParaRPr/>
          </a:p>
        </p:txBody>
      </p:sp>
      <p:sp>
        <p:nvSpPr>
          <p:cNvPr id="499" name="StatItem2_0"/>
          <p:cNvSpPr/>
          <p:nvPr/>
        </p:nvSpPr>
        <p:spPr>
          <a:xfrm>
            <a:off x="6375400" y="5842000"/>
            <a:ext cx="5334000" cy="203200"/>
          </a:xfrm>
          <a:prstGeom prst="rect">
            <a:avLst/>
          </a:prstGeom>
          <a:noFill/>
          <a:ln>
            <a:noFill/>
          </a:ln>
        </p:spPr>
        <p:txBody>
          <a:bodyPr wrap="square" rtlCol="0" anchor="ctr"/>
          <a:lstStyle/>
          <a:p>
            <a:pPr marL="0" indent="0" algn="l">
              <a:buNone/>
            </a:pPr>
            <a:r>
              <a:rPr lang="en-US" sz="1100" dirty="0">
                <a:solidFill>
                  <a:srgbClr val="1A5C8A"/>
                </a:solidFill>
                <a:latin typeface="Calibri" pitchFamily="34" charset="0"/>
              </a:rPr>
              <a:t>Mechanical segments fabricated</a:t>
            </a:r>
          </a:p>
        </p:txBody>
      </p:sp>
      <p:sp>
        <p:nvSpPr>
          <p:cNvPr id="502" name="Dot2_1"/>
          <p:cNvSpPr/>
          <p:nvPr/>
        </p:nvSpPr>
        <p:spPr>
          <a:xfrm>
            <a:off x="6223000" y="6146800"/>
            <a:ext cx="101600" cy="101600"/>
          </a:xfrm>
          <a:prstGeom prst="rect">
            <a:avLst/>
          </a:prstGeom>
          <a:solidFill>
            <a:srgbClr val="1A5C8A"/>
          </a:solidFill>
          <a:ln>
            <a:noFill/>
          </a:ln>
        </p:spPr>
        <p:txBody>
          <a:bodyPr/>
          <a:lstStyle/>
          <a:p>
            <a:endParaRPr/>
          </a:p>
        </p:txBody>
      </p:sp>
      <p:sp>
        <p:nvSpPr>
          <p:cNvPr id="503" name="StatItem2_1"/>
          <p:cNvSpPr/>
          <p:nvPr/>
        </p:nvSpPr>
        <p:spPr>
          <a:xfrm>
            <a:off x="6375400" y="6096000"/>
            <a:ext cx="5334000" cy="203200"/>
          </a:xfrm>
          <a:prstGeom prst="rect">
            <a:avLst/>
          </a:prstGeom>
          <a:noFill/>
          <a:ln>
            <a:noFill/>
          </a:ln>
        </p:spPr>
        <p:txBody>
          <a:bodyPr wrap="square" rtlCol="0" anchor="ctr"/>
          <a:lstStyle/>
          <a:p>
            <a:pPr marL="0" indent="0" algn="l">
              <a:buNone/>
            </a:pPr>
            <a:r>
              <a:rPr lang="en-US" sz="1100" dirty="0">
                <a:solidFill>
                  <a:srgbClr val="1A5C8A"/>
                </a:solidFill>
                <a:latin typeface="Calibri" pitchFamily="34" charset="0"/>
              </a:rPr>
              <a:t>Dynamixel integration pending hardware</a:t>
            </a:r>
          </a:p>
        </p:txBody>
      </p:sp>
      <p:sp>
        <p:nvSpPr>
          <p:cNvPr id="2" name="Text 0"/>
          <p:cNvSpPr/>
          <p:nvPr/>
        </p:nvSpPr>
        <p:spPr>
          <a:xfrm>
            <a:off x="533400" y="127000"/>
            <a:ext cx="6350000" cy="177800"/>
          </a:xfrm>
          <a:prstGeom prst="rect">
            <a:avLst/>
          </a:prstGeom>
          <a:noFill/>
          <a:ln/>
        </p:spPr>
        <p:txBody>
          <a:bodyPr wrap="square" lIns="0" tIns="0" rIns="0" bIns="0" rtlCol="0" anchor="ctr"/>
          <a:lstStyle/>
          <a:p>
            <a:pPr marL="0" indent="0">
              <a:buNone/>
            </a:pPr>
            <a:r>
              <a:rPr lang="en-US" sz="1200" b="1" kern="0" spc="300" dirty="0">
                <a:solidFill>
                  <a:srgbClr val="0E96AC"/>
                </a:solidFill>
                <a:latin typeface="Calibri" pitchFamily="34" charset="0"/>
                <a:ea typeface="Calibri" pitchFamily="34" charset="-122"/>
                <a:cs typeface="Calibri" pitchFamily="34" charset="-120"/>
              </a:rPr>
              <a:t>SYSTEM ARCHITECTURE</a:t>
            </a:r>
            <a:endParaRPr lang="en-US" sz="1200" dirty="0"/>
          </a:p>
        </p:txBody>
      </p:sp>
      <p:sp>
        <p:nvSpPr>
          <p:cNvPr id="3" name="Text 1"/>
          <p:cNvSpPr/>
          <p:nvPr/>
        </p:nvSpPr>
        <p:spPr>
          <a:xfrm>
            <a:off x="533400" y="330200"/>
            <a:ext cx="6858000" cy="457200"/>
          </a:xfrm>
          <a:prstGeom prst="rect">
            <a:avLst/>
          </a:prstGeom>
          <a:noFill/>
          <a:ln/>
        </p:spPr>
        <p:txBody>
          <a:bodyPr wrap="square" lIns="0" tIns="0" rIns="0" bIns="0" rtlCol="0" anchor="ctr"/>
          <a:lstStyle/>
          <a:p>
            <a:pPr marL="0" indent="0">
              <a:buNone/>
            </a:pPr>
            <a:r>
              <a:rPr lang="en-US" sz="2600" b="1" dirty="0">
                <a:solidFill>
                  <a:srgbClr val="16223A"/>
                </a:solidFill>
                <a:latin typeface="Calibri" pitchFamily="34" charset="0"/>
                <a:ea typeface="Calibri" pitchFamily="34" charset="-122"/>
                <a:cs typeface="Calibri" pitchFamily="34" charset="-120"/>
              </a:rPr>
              <a:t>Conceptual Block Diagram</a:t>
            </a:r>
            <a:endParaRPr lang="en-US" sz="2600" dirty="0"/>
          </a:p>
        </p:txBody>
      </p:sp>
      <p:sp>
        <p:nvSpPr>
          <p:cNvPr id="10" name="Text 8"/>
          <p:cNvSpPr/>
          <p:nvPr/>
        </p:nvSpPr>
        <p:spPr>
          <a:xfrm>
            <a:off x="533400" y="812800"/>
            <a:ext cx="8128000" cy="203200"/>
          </a:xfrm>
          <a:prstGeom prst="rect">
            <a:avLst/>
          </a:prstGeom>
          <a:noFill/>
          <a:ln/>
        </p:spPr>
        <p:txBody>
          <a:bodyPr wrap="square" lIns="0" tIns="0" rIns="0" bIns="0" rtlCol="0" anchor="ctr"/>
          <a:lstStyle/>
          <a:p>
            <a:pPr marL="0" indent="0">
              <a:buNone/>
            </a:pPr>
            <a:r>
              <a:rPr lang="en-US" sz="1150" b="1" dirty="0">
                <a:solidFill>
                  <a:srgbClr val="12A678"/>
                </a:solidFill>
                <a:latin typeface="Calibri" pitchFamily="34" charset="0"/>
                <a:ea typeface="Calibri" pitchFamily="34" charset="-122"/>
                <a:cs typeface="Calibri" pitchFamily="34" charset="-120"/>
              </a:rPr>
              <a:t>Architecture finalized</a:t>
            </a:r>
            <a:r>
              <a:rPr lang="en-US" sz="1150" dirty="0">
                <a:solidFill>
                  <a:srgbClr val="E2E8F0"/>
                </a:solidFill>
                <a:latin typeface="Calibri" pitchFamily="34" charset="0"/>
                <a:ea typeface="Calibri" pitchFamily="34" charset="-122"/>
                <a:cs typeface="Calibri" pitchFamily="34" charset="-120"/>
              </a:rPr>
              <a:t>    ·    </a:t>
            </a:r>
            <a:r>
              <a:rPr lang="en-US" sz="1150" b="1" dirty="0">
                <a:solidFill>
                  <a:srgbClr val="E08A1E"/>
                </a:solidFill>
                <a:latin typeface="Calibri" pitchFamily="34" charset="0"/>
                <a:ea typeface="Calibri" pitchFamily="34" charset="-122"/>
                <a:cs typeface="Calibri" pitchFamily="34" charset="-120"/>
              </a:rPr>
              <a:t>Implementation in progress</a:t>
            </a:r>
            <a:endParaRPr lang="en-US" sz="1150" dirty="0"/>
          </a:p>
        </p:txBody>
      </p:sp>
      <p:sp>
        <p:nvSpPr>
          <p:cNvPr id="450" name="FutHeader"/>
          <p:cNvSpPr/>
          <p:nvPr/>
        </p:nvSpPr>
        <p:spPr>
          <a:xfrm>
            <a:off x="7620000" y="1117600"/>
            <a:ext cx="2362200" cy="177800"/>
          </a:xfrm>
          <a:prstGeom prst="rect">
            <a:avLst/>
          </a:prstGeom>
          <a:noFill/>
          <a:ln>
            <a:noFill/>
          </a:ln>
        </p:spPr>
        <p:txBody>
          <a:bodyPr wrap="square" rtlCol="0" anchor="ctr"/>
          <a:lstStyle/>
          <a:p>
            <a:pPr marL="0" indent="0" algn="l">
              <a:buNone/>
            </a:pPr>
            <a:r>
              <a:rPr lang="en-US" sz="900" b="1" dirty="0">
                <a:solidFill>
                  <a:srgbClr val="9A6520"/>
                </a:solidFill>
                <a:latin typeface="Calibri" pitchFamily="34" charset="0"/>
              </a:rPr>
              <a:t>FUTURE INTEGRATION</a:t>
            </a:r>
          </a:p>
        </p:txBody>
      </p:sp>
      <p:sp>
        <p:nvSpPr>
          <p:cNvPr id="600" name="AccentLine"/>
          <p:cNvSpPr/>
          <p:nvPr/>
        </p:nvSpPr>
        <p:spPr>
          <a:xfrm>
            <a:off x="533400" y="304800"/>
            <a:ext cx="11074400" cy="12700"/>
          </a:xfrm>
          <a:prstGeom prst="rect">
            <a:avLst/>
          </a:prstGeom>
          <a:solidFill>
            <a:srgbClr val="0E96AC"/>
          </a:solidFill>
          <a:ln>
            <a:noFill/>
          </a:ln>
        </p:spPr>
        <p:txBody>
          <a:bodyPr/>
          <a:lstStyle/>
          <a:p>
            <a:endParaRPr/>
          </a:p>
        </p:txBody>
      </p:sp>
    </p:spTree>
    <p:extLst>
      <p:ext uri="{BB962C8B-B14F-4D97-AF65-F5344CB8AC3E}">
        <p14:creationId xmlns:p14="http://schemas.microsoft.com/office/powerpoint/2010/main" val="34145846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lIns="0" tIns="0" rIns="0" bIns="0" rtlCol="0" anchor="ctr"/>
          <a:lstStyle/>
          <a:p>
            <a:pPr marL="0" indent="0">
              <a:buNone/>
            </a:pPr>
            <a:r>
              <a:rPr lang="en-US" sz="1200" b="1" kern="0" spc="300" dirty="0">
                <a:solidFill>
                  <a:srgbClr val="0E96AC"/>
                </a:solidFill>
                <a:latin typeface="Calibri" pitchFamily="34" charset="0"/>
                <a:ea typeface="Calibri" pitchFamily="34" charset="-122"/>
                <a:cs typeface="Calibri" pitchFamily="34" charset="-120"/>
              </a:rPr>
              <a:t>CAD DESIGN DEVELOPMENT</a:t>
            </a:r>
            <a:endParaRPr lang="en-US" sz="1200" dirty="0"/>
          </a:p>
        </p:txBody>
      </p:sp>
      <p:sp>
        <p:nvSpPr>
          <p:cNvPr id="3" name="Text 1"/>
          <p:cNvSpPr/>
          <p:nvPr/>
        </p:nvSpPr>
        <p:spPr>
          <a:xfrm>
            <a:off x="530352" y="640080"/>
            <a:ext cx="9509760" cy="640080"/>
          </a:xfrm>
          <a:prstGeom prst="rect">
            <a:avLst/>
          </a:prstGeom>
          <a:noFill/>
          <a:ln/>
        </p:spPr>
        <p:txBody>
          <a:bodyPr wrap="square" lIns="0" tIns="0" rIns="0" bIns="0" rtlCol="0" anchor="ctr"/>
          <a:lstStyle/>
          <a:p>
            <a:pPr marL="0" indent="0">
              <a:buNone/>
            </a:pPr>
            <a:r>
              <a:rPr lang="en-US" sz="3000" b="1" dirty="0">
                <a:solidFill>
                  <a:srgbClr val="16223A"/>
                </a:solidFill>
                <a:latin typeface="Calibri" pitchFamily="34" charset="0"/>
                <a:ea typeface="Calibri" pitchFamily="34" charset="-122"/>
                <a:cs typeface="Calibri" pitchFamily="34" charset="-120"/>
              </a:rPr>
              <a:t>A Segment Designed Around the Motor</a:t>
            </a:r>
            <a:endParaRPr lang="en-US" sz="3000" dirty="0"/>
          </a:p>
        </p:txBody>
      </p:sp>
      <p:sp>
        <p:nvSpPr>
          <p:cNvPr id="10" name="Text 8"/>
          <p:cNvSpPr/>
          <p:nvPr/>
        </p:nvSpPr>
        <p:spPr>
          <a:xfrm>
            <a:off x="548640" y="1600200"/>
            <a:ext cx="4709160" cy="914400"/>
          </a:xfrm>
          <a:prstGeom prst="rect">
            <a:avLst/>
          </a:prstGeom>
          <a:noFill/>
          <a:ln/>
        </p:spPr>
        <p:txBody>
          <a:bodyPr wrap="square" lIns="0" tIns="0" rIns="0" bIns="0" rtlCol="0" anchor="t"/>
          <a:lstStyle/>
          <a:p>
            <a:pPr marL="0" indent="0">
              <a:lnSpc>
                <a:spcPct val="112000"/>
              </a:lnSpc>
              <a:buNone/>
            </a:pPr>
            <a:r>
              <a:rPr lang="en-US" sz="1350" dirty="0">
                <a:solidFill>
                  <a:srgbClr val="3A4658"/>
                </a:solidFill>
                <a:latin typeface="Calibri" pitchFamily="34" charset="0"/>
                <a:ea typeface="Calibri" pitchFamily="34" charset="-122"/>
                <a:cs typeface="Calibri" pitchFamily="34" charset="-120"/>
              </a:rPr>
              <a:t>The CAD model is built to the exact dimensions of the Dynamixel XL330-M288 servo, using a modular, segment-based architecture focused on manufacturability and scalability.</a:t>
            </a:r>
            <a:endParaRPr lang="en-US" sz="1350" dirty="0"/>
          </a:p>
        </p:txBody>
      </p:sp>
      <p:sp>
        <p:nvSpPr>
          <p:cNvPr id="11" name="Text 9"/>
          <p:cNvSpPr/>
          <p:nvPr/>
        </p:nvSpPr>
        <p:spPr>
          <a:xfrm>
            <a:off x="548640" y="2724912"/>
            <a:ext cx="4572000" cy="274320"/>
          </a:xfrm>
          <a:prstGeom prst="rect">
            <a:avLst/>
          </a:prstGeom>
          <a:noFill/>
          <a:ln/>
        </p:spPr>
        <p:txBody>
          <a:bodyPr wrap="square" lIns="0" tIns="0" rIns="0" bIns="0" rtlCol="0" anchor="ctr"/>
          <a:lstStyle/>
          <a:p>
            <a:pPr marL="0" indent="0">
              <a:buNone/>
            </a:pPr>
            <a:r>
              <a:rPr lang="en-US" sz="1200" b="1" kern="0" spc="200" dirty="0">
                <a:solidFill>
                  <a:srgbClr val="6B7890"/>
                </a:solidFill>
                <a:latin typeface="Calibri" pitchFamily="34" charset="0"/>
                <a:ea typeface="Calibri" pitchFamily="34" charset="-122"/>
                <a:cs typeface="Calibri" pitchFamily="34" charset="-120"/>
              </a:rPr>
              <a:t>DESIGN CONSIDERATIONS</a:t>
            </a:r>
            <a:endParaRPr lang="en-US" sz="1200" dirty="0"/>
          </a:p>
        </p:txBody>
      </p:sp>
      <p:sp>
        <p:nvSpPr>
          <p:cNvPr id="12" name="Shape 10"/>
          <p:cNvSpPr/>
          <p:nvPr/>
        </p:nvSpPr>
        <p:spPr>
          <a:xfrm>
            <a:off x="548640" y="3127248"/>
            <a:ext cx="4709160" cy="640080"/>
          </a:xfrm>
          <a:prstGeom prst="roundRect">
            <a:avLst>
              <a:gd name="adj" fmla="val 10000"/>
            </a:avLst>
          </a:prstGeom>
          <a:solidFill>
            <a:srgbClr val="FFFFFF"/>
          </a:solidFill>
          <a:ln w="12700">
            <a:solidFill>
              <a:srgbClr val="E2E8F0"/>
            </a:solidFill>
            <a:prstDash val="solid"/>
          </a:ln>
        </p:spPr>
        <p:txBody>
          <a:bodyPr/>
          <a:lstStyle/>
          <a:p>
            <a:endParaRPr lang="en-IN"/>
          </a:p>
        </p:txBody>
      </p:sp>
      <p:sp>
        <p:nvSpPr>
          <p:cNvPr id="13" name="Shape 11"/>
          <p:cNvSpPr/>
          <p:nvPr/>
        </p:nvSpPr>
        <p:spPr>
          <a:xfrm>
            <a:off x="694944" y="3246120"/>
            <a:ext cx="402336" cy="402336"/>
          </a:xfrm>
          <a:prstGeom prst="ellipse">
            <a:avLst/>
          </a:prstGeom>
          <a:solidFill>
            <a:srgbClr val="0E96AC"/>
          </a:solidFill>
          <a:ln/>
        </p:spPr>
        <p:txBody>
          <a:bodyPr/>
          <a:lstStyle/>
          <a:p>
            <a:endParaRPr lang="en-IN"/>
          </a:p>
        </p:txBody>
      </p:sp>
      <p:pic>
        <p:nvPicPr>
          <p:cNvPr id="14" name="Image 0" descr="preencoded.png"/>
          <p:cNvPicPr>
            <a:picLocks noChangeAspect="1"/>
          </p:cNvPicPr>
          <p:nvPr/>
        </p:nvPicPr>
        <p:blipFill>
          <a:blip r:embed="rId3"/>
          <a:stretch>
            <a:fillRect/>
          </a:stretch>
        </p:blipFill>
        <p:spPr>
          <a:xfrm>
            <a:off x="791505" y="3342681"/>
            <a:ext cx="209215" cy="209215"/>
          </a:xfrm>
          <a:prstGeom prst="rect">
            <a:avLst/>
          </a:prstGeom>
        </p:spPr>
      </p:pic>
      <p:sp>
        <p:nvSpPr>
          <p:cNvPr id="15" name="Text 12"/>
          <p:cNvSpPr/>
          <p:nvPr/>
        </p:nvSpPr>
        <p:spPr>
          <a:xfrm>
            <a:off x="1225296" y="3127248"/>
            <a:ext cx="3931920" cy="640080"/>
          </a:xfrm>
          <a:prstGeom prst="rect">
            <a:avLst/>
          </a:prstGeom>
          <a:noFill/>
          <a:ln/>
        </p:spPr>
        <p:txBody>
          <a:bodyPr wrap="square" lIns="0" tIns="0" rIns="0" bIns="0" rtlCol="0" anchor="ctr"/>
          <a:lstStyle/>
          <a:p>
            <a:pPr marL="0" indent="0">
              <a:buNone/>
            </a:pPr>
            <a:r>
              <a:rPr lang="en-US" sz="1150" b="1" dirty="0">
                <a:solidFill>
                  <a:srgbClr val="16223A"/>
                </a:solidFill>
                <a:latin typeface="Calibri" pitchFamily="34" charset="0"/>
                <a:ea typeface="Calibri" pitchFamily="34" charset="-122"/>
                <a:cs typeface="Calibri" pitchFamily="34" charset="-120"/>
              </a:rPr>
              <a:t>Motor mounting  </a:t>
            </a:r>
            <a:r>
              <a:rPr lang="en-US" sz="1150" dirty="0">
                <a:solidFill>
                  <a:srgbClr val="6B7890"/>
                </a:solidFill>
                <a:latin typeface="Calibri" pitchFamily="34" charset="0"/>
                <a:ea typeface="Calibri" pitchFamily="34" charset="-122"/>
                <a:cs typeface="Calibri" pitchFamily="34" charset="-120"/>
              </a:rPr>
              <a:t>— Precise seats for XL330 servo bodies.</a:t>
            </a:r>
            <a:endParaRPr lang="en-US" sz="1150" dirty="0"/>
          </a:p>
        </p:txBody>
      </p:sp>
      <p:sp>
        <p:nvSpPr>
          <p:cNvPr id="16" name="Shape 13"/>
          <p:cNvSpPr/>
          <p:nvPr/>
        </p:nvSpPr>
        <p:spPr>
          <a:xfrm>
            <a:off x="548640" y="3877056"/>
            <a:ext cx="4709160" cy="640080"/>
          </a:xfrm>
          <a:prstGeom prst="roundRect">
            <a:avLst>
              <a:gd name="adj" fmla="val 10000"/>
            </a:avLst>
          </a:prstGeom>
          <a:solidFill>
            <a:srgbClr val="FFFFFF"/>
          </a:solidFill>
          <a:ln w="12700">
            <a:solidFill>
              <a:srgbClr val="E2E8F0"/>
            </a:solidFill>
            <a:prstDash val="solid"/>
          </a:ln>
        </p:spPr>
        <p:txBody>
          <a:bodyPr/>
          <a:lstStyle/>
          <a:p>
            <a:endParaRPr lang="en-IN"/>
          </a:p>
        </p:txBody>
      </p:sp>
      <p:sp>
        <p:nvSpPr>
          <p:cNvPr id="17" name="Shape 14"/>
          <p:cNvSpPr/>
          <p:nvPr/>
        </p:nvSpPr>
        <p:spPr>
          <a:xfrm>
            <a:off x="694944" y="3995928"/>
            <a:ext cx="402336" cy="402336"/>
          </a:xfrm>
          <a:prstGeom prst="ellipse">
            <a:avLst/>
          </a:prstGeom>
          <a:solidFill>
            <a:srgbClr val="12A678"/>
          </a:solidFill>
          <a:ln/>
        </p:spPr>
        <p:txBody>
          <a:bodyPr/>
          <a:lstStyle/>
          <a:p>
            <a:endParaRPr lang="en-IN"/>
          </a:p>
        </p:txBody>
      </p:sp>
      <p:pic>
        <p:nvPicPr>
          <p:cNvPr id="18" name="Image 1" descr="preencoded.png"/>
          <p:cNvPicPr>
            <a:picLocks noChangeAspect="1"/>
          </p:cNvPicPr>
          <p:nvPr/>
        </p:nvPicPr>
        <p:blipFill>
          <a:blip r:embed="rId4"/>
          <a:stretch>
            <a:fillRect/>
          </a:stretch>
        </p:blipFill>
        <p:spPr>
          <a:xfrm>
            <a:off x="791505" y="4092489"/>
            <a:ext cx="209215" cy="209215"/>
          </a:xfrm>
          <a:prstGeom prst="rect">
            <a:avLst/>
          </a:prstGeom>
        </p:spPr>
      </p:pic>
      <p:sp>
        <p:nvSpPr>
          <p:cNvPr id="19" name="Text 15"/>
          <p:cNvSpPr/>
          <p:nvPr/>
        </p:nvSpPr>
        <p:spPr>
          <a:xfrm>
            <a:off x="1225296" y="3877056"/>
            <a:ext cx="3931920" cy="640080"/>
          </a:xfrm>
          <a:prstGeom prst="rect">
            <a:avLst/>
          </a:prstGeom>
          <a:noFill/>
          <a:ln/>
        </p:spPr>
        <p:txBody>
          <a:bodyPr wrap="square" lIns="0" tIns="0" rIns="0" bIns="0" rtlCol="0" anchor="ctr"/>
          <a:lstStyle/>
          <a:p>
            <a:pPr marL="0" indent="0">
              <a:buNone/>
            </a:pPr>
            <a:r>
              <a:rPr lang="en-US" sz="1150" b="1" dirty="0">
                <a:solidFill>
                  <a:srgbClr val="16223A"/>
                </a:solidFill>
                <a:latin typeface="Calibri" pitchFamily="34" charset="0"/>
                <a:ea typeface="Calibri" pitchFamily="34" charset="-122"/>
                <a:cs typeface="Calibri" pitchFamily="34" charset="-120"/>
              </a:rPr>
              <a:t>Structural rigidity  </a:t>
            </a:r>
            <a:r>
              <a:rPr lang="en-US" sz="1150" dirty="0">
                <a:solidFill>
                  <a:srgbClr val="6B7890"/>
                </a:solidFill>
                <a:latin typeface="Calibri" pitchFamily="34" charset="0"/>
                <a:ea typeface="Calibri" pitchFamily="34" charset="-122"/>
                <a:cs typeface="Calibri" pitchFamily="34" charset="-120"/>
              </a:rPr>
              <a:t>— Stiff frame to resist motion loads.</a:t>
            </a:r>
            <a:endParaRPr lang="en-US" sz="1150" dirty="0"/>
          </a:p>
        </p:txBody>
      </p:sp>
      <p:sp>
        <p:nvSpPr>
          <p:cNvPr id="20" name="Shape 16"/>
          <p:cNvSpPr/>
          <p:nvPr/>
        </p:nvSpPr>
        <p:spPr>
          <a:xfrm>
            <a:off x="548640" y="4626864"/>
            <a:ext cx="4709160" cy="640080"/>
          </a:xfrm>
          <a:prstGeom prst="roundRect">
            <a:avLst>
              <a:gd name="adj" fmla="val 10000"/>
            </a:avLst>
          </a:prstGeom>
          <a:solidFill>
            <a:srgbClr val="FFFFFF"/>
          </a:solidFill>
          <a:ln w="12700">
            <a:solidFill>
              <a:srgbClr val="E2E8F0"/>
            </a:solidFill>
            <a:prstDash val="solid"/>
          </a:ln>
        </p:spPr>
        <p:txBody>
          <a:bodyPr/>
          <a:lstStyle/>
          <a:p>
            <a:endParaRPr lang="en-IN"/>
          </a:p>
        </p:txBody>
      </p:sp>
      <p:sp>
        <p:nvSpPr>
          <p:cNvPr id="21" name="Shape 17"/>
          <p:cNvSpPr/>
          <p:nvPr/>
        </p:nvSpPr>
        <p:spPr>
          <a:xfrm>
            <a:off x="694944" y="4745736"/>
            <a:ext cx="402336" cy="402336"/>
          </a:xfrm>
          <a:prstGeom prst="ellipse">
            <a:avLst/>
          </a:prstGeom>
          <a:solidFill>
            <a:srgbClr val="E08A1E"/>
          </a:solidFill>
          <a:ln/>
        </p:spPr>
        <p:txBody>
          <a:bodyPr/>
          <a:lstStyle/>
          <a:p>
            <a:endParaRPr lang="en-IN"/>
          </a:p>
        </p:txBody>
      </p:sp>
      <p:pic>
        <p:nvPicPr>
          <p:cNvPr id="22" name="Image 2" descr="preencoded.png"/>
          <p:cNvPicPr>
            <a:picLocks noChangeAspect="1"/>
          </p:cNvPicPr>
          <p:nvPr/>
        </p:nvPicPr>
        <p:blipFill>
          <a:blip r:embed="rId5"/>
          <a:stretch>
            <a:fillRect/>
          </a:stretch>
        </p:blipFill>
        <p:spPr>
          <a:xfrm>
            <a:off x="791505" y="4842297"/>
            <a:ext cx="209215" cy="209215"/>
          </a:xfrm>
          <a:prstGeom prst="rect">
            <a:avLst/>
          </a:prstGeom>
        </p:spPr>
      </p:pic>
      <p:sp>
        <p:nvSpPr>
          <p:cNvPr id="23" name="Text 18"/>
          <p:cNvSpPr/>
          <p:nvPr/>
        </p:nvSpPr>
        <p:spPr>
          <a:xfrm>
            <a:off x="1225296" y="4626864"/>
            <a:ext cx="3931920" cy="640080"/>
          </a:xfrm>
          <a:prstGeom prst="rect">
            <a:avLst/>
          </a:prstGeom>
          <a:noFill/>
          <a:ln/>
        </p:spPr>
        <p:txBody>
          <a:bodyPr wrap="square" lIns="0" tIns="0" rIns="0" bIns="0" rtlCol="0" anchor="ctr"/>
          <a:lstStyle/>
          <a:p>
            <a:pPr marL="0" indent="0">
              <a:buNone/>
            </a:pPr>
            <a:r>
              <a:rPr lang="en-US" sz="1150" b="1" dirty="0">
                <a:solidFill>
                  <a:srgbClr val="16223A"/>
                </a:solidFill>
                <a:latin typeface="Calibri" pitchFamily="34" charset="0"/>
                <a:ea typeface="Calibri" pitchFamily="34" charset="-122"/>
                <a:cs typeface="Calibri" pitchFamily="34" charset="-120"/>
              </a:rPr>
              <a:t>Cable routing  </a:t>
            </a:r>
            <a:r>
              <a:rPr lang="en-US" sz="1150" dirty="0">
                <a:solidFill>
                  <a:srgbClr val="6B7890"/>
                </a:solidFill>
                <a:latin typeface="Calibri" pitchFamily="34" charset="0"/>
                <a:ea typeface="Calibri" pitchFamily="34" charset="-122"/>
                <a:cs typeface="Calibri" pitchFamily="34" charset="-120"/>
              </a:rPr>
              <a:t>— Clean daisy-chain channels for wiring.</a:t>
            </a:r>
            <a:endParaRPr lang="en-US" sz="1150" dirty="0"/>
          </a:p>
        </p:txBody>
      </p:sp>
      <p:sp>
        <p:nvSpPr>
          <p:cNvPr id="24" name="Shape 19"/>
          <p:cNvSpPr/>
          <p:nvPr/>
        </p:nvSpPr>
        <p:spPr>
          <a:xfrm>
            <a:off x="548640" y="5376672"/>
            <a:ext cx="4709160" cy="640080"/>
          </a:xfrm>
          <a:prstGeom prst="roundRect">
            <a:avLst>
              <a:gd name="adj" fmla="val 10000"/>
            </a:avLst>
          </a:prstGeom>
          <a:solidFill>
            <a:srgbClr val="FFFFFF"/>
          </a:solidFill>
          <a:ln w="12700">
            <a:solidFill>
              <a:srgbClr val="E2E8F0"/>
            </a:solidFill>
            <a:prstDash val="solid"/>
          </a:ln>
        </p:spPr>
        <p:txBody>
          <a:bodyPr/>
          <a:lstStyle/>
          <a:p>
            <a:endParaRPr lang="en-IN"/>
          </a:p>
        </p:txBody>
      </p:sp>
      <p:sp>
        <p:nvSpPr>
          <p:cNvPr id="25" name="Shape 20"/>
          <p:cNvSpPr/>
          <p:nvPr/>
        </p:nvSpPr>
        <p:spPr>
          <a:xfrm>
            <a:off x="694944" y="5495544"/>
            <a:ext cx="402336" cy="402336"/>
          </a:xfrm>
          <a:prstGeom prst="ellipse">
            <a:avLst/>
          </a:prstGeom>
          <a:solidFill>
            <a:srgbClr val="0E96AC"/>
          </a:solidFill>
          <a:ln/>
        </p:spPr>
        <p:txBody>
          <a:bodyPr/>
          <a:lstStyle/>
          <a:p>
            <a:endParaRPr lang="en-IN"/>
          </a:p>
        </p:txBody>
      </p:sp>
      <p:pic>
        <p:nvPicPr>
          <p:cNvPr id="26" name="Image 3" descr="preencoded.png"/>
          <p:cNvPicPr>
            <a:picLocks noChangeAspect="1"/>
          </p:cNvPicPr>
          <p:nvPr/>
        </p:nvPicPr>
        <p:blipFill>
          <a:blip r:embed="rId3"/>
          <a:stretch>
            <a:fillRect/>
          </a:stretch>
        </p:blipFill>
        <p:spPr>
          <a:xfrm>
            <a:off x="791505" y="5592105"/>
            <a:ext cx="209215" cy="209215"/>
          </a:xfrm>
          <a:prstGeom prst="rect">
            <a:avLst/>
          </a:prstGeom>
        </p:spPr>
      </p:pic>
      <p:sp>
        <p:nvSpPr>
          <p:cNvPr id="27" name="Text 21"/>
          <p:cNvSpPr/>
          <p:nvPr/>
        </p:nvSpPr>
        <p:spPr>
          <a:xfrm>
            <a:off x="1225296" y="5376672"/>
            <a:ext cx="3931920" cy="640080"/>
          </a:xfrm>
          <a:prstGeom prst="rect">
            <a:avLst/>
          </a:prstGeom>
          <a:noFill/>
          <a:ln/>
        </p:spPr>
        <p:txBody>
          <a:bodyPr wrap="square" lIns="0" tIns="0" rIns="0" bIns="0" rtlCol="0" anchor="ctr"/>
          <a:lstStyle/>
          <a:p>
            <a:pPr marL="0" indent="0">
              <a:buNone/>
            </a:pPr>
            <a:r>
              <a:rPr lang="en-US" sz="1150" b="1" dirty="0">
                <a:solidFill>
                  <a:srgbClr val="16223A"/>
                </a:solidFill>
                <a:latin typeface="Calibri" pitchFamily="34" charset="0"/>
                <a:ea typeface="Calibri" pitchFamily="34" charset="-122"/>
                <a:cs typeface="Calibri" pitchFamily="34" charset="-120"/>
              </a:rPr>
              <a:t>Electronics ready  </a:t>
            </a:r>
            <a:r>
              <a:rPr lang="en-US" sz="1150" dirty="0">
                <a:solidFill>
                  <a:srgbClr val="6B7890"/>
                </a:solidFill>
                <a:latin typeface="Calibri" pitchFamily="34" charset="0"/>
                <a:ea typeface="Calibri" pitchFamily="34" charset="-122"/>
                <a:cs typeface="Calibri" pitchFamily="34" charset="-120"/>
              </a:rPr>
              <a:t>— Space reserved for future boards.</a:t>
            </a:r>
            <a:endParaRPr lang="en-US" sz="1150" dirty="0"/>
          </a:p>
        </p:txBody>
      </p:sp>
      <p:sp>
        <p:nvSpPr>
          <p:cNvPr id="28" name="Shape 22"/>
          <p:cNvSpPr/>
          <p:nvPr/>
        </p:nvSpPr>
        <p:spPr>
          <a:xfrm>
            <a:off x="5651500" y="1714500"/>
            <a:ext cx="5842000" cy="4432300"/>
          </a:xfrm>
          <a:prstGeom prst="roundRect">
            <a:avLst>
              <a:gd name="adj" fmla="val 2041"/>
            </a:avLst>
          </a:prstGeom>
          <a:solidFill>
            <a:srgbClr val="ECF1F6"/>
          </a:solidFill>
          <a:ln w="19050">
            <a:solidFill>
              <a:srgbClr val="0E96AC"/>
            </a:solidFill>
            <a:prstDash val="dash"/>
          </a:ln>
        </p:spPr>
        <p:txBody>
          <a:bodyPr/>
          <a:lstStyle/>
          <a:p>
            <a:endParaRPr lang="en-IN"/>
          </a:p>
        </p:txBody>
      </p:sp>
      <p:sp>
        <p:nvSpPr>
          <p:cNvPr id="29" name="Shape 23"/>
          <p:cNvSpPr/>
          <p:nvPr/>
        </p:nvSpPr>
        <p:spPr>
          <a:xfrm>
            <a:off x="-1270000" y="-1270000"/>
            <a:ext cx="381000" cy="381000"/>
          </a:xfrm>
          <a:prstGeom prst="ellipse">
            <a:avLst/>
          </a:prstGeom>
          <a:solidFill>
            <a:srgbClr val="FFFFFF"/>
          </a:solidFill>
          <a:ln/>
        </p:spPr>
        <p:txBody>
          <a:bodyPr/>
          <a:lstStyle/>
          <a:p>
            <a:endParaRPr lang="en-IN"/>
          </a:p>
        </p:txBody>
      </p:sp>
      <p:pic>
        <p:nvPicPr>
          <p:cNvPr id="30" name="Image 4" descr="preencoded.png"/>
          <p:cNvPicPr>
            <a:picLocks noChangeAspect="1"/>
          </p:cNvPicPr>
          <p:nvPr/>
        </p:nvPicPr>
        <p:blipFill>
          <a:blip r:embed="rId6"/>
          <a:stretch>
            <a:fillRect/>
          </a:stretch>
        </p:blipFill>
        <p:spPr>
          <a:xfrm>
            <a:off x="-1270000" y="-1270000"/>
            <a:ext cx="434340" cy="434340"/>
          </a:xfrm>
          <a:prstGeom prst="rect">
            <a:avLst/>
          </a:prstGeom>
        </p:spPr>
      </p:pic>
      <p:sp>
        <p:nvSpPr>
          <p:cNvPr id="31" name="Text 24"/>
          <p:cNvSpPr/>
          <p:nvPr/>
        </p:nvSpPr>
        <p:spPr>
          <a:xfrm>
            <a:off x="5575300" y="-762000"/>
            <a:ext cx="6083300" cy="254000"/>
          </a:xfrm>
          <a:prstGeom prst="rect">
            <a:avLst/>
          </a:prstGeom>
          <a:noFill/>
          <a:ln/>
        </p:spPr>
        <p:txBody>
          <a:bodyPr wrap="square" lIns="0" tIns="0" rIns="0" bIns="0" rtlCol="0" anchor="ctr"/>
          <a:lstStyle/>
          <a:p>
            <a:pPr marL="0" indent="0" algn="ctr">
              <a:buNone/>
            </a:pPr>
            <a:r>
              <a:rPr lang="en-US" sz="1300" b="1" kern="0" spc="100" dirty="0">
                <a:solidFill>
                  <a:srgbClr val="0E96AC"/>
                </a:solidFill>
                <a:latin typeface="Calibri" pitchFamily="34" charset="0"/>
              </a:rPr>
              <a:t>ASSEMBLY FLOW</a:t>
            </a:r>
          </a:p>
        </p:txBody>
      </p:sp>
      <p:sp>
        <p:nvSpPr>
          <p:cNvPr id="32" name="Text 25"/>
          <p:cNvSpPr/>
          <p:nvPr/>
        </p:nvSpPr>
        <p:spPr>
          <a:xfrm>
            <a:off x="5651500" y="-635000"/>
            <a:ext cx="5842000" cy="203200"/>
          </a:xfrm>
          <a:prstGeom prst="rect">
            <a:avLst/>
          </a:prstGeom>
          <a:noFill/>
          <a:ln/>
        </p:spPr>
        <p:txBody>
          <a:bodyPr wrap="square" lIns="0" tIns="0" rIns="0" bIns="0" rtlCol="0" anchor="ctr"/>
          <a:lstStyle/>
          <a:p>
            <a:pPr marL="0" indent="0" algn="ctr">
              <a:lnSpc>
                <a:spcPct val="100000"/>
              </a:lnSpc>
              <a:buNone/>
            </a:pPr>
            <a:r>
              <a:rPr lang="en-US" sz="1000" i="1" dirty="0">
                <a:solidFill>
                  <a:srgbClr val="6B7890"/>
                </a:solidFill>
                <a:latin typeface="Calibri" pitchFamily="34" charset="0"/>
              </a:rPr>
              <a:t>Motor → Segment Parts → Full Chain Assembly</a:t>
            </a:r>
          </a:p>
        </p:txBody>
      </p:sp>
      <p:pic>
        <p:nvPicPr>
          <p:cNvPr id="34" name="Picture 33" descr="The image depicts a simple, sturdy, black, rectangular wooden shelving unit with a rectangular shelf in the middle.&#10;&#10;AI-generated content may be incorrect.">
            <a:extLst>
              <a:ext uri="{FF2B5EF4-FFF2-40B4-BE49-F238E27FC236}">
                <a16:creationId xmlns:a16="http://schemas.microsoft.com/office/drawing/2014/main" id="{43A6F9E7-B592-AE80-4ECD-3893A8BAB62C}"/>
              </a:ext>
            </a:extLst>
          </p:cNvPr>
          <p:cNvPicPr>
            <a:picLocks noChangeAspect="1"/>
          </p:cNvPicPr>
          <p:nvPr/>
        </p:nvPicPr>
        <p:blipFill>
          <a:blip r:embed="rId7"/>
          <a:stretch>
            <a:fillRect/>
          </a:stretch>
        </p:blipFill>
        <p:spPr>
          <a:xfrm>
            <a:off x="8128000" y="1714500"/>
            <a:ext cx="1651000" cy="1968500"/>
          </a:xfrm>
          <a:prstGeom prst="rect">
            <a:avLst/>
          </a:prstGeom>
        </p:spPr>
      </p:pic>
      <p:pic>
        <p:nvPicPr>
          <p:cNvPr id="36" name="Picture 35" descr="The image depicts a simple, grey, rectangular, flat-sided, metallic-looking panel or bracket, likely with some sort of mechanical attachment or mounting hardware visible, placed on a plain, light-colored background.&#10;&#10;AI-generated content may be incorrect.">
            <a:extLst>
              <a:ext uri="{FF2B5EF4-FFF2-40B4-BE49-F238E27FC236}">
                <a16:creationId xmlns:a16="http://schemas.microsoft.com/office/drawing/2014/main" id="{4240D5FB-60B3-92E2-D431-2BF9CD9185A9}"/>
              </a:ext>
            </a:extLst>
          </p:cNvPr>
          <p:cNvPicPr>
            <a:picLocks noChangeAspect="1"/>
          </p:cNvPicPr>
          <p:nvPr/>
        </p:nvPicPr>
        <p:blipFill>
          <a:blip r:embed="rId8"/>
          <a:srcRect l="24792" t="11107" r="14359"/>
          <a:stretch>
            <a:fillRect/>
          </a:stretch>
        </p:blipFill>
        <p:spPr>
          <a:xfrm>
            <a:off x="9842500" y="1714500"/>
            <a:ext cx="1689100" cy="1968500"/>
          </a:xfrm>
          <a:prstGeom prst="rect">
            <a:avLst/>
          </a:prstGeom>
        </p:spPr>
      </p:pic>
      <p:pic>
        <p:nvPicPr>
          <p:cNvPr id="42" name="Picture 41" descr="The image depicts a simple, abstract representation of a zigzag pattern or a wave-like structure, rendered in a monochromatic, minimalistic style.&#10;&#10;AI-generated content may be incorrect.">
            <a:extLst>
              <a:ext uri="{FF2B5EF4-FFF2-40B4-BE49-F238E27FC236}">
                <a16:creationId xmlns:a16="http://schemas.microsoft.com/office/drawing/2014/main" id="{F9FF112A-F15F-989B-A8A9-AB7A565FBEC9}"/>
              </a:ext>
            </a:extLst>
          </p:cNvPr>
          <p:cNvPicPr>
            <a:picLocks noChangeAspect="1"/>
          </p:cNvPicPr>
          <p:nvPr/>
        </p:nvPicPr>
        <p:blipFill>
          <a:blip r:embed="rId9"/>
          <a:srcRect t="15390"/>
          <a:stretch>
            <a:fillRect/>
          </a:stretch>
        </p:blipFill>
        <p:spPr>
          <a:xfrm>
            <a:off x="5651500" y="3810000"/>
            <a:ext cx="5842000" cy="2184400"/>
          </a:xfrm>
          <a:prstGeom prst="rect">
            <a:avLst/>
          </a:prstGeom>
        </p:spPr>
      </p:pic>
      <p:pic>
        <p:nvPicPr>
          <p:cNvPr id="44" name="Picture 43" descr="The image depicts a gray, rectangular frame with an open, hinged structure, likely part of a larger assembly.">
            <a:extLst>
              <a:ext uri="{FF2B5EF4-FFF2-40B4-BE49-F238E27FC236}">
                <a16:creationId xmlns:a16="http://schemas.microsoft.com/office/drawing/2014/main" id="{F0FF4D60-EA60-6E41-F77E-D580B8866D10}"/>
              </a:ext>
            </a:extLst>
          </p:cNvPr>
          <p:cNvPicPr>
            <a:picLocks noChangeAspect="1"/>
          </p:cNvPicPr>
          <p:nvPr/>
        </p:nvPicPr>
        <p:blipFill>
          <a:blip r:embed="rId10"/>
          <a:stretch>
            <a:fillRect/>
          </a:stretch>
        </p:blipFill>
        <p:spPr>
          <a:xfrm>
            <a:off x="7239000" y="2838450"/>
            <a:ext cx="889000" cy="800100"/>
          </a:xfrm>
          <a:prstGeom prst="rect">
            <a:avLst/>
          </a:prstGeom>
        </p:spPr>
      </p:pic>
      <p:pic>
        <p:nvPicPr>
          <p:cNvPr id="9" name="Picture 8">
            <a:extLst>
              <a:ext uri="{FF2B5EF4-FFF2-40B4-BE49-F238E27FC236}">
                <a16:creationId xmlns:a16="http://schemas.microsoft.com/office/drawing/2014/main" id="{17BCD354-05DD-7C00-DFCC-9839F5606164}"/>
              </a:ext>
            </a:extLst>
          </p:cNvPr>
          <p:cNvPicPr>
            <a:picLocks noChangeAspect="1"/>
          </p:cNvPicPr>
          <p:nvPr/>
        </p:nvPicPr>
        <p:blipFill>
          <a:blip r:embed="rId11"/>
          <a:stretch>
            <a:fillRect/>
          </a:stretch>
        </p:blipFill>
        <p:spPr>
          <a:xfrm>
            <a:off x="5651500" y="1714500"/>
            <a:ext cx="1569048" cy="1968500"/>
          </a:xfrm>
          <a:prstGeom prst="rect">
            <a:avLst/>
          </a:prstGeom>
        </p:spPr>
      </p:pic>
      <p:sp>
        <p:nvSpPr>
          <p:cNvPr id="33" name="Arrow: Right 32">
            <a:extLst>
              <a:ext uri="{FF2B5EF4-FFF2-40B4-BE49-F238E27FC236}">
                <a16:creationId xmlns:a16="http://schemas.microsoft.com/office/drawing/2014/main" id="{10B56E54-A4EF-4F38-BCCE-38D5841E70A3}"/>
              </a:ext>
            </a:extLst>
          </p:cNvPr>
          <p:cNvSpPr/>
          <p:nvPr/>
        </p:nvSpPr>
        <p:spPr>
          <a:xfrm>
            <a:off x="7899400" y="2489200"/>
            <a:ext cx="228600" cy="177800"/>
          </a:xfrm>
          <a:prstGeom prst="rightArrow">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5" name="Rectangle 34">
            <a:extLst>
              <a:ext uri="{FF2B5EF4-FFF2-40B4-BE49-F238E27FC236}">
                <a16:creationId xmlns:a16="http://schemas.microsoft.com/office/drawing/2014/main" id="{B961D7F9-AF0B-4F55-8E54-70F15AF52D36}"/>
              </a:ext>
            </a:extLst>
          </p:cNvPr>
          <p:cNvSpPr/>
          <p:nvPr/>
        </p:nvSpPr>
        <p:spPr>
          <a:xfrm>
            <a:off x="5651499" y="5867400"/>
            <a:ext cx="5845517" cy="279400"/>
          </a:xfrm>
          <a:prstGeom prst="rect">
            <a:avLst/>
          </a:prstGeom>
          <a:solidFill>
            <a:srgbClr val="16223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7" name="TextBox 36">
            <a:extLst>
              <a:ext uri="{FF2B5EF4-FFF2-40B4-BE49-F238E27FC236}">
                <a16:creationId xmlns:a16="http://schemas.microsoft.com/office/drawing/2014/main" id="{B276ADDA-BC70-4DB9-A06D-4632200C6F1E}"/>
              </a:ext>
            </a:extLst>
          </p:cNvPr>
          <p:cNvSpPr txBox="1"/>
          <p:nvPr/>
        </p:nvSpPr>
        <p:spPr>
          <a:xfrm>
            <a:off x="5575300" y="5880100"/>
            <a:ext cx="2032000" cy="203200"/>
          </a:xfrm>
          <a:prstGeom prst="rect">
            <a:avLst/>
          </a:prstGeom>
          <a:noFill/>
        </p:spPr>
        <p:txBody>
          <a:bodyPr vertOverflow="overflow" vert="horz" wrap="square" rtlCol="0" anchor="t">
            <a:noAutofit/>
          </a:bodyPr>
          <a:lstStyle/>
          <a:p>
            <a:pPr algn="l"/>
            <a:r>
              <a:rPr lang="en-IN" sz="1000" b="1">
                <a:solidFill>
                  <a:srgbClr val="FFFFFF"/>
                </a:solidFill>
              </a:rPr>
              <a:t>① Motor</a:t>
            </a:r>
          </a:p>
        </p:txBody>
      </p:sp>
      <p:sp>
        <p:nvSpPr>
          <p:cNvPr id="38" name="Arrow: Down 37">
            <a:extLst>
              <a:ext uri="{FF2B5EF4-FFF2-40B4-BE49-F238E27FC236}">
                <a16:creationId xmlns:a16="http://schemas.microsoft.com/office/drawing/2014/main" id="{FBF37818-9CB0-4641-AE4D-2E2CE8273CA3}"/>
              </a:ext>
            </a:extLst>
          </p:cNvPr>
          <p:cNvSpPr/>
          <p:nvPr/>
        </p:nvSpPr>
        <p:spPr>
          <a:xfrm>
            <a:off x="9486900" y="3657600"/>
            <a:ext cx="177800" cy="228600"/>
          </a:xfrm>
          <a:prstGeom prst="downArrow">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9" name="TextBox 38">
            <a:extLst>
              <a:ext uri="{FF2B5EF4-FFF2-40B4-BE49-F238E27FC236}">
                <a16:creationId xmlns:a16="http://schemas.microsoft.com/office/drawing/2014/main" id="{53BA8EEA-9717-4EAB-A997-7ABD4D028D86}"/>
              </a:ext>
            </a:extLst>
          </p:cNvPr>
          <p:cNvSpPr txBox="1"/>
          <p:nvPr/>
        </p:nvSpPr>
        <p:spPr>
          <a:xfrm>
            <a:off x="7607300" y="5880100"/>
            <a:ext cx="2032000" cy="203200"/>
          </a:xfrm>
          <a:prstGeom prst="rect">
            <a:avLst/>
          </a:prstGeom>
          <a:noFill/>
        </p:spPr>
        <p:txBody>
          <a:bodyPr vertOverflow="overflow" vert="horz" wrap="square" rtlCol="0" anchor="t">
            <a:noAutofit/>
          </a:bodyPr>
          <a:lstStyle/>
          <a:p>
            <a:pPr algn="l"/>
            <a:r>
              <a:rPr lang="en-IN" sz="1000" b="1">
                <a:solidFill>
                  <a:srgbClr val="FFFFFF"/>
                </a:solidFill>
              </a:rPr>
              <a:t>② Segment Parts</a:t>
            </a:r>
          </a:p>
        </p:txBody>
      </p:sp>
      <p:sp>
        <p:nvSpPr>
          <p:cNvPr id="40" name="TextBox 39">
            <a:extLst>
              <a:ext uri="{FF2B5EF4-FFF2-40B4-BE49-F238E27FC236}">
                <a16:creationId xmlns:a16="http://schemas.microsoft.com/office/drawing/2014/main" id="{CF713C95-0380-4CB5-960A-9756BEFA1FCB}"/>
              </a:ext>
            </a:extLst>
          </p:cNvPr>
          <p:cNvSpPr txBox="1"/>
          <p:nvPr/>
        </p:nvSpPr>
        <p:spPr>
          <a:xfrm>
            <a:off x="7874000" y="-762000"/>
            <a:ext cx="2095500" cy="203200"/>
          </a:xfrm>
          <a:prstGeom prst="rect">
            <a:avLst/>
          </a:prstGeom>
          <a:noFill/>
        </p:spPr>
        <p:txBody>
          <a:bodyPr vertOverflow="overflow" vert="horz" wrap="square" rtlCol="0" anchor="t">
            <a:noAutofit/>
          </a:bodyPr>
          <a:lstStyle/>
          <a:p>
            <a:pPr algn="l"/>
            <a:r>
              <a:rPr lang="en-IN" sz="1000">
                <a:solidFill>
                  <a:srgbClr val="6B7890"/>
                </a:solidFill>
              </a:rPr>
              <a:t>③ Full Assembly</a:t>
            </a:r>
          </a:p>
        </p:txBody>
      </p:sp>
      <p:sp>
        <p:nvSpPr>
          <p:cNvPr id="4" name="TextBox 3">
            <a:extLst>
              <a:ext uri="{FF2B5EF4-FFF2-40B4-BE49-F238E27FC236}">
                <a16:creationId xmlns:a16="http://schemas.microsoft.com/office/drawing/2014/main" id="{8B27E486-825F-43C2-9B8F-369DBCC6DF83}"/>
              </a:ext>
            </a:extLst>
          </p:cNvPr>
          <p:cNvSpPr txBox="1"/>
          <p:nvPr/>
        </p:nvSpPr>
        <p:spPr>
          <a:xfrm>
            <a:off x="9639300" y="5880100"/>
            <a:ext cx="1968500" cy="203200"/>
          </a:xfrm>
          <a:prstGeom prst="rect">
            <a:avLst/>
          </a:prstGeom>
          <a:noFill/>
        </p:spPr>
        <p:txBody>
          <a:bodyPr vertOverflow="overflow" vert="horz" wrap="square" rtlCol="0" anchor="t">
            <a:noAutofit/>
          </a:bodyPr>
          <a:lstStyle/>
          <a:p>
            <a:pPr algn="l"/>
            <a:r>
              <a:rPr lang="en-IN" sz="1000" b="1">
                <a:solidFill>
                  <a:srgbClr val="FFFFFF"/>
                </a:solidFill>
              </a:rPr>
              <a:t>③ Full Assembly</a:t>
            </a:r>
          </a:p>
        </p:txBody>
      </p:sp>
    </p:spTree>
    <p:extLst>
      <p:ext uri="{BB962C8B-B14F-4D97-AF65-F5344CB8AC3E}">
        <p14:creationId xmlns:p14="http://schemas.microsoft.com/office/powerpoint/2010/main" val="31174001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lIns="0" tIns="0" rIns="0" bIns="0" rtlCol="0" anchor="ctr"/>
          <a:lstStyle/>
          <a:p>
            <a:pPr marL="0" indent="0">
              <a:buNone/>
            </a:pPr>
            <a:r>
              <a:rPr lang="en-US" sz="1200" b="1" kern="0" spc="300" dirty="0">
                <a:solidFill>
                  <a:srgbClr val="0E96AC"/>
                </a:solidFill>
                <a:latin typeface="Calibri" pitchFamily="34" charset="0"/>
                <a:ea typeface="Calibri" pitchFamily="34" charset="-122"/>
                <a:cs typeface="Calibri" pitchFamily="34" charset="-120"/>
              </a:rPr>
              <a:t>PROTOTYPE FABRICATION</a:t>
            </a:r>
            <a:endParaRPr lang="en-US" sz="1200" dirty="0"/>
          </a:p>
        </p:txBody>
      </p:sp>
      <p:sp>
        <p:nvSpPr>
          <p:cNvPr id="3" name="Text 1"/>
          <p:cNvSpPr/>
          <p:nvPr/>
        </p:nvSpPr>
        <p:spPr>
          <a:xfrm>
            <a:off x="530352" y="640080"/>
            <a:ext cx="9509760" cy="640080"/>
          </a:xfrm>
          <a:prstGeom prst="rect">
            <a:avLst/>
          </a:prstGeom>
          <a:noFill/>
          <a:ln/>
        </p:spPr>
        <p:txBody>
          <a:bodyPr wrap="square" lIns="0" tIns="0" rIns="0" bIns="0" rtlCol="0" anchor="ctr"/>
          <a:lstStyle/>
          <a:p>
            <a:pPr marL="0" indent="0">
              <a:buNone/>
            </a:pPr>
            <a:r>
              <a:rPr lang="en-US" sz="3000" b="1" dirty="0">
                <a:solidFill>
                  <a:srgbClr val="16223A"/>
                </a:solidFill>
                <a:latin typeface="Calibri" pitchFamily="34" charset="0"/>
                <a:ea typeface="Calibri" pitchFamily="34" charset="-122"/>
                <a:cs typeface="Calibri" pitchFamily="34" charset="-120"/>
              </a:rPr>
              <a:t>From Model to Printed Hardware</a:t>
            </a:r>
            <a:endParaRPr lang="en-US" sz="3000" dirty="0"/>
          </a:p>
        </p:txBody>
      </p:sp>
      <p:sp>
        <p:nvSpPr>
          <p:cNvPr id="10" name="Shape 8"/>
          <p:cNvSpPr/>
          <p:nvPr/>
        </p:nvSpPr>
        <p:spPr>
          <a:xfrm>
            <a:off x="548640" y="1600200"/>
            <a:ext cx="5074920" cy="2148840"/>
          </a:xfrm>
          <a:prstGeom prst="roundRect">
            <a:avLst>
              <a:gd name="adj" fmla="val 4255"/>
            </a:avLst>
          </a:prstGeom>
          <a:solidFill>
            <a:srgbClr val="ECF1F6"/>
          </a:solidFill>
          <a:ln w="19050">
            <a:solidFill>
              <a:srgbClr val="0E96AC"/>
            </a:solidFill>
            <a:prstDash val="dash"/>
          </a:ln>
        </p:spPr>
      </p:sp>
      <p:sp>
        <p:nvSpPr>
          <p:cNvPr id="11" name="Shape 9"/>
          <p:cNvSpPr/>
          <p:nvPr/>
        </p:nvSpPr>
        <p:spPr>
          <a:xfrm>
            <a:off x="2651760" y="1920240"/>
            <a:ext cx="868680" cy="868680"/>
          </a:xfrm>
          <a:prstGeom prst="ellipse">
            <a:avLst/>
          </a:prstGeom>
          <a:solidFill>
            <a:srgbClr val="FFFFFF"/>
          </a:solidFill>
          <a:ln/>
        </p:spPr>
      </p:sp>
      <p:pic>
        <p:nvPicPr>
          <p:cNvPr id="12" name="Image 0" descr="preencoded.png"/>
          <p:cNvPicPr>
            <a:picLocks noChangeAspect="1"/>
          </p:cNvPicPr>
          <p:nvPr/>
        </p:nvPicPr>
        <p:blipFill>
          <a:blip r:embed="rId3"/>
          <a:stretch>
            <a:fillRect/>
          </a:stretch>
        </p:blipFill>
        <p:spPr>
          <a:xfrm>
            <a:off x="2868930" y="2137410"/>
            <a:ext cx="434340" cy="434340"/>
          </a:xfrm>
          <a:prstGeom prst="rect">
            <a:avLst/>
          </a:prstGeom>
        </p:spPr>
      </p:pic>
      <p:sp>
        <p:nvSpPr>
          <p:cNvPr id="13" name="Text 10"/>
          <p:cNvSpPr/>
          <p:nvPr/>
        </p:nvSpPr>
        <p:spPr>
          <a:xfrm>
            <a:off x="822960" y="2903220"/>
            <a:ext cx="4526280" cy="320040"/>
          </a:xfrm>
          <a:prstGeom prst="rect">
            <a:avLst/>
          </a:prstGeom>
          <a:noFill/>
          <a:ln/>
        </p:spPr>
        <p:txBody>
          <a:bodyPr wrap="square" lIns="0" tIns="0" rIns="0" bIns="0" rtlCol="0" anchor="ctr"/>
          <a:lstStyle/>
          <a:p>
            <a:pPr marL="0" indent="0" algn="ctr">
              <a:buNone/>
            </a:pPr>
            <a:r>
              <a:rPr lang="en-US" sz="1300" b="1" kern="0" spc="100" dirty="0">
                <a:solidFill>
                  <a:srgbClr val="0E96AC"/>
                </a:solidFill>
                <a:latin typeface="Calibri" pitchFamily="34" charset="0"/>
                <a:ea typeface="Calibri" pitchFamily="34" charset="-122"/>
                <a:cs typeface="Calibri" pitchFamily="34" charset="-120"/>
              </a:rPr>
              <a:t>PRINTED SEGMENT — PHOTO 1</a:t>
            </a:r>
            <a:endParaRPr lang="en-US" sz="1300" dirty="0"/>
          </a:p>
        </p:txBody>
      </p:sp>
      <p:sp>
        <p:nvSpPr>
          <p:cNvPr id="14" name="Text 11"/>
          <p:cNvSpPr/>
          <p:nvPr/>
        </p:nvSpPr>
        <p:spPr>
          <a:xfrm>
            <a:off x="914400" y="3223260"/>
            <a:ext cx="4343400" cy="548640"/>
          </a:xfrm>
          <a:prstGeom prst="rect">
            <a:avLst/>
          </a:prstGeom>
          <a:noFill/>
          <a:ln/>
        </p:spPr>
        <p:txBody>
          <a:bodyPr wrap="square" lIns="0" tIns="0" rIns="0" bIns="0" rtlCol="0" anchor="ctr"/>
          <a:lstStyle/>
          <a:p>
            <a:pPr marL="0" indent="0" algn="ctr">
              <a:lnSpc>
                <a:spcPct val="100000"/>
              </a:lnSpc>
              <a:buNone/>
            </a:pPr>
            <a:r>
              <a:rPr lang="en-US" sz="1050" i="1" dirty="0">
                <a:solidFill>
                  <a:srgbClr val="6B7890"/>
                </a:solidFill>
                <a:latin typeface="Calibri" pitchFamily="34" charset="0"/>
                <a:ea typeface="Calibri" pitchFamily="34" charset="-122"/>
                <a:cs typeface="Calibri" pitchFamily="34" charset="-120"/>
              </a:rPr>
              <a:t>Insert photo of the first 3D-printed segment</a:t>
            </a:r>
            <a:endParaRPr lang="en-US" sz="1050" dirty="0"/>
          </a:p>
        </p:txBody>
      </p:sp>
      <p:sp>
        <p:nvSpPr>
          <p:cNvPr id="15" name="Shape 12"/>
          <p:cNvSpPr/>
          <p:nvPr/>
        </p:nvSpPr>
        <p:spPr>
          <a:xfrm>
            <a:off x="548640" y="3913632"/>
            <a:ext cx="5074920" cy="2148840"/>
          </a:xfrm>
          <a:prstGeom prst="roundRect">
            <a:avLst>
              <a:gd name="adj" fmla="val 4255"/>
            </a:avLst>
          </a:prstGeom>
          <a:solidFill>
            <a:srgbClr val="ECF1F6"/>
          </a:solidFill>
          <a:ln w="19050">
            <a:solidFill>
              <a:srgbClr val="E08A1E"/>
            </a:solidFill>
            <a:prstDash val="dash"/>
          </a:ln>
        </p:spPr>
      </p:sp>
      <p:sp>
        <p:nvSpPr>
          <p:cNvPr id="16" name="Shape 13"/>
          <p:cNvSpPr/>
          <p:nvPr/>
        </p:nvSpPr>
        <p:spPr>
          <a:xfrm>
            <a:off x="2651760" y="4233672"/>
            <a:ext cx="868680" cy="868680"/>
          </a:xfrm>
          <a:prstGeom prst="ellipse">
            <a:avLst/>
          </a:prstGeom>
          <a:solidFill>
            <a:srgbClr val="FFFFFF"/>
          </a:solidFill>
          <a:ln/>
        </p:spPr>
      </p:sp>
      <p:pic>
        <p:nvPicPr>
          <p:cNvPr id="17" name="Image 1" descr="preencoded.png"/>
          <p:cNvPicPr>
            <a:picLocks noChangeAspect="1"/>
          </p:cNvPicPr>
          <p:nvPr/>
        </p:nvPicPr>
        <p:blipFill>
          <a:blip r:embed="rId4"/>
          <a:stretch>
            <a:fillRect/>
          </a:stretch>
        </p:blipFill>
        <p:spPr>
          <a:xfrm>
            <a:off x="2868930" y="4450842"/>
            <a:ext cx="434340" cy="434340"/>
          </a:xfrm>
          <a:prstGeom prst="rect">
            <a:avLst/>
          </a:prstGeom>
        </p:spPr>
      </p:pic>
      <p:sp>
        <p:nvSpPr>
          <p:cNvPr id="18" name="Text 14"/>
          <p:cNvSpPr/>
          <p:nvPr/>
        </p:nvSpPr>
        <p:spPr>
          <a:xfrm>
            <a:off x="822960" y="5216652"/>
            <a:ext cx="4526280" cy="320040"/>
          </a:xfrm>
          <a:prstGeom prst="rect">
            <a:avLst/>
          </a:prstGeom>
          <a:noFill/>
          <a:ln/>
        </p:spPr>
        <p:txBody>
          <a:bodyPr wrap="square" lIns="0" tIns="0" rIns="0" bIns="0" rtlCol="0" anchor="ctr"/>
          <a:lstStyle/>
          <a:p>
            <a:pPr marL="0" indent="0" algn="ctr">
              <a:buNone/>
            </a:pPr>
            <a:r>
              <a:rPr lang="en-US" sz="1300" b="1" kern="0" spc="100" dirty="0">
                <a:solidFill>
                  <a:srgbClr val="E08A1E"/>
                </a:solidFill>
                <a:latin typeface="Calibri" pitchFamily="34" charset="0"/>
                <a:ea typeface="Calibri" pitchFamily="34" charset="-122"/>
                <a:cs typeface="Calibri" pitchFamily="34" charset="-120"/>
              </a:rPr>
              <a:t>PRINTED SEGMENT — PHOTO 2</a:t>
            </a:r>
            <a:endParaRPr lang="en-US" sz="1300" dirty="0"/>
          </a:p>
        </p:txBody>
      </p:sp>
      <p:sp>
        <p:nvSpPr>
          <p:cNvPr id="19" name="Text 15"/>
          <p:cNvSpPr/>
          <p:nvPr/>
        </p:nvSpPr>
        <p:spPr>
          <a:xfrm>
            <a:off x="914400" y="5536692"/>
            <a:ext cx="4343400" cy="548640"/>
          </a:xfrm>
          <a:prstGeom prst="rect">
            <a:avLst/>
          </a:prstGeom>
          <a:noFill/>
          <a:ln/>
        </p:spPr>
        <p:txBody>
          <a:bodyPr wrap="square" lIns="0" tIns="0" rIns="0" bIns="0" rtlCol="0" anchor="ctr"/>
          <a:lstStyle/>
          <a:p>
            <a:pPr marL="0" indent="0" algn="ctr">
              <a:lnSpc>
                <a:spcPct val="100000"/>
              </a:lnSpc>
              <a:buNone/>
            </a:pPr>
            <a:r>
              <a:rPr lang="en-US" sz="1050" i="1" dirty="0">
                <a:solidFill>
                  <a:srgbClr val="6B7890"/>
                </a:solidFill>
                <a:latin typeface="Calibri" pitchFamily="34" charset="0"/>
                <a:ea typeface="Calibri" pitchFamily="34" charset="-122"/>
                <a:cs typeface="Calibri" pitchFamily="34" charset="-120"/>
              </a:rPr>
              <a:t>Insert photo of the second segment / assembly</a:t>
            </a:r>
            <a:endParaRPr lang="en-US" sz="1050" dirty="0"/>
          </a:p>
        </p:txBody>
      </p:sp>
      <p:sp>
        <p:nvSpPr>
          <p:cNvPr id="20" name="Text 16"/>
          <p:cNvSpPr/>
          <p:nvPr/>
        </p:nvSpPr>
        <p:spPr>
          <a:xfrm>
            <a:off x="5943600" y="1600200"/>
            <a:ext cx="5486400" cy="274320"/>
          </a:xfrm>
          <a:prstGeom prst="rect">
            <a:avLst/>
          </a:prstGeom>
          <a:noFill/>
          <a:ln/>
        </p:spPr>
        <p:txBody>
          <a:bodyPr wrap="square" lIns="0" tIns="0" rIns="0" bIns="0" rtlCol="0" anchor="ctr"/>
          <a:lstStyle/>
          <a:p>
            <a:pPr marL="0" indent="0">
              <a:buNone/>
            </a:pPr>
            <a:r>
              <a:rPr lang="en-US" sz="1200" b="1" kern="0" spc="200" dirty="0">
                <a:solidFill>
                  <a:srgbClr val="6B7890"/>
                </a:solidFill>
                <a:latin typeface="Calibri" pitchFamily="34" charset="0"/>
                <a:ea typeface="Calibri" pitchFamily="34" charset="-122"/>
                <a:cs typeface="Calibri" pitchFamily="34" charset="-120"/>
              </a:rPr>
              <a:t>FABRICATION STATUS</a:t>
            </a:r>
            <a:endParaRPr lang="en-US" sz="1200" dirty="0"/>
          </a:p>
        </p:txBody>
      </p:sp>
      <p:sp>
        <p:nvSpPr>
          <p:cNvPr id="21" name="Shape 17"/>
          <p:cNvSpPr/>
          <p:nvPr/>
        </p:nvSpPr>
        <p:spPr>
          <a:xfrm>
            <a:off x="5943600" y="2084832"/>
            <a:ext cx="5715000" cy="841248"/>
          </a:xfrm>
          <a:prstGeom prst="roundRect">
            <a:avLst>
              <a:gd name="adj" fmla="val 8696"/>
            </a:avLst>
          </a:prstGeom>
          <a:solidFill>
            <a:srgbClr val="FFFFFF"/>
          </a:solidFill>
          <a:ln w="12700">
            <a:solidFill>
              <a:srgbClr val="E2E8F0"/>
            </a:solidFill>
            <a:prstDash val="solid"/>
          </a:ln>
          <a:effectLst>
            <a:outerShdw blurRad="76200" dist="25400" dir="5400000" algn="bl" rotWithShape="0">
              <a:srgbClr val="1A2440">
                <a:alpha val="8000"/>
              </a:srgbClr>
            </a:outerShdw>
          </a:effectLst>
        </p:spPr>
      </p:sp>
      <p:sp>
        <p:nvSpPr>
          <p:cNvPr id="22" name="Shape 18"/>
          <p:cNvSpPr/>
          <p:nvPr/>
        </p:nvSpPr>
        <p:spPr>
          <a:xfrm>
            <a:off x="6144768" y="2276856"/>
            <a:ext cx="457200" cy="457200"/>
          </a:xfrm>
          <a:prstGeom prst="ellipse">
            <a:avLst/>
          </a:prstGeom>
          <a:solidFill>
            <a:srgbClr val="12A678"/>
          </a:solidFill>
          <a:ln/>
        </p:spPr>
      </p:sp>
      <p:pic>
        <p:nvPicPr>
          <p:cNvPr id="23" name="Image 2" descr="preencoded.png"/>
          <p:cNvPicPr>
            <a:picLocks noChangeAspect="1"/>
          </p:cNvPicPr>
          <p:nvPr/>
        </p:nvPicPr>
        <p:blipFill>
          <a:blip r:embed="rId5"/>
          <a:stretch>
            <a:fillRect/>
          </a:stretch>
        </p:blipFill>
        <p:spPr>
          <a:xfrm>
            <a:off x="6254496" y="2386584"/>
            <a:ext cx="237744" cy="237744"/>
          </a:xfrm>
          <a:prstGeom prst="rect">
            <a:avLst/>
          </a:prstGeom>
        </p:spPr>
      </p:pic>
      <p:sp>
        <p:nvSpPr>
          <p:cNvPr id="24" name="Text 19"/>
          <p:cNvSpPr/>
          <p:nvPr/>
        </p:nvSpPr>
        <p:spPr>
          <a:xfrm>
            <a:off x="6748272" y="2212848"/>
            <a:ext cx="4297680" cy="310896"/>
          </a:xfrm>
          <a:prstGeom prst="rect">
            <a:avLst/>
          </a:prstGeom>
          <a:noFill/>
          <a:ln/>
        </p:spPr>
        <p:txBody>
          <a:bodyPr wrap="square" lIns="0" tIns="0" rIns="0" bIns="0" rtlCol="0" anchor="ctr"/>
          <a:lstStyle/>
          <a:p>
            <a:pPr marL="0" indent="0">
              <a:buNone/>
            </a:pPr>
            <a:r>
              <a:rPr lang="en-US" sz="1350" b="1" dirty="0">
                <a:solidFill>
                  <a:srgbClr val="16223A"/>
                </a:solidFill>
                <a:latin typeface="Calibri" pitchFamily="34" charset="0"/>
                <a:ea typeface="Calibri" pitchFamily="34" charset="-122"/>
                <a:cs typeface="Calibri" pitchFamily="34" charset="-120"/>
              </a:rPr>
              <a:t>Two prototype segments 3D printed</a:t>
            </a:r>
            <a:endParaRPr lang="en-US" sz="1350" dirty="0"/>
          </a:p>
        </p:txBody>
      </p:sp>
      <p:sp>
        <p:nvSpPr>
          <p:cNvPr id="25" name="Text 20"/>
          <p:cNvSpPr/>
          <p:nvPr/>
        </p:nvSpPr>
        <p:spPr>
          <a:xfrm>
            <a:off x="6748272" y="2523744"/>
            <a:ext cx="4663440" cy="274320"/>
          </a:xfrm>
          <a:prstGeom prst="rect">
            <a:avLst/>
          </a:prstGeom>
          <a:noFill/>
          <a:ln/>
        </p:spPr>
        <p:txBody>
          <a:bodyPr wrap="square" lIns="0" tIns="0" rIns="0" bIns="0" rtlCol="0" anchor="ctr"/>
          <a:lstStyle/>
          <a:p>
            <a:pPr marL="0" indent="0">
              <a:buNone/>
            </a:pPr>
            <a:r>
              <a:rPr lang="en-US" sz="1100" dirty="0">
                <a:solidFill>
                  <a:srgbClr val="6B7890"/>
                </a:solidFill>
                <a:latin typeface="Calibri" pitchFamily="34" charset="0"/>
                <a:ea typeface="Calibri" pitchFamily="34" charset="-122"/>
                <a:cs typeface="Calibri" pitchFamily="34" charset="-120"/>
              </a:rPr>
              <a:t>Both segments produced from the CAD model.</a:t>
            </a:r>
            <a:endParaRPr lang="en-US" sz="1100" dirty="0"/>
          </a:p>
        </p:txBody>
      </p:sp>
      <p:sp>
        <p:nvSpPr>
          <p:cNvPr id="26" name="Text 21"/>
          <p:cNvSpPr/>
          <p:nvPr/>
        </p:nvSpPr>
        <p:spPr>
          <a:xfrm>
            <a:off x="10972800" y="2231136"/>
            <a:ext cx="548640" cy="228600"/>
          </a:xfrm>
          <a:prstGeom prst="rect">
            <a:avLst/>
          </a:prstGeom>
          <a:noFill/>
          <a:ln/>
        </p:spPr>
        <p:txBody>
          <a:bodyPr wrap="square" lIns="0" tIns="0" rIns="0" bIns="0" rtlCol="0" anchor="ctr"/>
          <a:lstStyle/>
          <a:p>
            <a:pPr marL="0" indent="0" algn="r">
              <a:buNone/>
            </a:pPr>
            <a:r>
              <a:rPr lang="en-US" sz="800" b="1" kern="0" spc="100" dirty="0">
                <a:solidFill>
                  <a:srgbClr val="12A678"/>
                </a:solidFill>
                <a:latin typeface="Calibri" pitchFamily="34" charset="0"/>
                <a:ea typeface="Calibri" pitchFamily="34" charset="-122"/>
                <a:cs typeface="Calibri" pitchFamily="34" charset="-120"/>
              </a:rPr>
              <a:t>DONE</a:t>
            </a:r>
            <a:endParaRPr lang="en-US" sz="800" dirty="0"/>
          </a:p>
        </p:txBody>
      </p:sp>
      <p:sp>
        <p:nvSpPr>
          <p:cNvPr id="27" name="Shape 22"/>
          <p:cNvSpPr/>
          <p:nvPr/>
        </p:nvSpPr>
        <p:spPr>
          <a:xfrm>
            <a:off x="5943600" y="3044952"/>
            <a:ext cx="5715000" cy="841248"/>
          </a:xfrm>
          <a:prstGeom prst="roundRect">
            <a:avLst>
              <a:gd name="adj" fmla="val 8696"/>
            </a:avLst>
          </a:prstGeom>
          <a:solidFill>
            <a:srgbClr val="FFFFFF"/>
          </a:solidFill>
          <a:ln w="12700">
            <a:solidFill>
              <a:srgbClr val="E2E8F0"/>
            </a:solidFill>
            <a:prstDash val="solid"/>
          </a:ln>
          <a:effectLst>
            <a:outerShdw blurRad="76200" dist="25400" dir="5400000" algn="bl" rotWithShape="0">
              <a:srgbClr val="1A2440">
                <a:alpha val="8000"/>
              </a:srgbClr>
            </a:outerShdw>
          </a:effectLst>
        </p:spPr>
      </p:sp>
      <p:sp>
        <p:nvSpPr>
          <p:cNvPr id="28" name="Shape 23"/>
          <p:cNvSpPr/>
          <p:nvPr/>
        </p:nvSpPr>
        <p:spPr>
          <a:xfrm>
            <a:off x="6144768" y="3236976"/>
            <a:ext cx="457200" cy="457200"/>
          </a:xfrm>
          <a:prstGeom prst="ellipse">
            <a:avLst/>
          </a:prstGeom>
          <a:solidFill>
            <a:srgbClr val="12A678"/>
          </a:solidFill>
          <a:ln/>
        </p:spPr>
      </p:sp>
      <p:pic>
        <p:nvPicPr>
          <p:cNvPr id="29" name="Image 3" descr="preencoded.png"/>
          <p:cNvPicPr>
            <a:picLocks noChangeAspect="1"/>
          </p:cNvPicPr>
          <p:nvPr/>
        </p:nvPicPr>
        <p:blipFill>
          <a:blip r:embed="rId6"/>
          <a:stretch>
            <a:fillRect/>
          </a:stretch>
        </p:blipFill>
        <p:spPr>
          <a:xfrm>
            <a:off x="6254496" y="3346704"/>
            <a:ext cx="237744" cy="237744"/>
          </a:xfrm>
          <a:prstGeom prst="rect">
            <a:avLst/>
          </a:prstGeom>
        </p:spPr>
      </p:pic>
      <p:sp>
        <p:nvSpPr>
          <p:cNvPr id="30" name="Text 24"/>
          <p:cNvSpPr/>
          <p:nvPr/>
        </p:nvSpPr>
        <p:spPr>
          <a:xfrm>
            <a:off x="6748272" y="3172968"/>
            <a:ext cx="4297680" cy="310896"/>
          </a:xfrm>
          <a:prstGeom prst="rect">
            <a:avLst/>
          </a:prstGeom>
          <a:noFill/>
          <a:ln/>
        </p:spPr>
        <p:txBody>
          <a:bodyPr wrap="square" lIns="0" tIns="0" rIns="0" bIns="0" rtlCol="0" anchor="ctr"/>
          <a:lstStyle/>
          <a:p>
            <a:pPr marL="0" indent="0">
              <a:buNone/>
            </a:pPr>
            <a:r>
              <a:rPr lang="en-US" sz="1350" b="1" dirty="0">
                <a:solidFill>
                  <a:srgbClr val="16223A"/>
                </a:solidFill>
                <a:latin typeface="Calibri" pitchFamily="34" charset="0"/>
                <a:ea typeface="Calibri" pitchFamily="34" charset="-122"/>
                <a:cs typeface="Calibri" pitchFamily="34" charset="-120"/>
              </a:rPr>
              <a:t>Initial dimensional verification done</a:t>
            </a:r>
            <a:endParaRPr lang="en-US" sz="1350" dirty="0"/>
          </a:p>
        </p:txBody>
      </p:sp>
      <p:sp>
        <p:nvSpPr>
          <p:cNvPr id="31" name="Text 25"/>
          <p:cNvSpPr/>
          <p:nvPr/>
        </p:nvSpPr>
        <p:spPr>
          <a:xfrm>
            <a:off x="6748272" y="3483864"/>
            <a:ext cx="4663440" cy="274320"/>
          </a:xfrm>
          <a:prstGeom prst="rect">
            <a:avLst/>
          </a:prstGeom>
          <a:noFill/>
          <a:ln/>
        </p:spPr>
        <p:txBody>
          <a:bodyPr wrap="square" lIns="0" tIns="0" rIns="0" bIns="0" rtlCol="0" anchor="ctr"/>
          <a:lstStyle/>
          <a:p>
            <a:pPr marL="0" indent="0">
              <a:buNone/>
            </a:pPr>
            <a:r>
              <a:rPr lang="en-US" sz="1100" dirty="0">
                <a:solidFill>
                  <a:srgbClr val="6B7890"/>
                </a:solidFill>
                <a:latin typeface="Calibri" pitchFamily="34" charset="0"/>
                <a:ea typeface="Calibri" pitchFamily="34" charset="-122"/>
                <a:cs typeface="Calibri" pitchFamily="34" charset="-120"/>
              </a:rPr>
              <a:t>Printed parts measured against design specs.</a:t>
            </a:r>
            <a:endParaRPr lang="en-US" sz="1100" dirty="0"/>
          </a:p>
        </p:txBody>
      </p:sp>
      <p:sp>
        <p:nvSpPr>
          <p:cNvPr id="32" name="Text 26"/>
          <p:cNvSpPr/>
          <p:nvPr/>
        </p:nvSpPr>
        <p:spPr>
          <a:xfrm>
            <a:off x="10972800" y="3191256"/>
            <a:ext cx="548640" cy="228600"/>
          </a:xfrm>
          <a:prstGeom prst="rect">
            <a:avLst/>
          </a:prstGeom>
          <a:noFill/>
          <a:ln/>
        </p:spPr>
        <p:txBody>
          <a:bodyPr wrap="square" lIns="0" tIns="0" rIns="0" bIns="0" rtlCol="0" anchor="ctr"/>
          <a:lstStyle/>
          <a:p>
            <a:pPr marL="0" indent="0" algn="r">
              <a:buNone/>
            </a:pPr>
            <a:r>
              <a:rPr lang="en-US" sz="800" b="1" kern="0" spc="100" dirty="0">
                <a:solidFill>
                  <a:srgbClr val="12A678"/>
                </a:solidFill>
                <a:latin typeface="Calibri" pitchFamily="34" charset="0"/>
                <a:ea typeface="Calibri" pitchFamily="34" charset="-122"/>
                <a:cs typeface="Calibri" pitchFamily="34" charset="-120"/>
              </a:rPr>
              <a:t>DONE</a:t>
            </a:r>
            <a:endParaRPr lang="en-US" sz="800" dirty="0"/>
          </a:p>
        </p:txBody>
      </p:sp>
      <p:sp>
        <p:nvSpPr>
          <p:cNvPr id="33" name="Shape 27"/>
          <p:cNvSpPr/>
          <p:nvPr/>
        </p:nvSpPr>
        <p:spPr>
          <a:xfrm>
            <a:off x="5943600" y="4005072"/>
            <a:ext cx="5715000" cy="841248"/>
          </a:xfrm>
          <a:prstGeom prst="roundRect">
            <a:avLst>
              <a:gd name="adj" fmla="val 8696"/>
            </a:avLst>
          </a:prstGeom>
          <a:solidFill>
            <a:srgbClr val="FFFFFF"/>
          </a:solidFill>
          <a:ln w="12700">
            <a:solidFill>
              <a:srgbClr val="E2E8F0"/>
            </a:solidFill>
            <a:prstDash val="solid"/>
          </a:ln>
          <a:effectLst>
            <a:outerShdw blurRad="76200" dist="25400" dir="5400000" algn="bl" rotWithShape="0">
              <a:srgbClr val="1A2440">
                <a:alpha val="8000"/>
              </a:srgbClr>
            </a:outerShdw>
          </a:effectLst>
        </p:spPr>
      </p:sp>
      <p:sp>
        <p:nvSpPr>
          <p:cNvPr id="34" name="Shape 28"/>
          <p:cNvSpPr/>
          <p:nvPr/>
        </p:nvSpPr>
        <p:spPr>
          <a:xfrm>
            <a:off x="6144768" y="4197096"/>
            <a:ext cx="457200" cy="457200"/>
          </a:xfrm>
          <a:prstGeom prst="ellipse">
            <a:avLst/>
          </a:prstGeom>
          <a:solidFill>
            <a:srgbClr val="E08A1E"/>
          </a:solidFill>
          <a:ln/>
        </p:spPr>
      </p:sp>
      <p:pic>
        <p:nvPicPr>
          <p:cNvPr id="35" name="Image 4" descr="preencoded.png"/>
          <p:cNvPicPr>
            <a:picLocks noChangeAspect="1"/>
          </p:cNvPicPr>
          <p:nvPr/>
        </p:nvPicPr>
        <p:blipFill>
          <a:blip r:embed="rId7"/>
          <a:stretch>
            <a:fillRect/>
          </a:stretch>
        </p:blipFill>
        <p:spPr>
          <a:xfrm>
            <a:off x="6254496" y="4306824"/>
            <a:ext cx="237744" cy="237744"/>
          </a:xfrm>
          <a:prstGeom prst="rect">
            <a:avLst/>
          </a:prstGeom>
        </p:spPr>
      </p:pic>
      <p:sp>
        <p:nvSpPr>
          <p:cNvPr id="36" name="Text 29"/>
          <p:cNvSpPr/>
          <p:nvPr/>
        </p:nvSpPr>
        <p:spPr>
          <a:xfrm>
            <a:off x="6748272" y="4133088"/>
            <a:ext cx="4297680" cy="310896"/>
          </a:xfrm>
          <a:prstGeom prst="rect">
            <a:avLst/>
          </a:prstGeom>
          <a:noFill/>
          <a:ln/>
        </p:spPr>
        <p:txBody>
          <a:bodyPr wrap="square" lIns="0" tIns="0" rIns="0" bIns="0" rtlCol="0" anchor="ctr"/>
          <a:lstStyle/>
          <a:p>
            <a:pPr marL="0" indent="0">
              <a:buNone/>
            </a:pPr>
            <a:r>
              <a:rPr lang="en-US" sz="1350" b="1" dirty="0">
                <a:solidFill>
                  <a:srgbClr val="16223A"/>
                </a:solidFill>
                <a:latin typeface="Calibri" pitchFamily="34" charset="0"/>
                <a:ea typeface="Calibri" pitchFamily="34" charset="-122"/>
                <a:cs typeface="Calibri" pitchFamily="34" charset="-120"/>
              </a:rPr>
              <a:t>Physical validation of CAD initiated</a:t>
            </a:r>
            <a:endParaRPr lang="en-US" sz="1350" dirty="0"/>
          </a:p>
        </p:txBody>
      </p:sp>
      <p:sp>
        <p:nvSpPr>
          <p:cNvPr id="37" name="Text 30"/>
          <p:cNvSpPr/>
          <p:nvPr/>
        </p:nvSpPr>
        <p:spPr>
          <a:xfrm>
            <a:off x="6748272" y="4443984"/>
            <a:ext cx="4663440" cy="274320"/>
          </a:xfrm>
          <a:prstGeom prst="rect">
            <a:avLst/>
          </a:prstGeom>
          <a:noFill/>
          <a:ln/>
        </p:spPr>
        <p:txBody>
          <a:bodyPr wrap="square" lIns="0" tIns="0" rIns="0" bIns="0" rtlCol="0" anchor="ctr"/>
          <a:lstStyle/>
          <a:p>
            <a:pPr marL="0" indent="0">
              <a:buNone/>
            </a:pPr>
            <a:r>
              <a:rPr lang="en-US" sz="1100" dirty="0">
                <a:solidFill>
                  <a:srgbClr val="6B7890"/>
                </a:solidFill>
                <a:latin typeface="Calibri" pitchFamily="34" charset="0"/>
                <a:ea typeface="Calibri" pitchFamily="34" charset="-122"/>
                <a:cs typeface="Calibri" pitchFamily="34" charset="-120"/>
              </a:rPr>
              <a:t>Checking fit, tolerances and assembly.</a:t>
            </a:r>
            <a:endParaRPr lang="en-US" sz="1100" dirty="0"/>
          </a:p>
        </p:txBody>
      </p:sp>
      <p:sp>
        <p:nvSpPr>
          <p:cNvPr id="38" name="Text 31"/>
          <p:cNvSpPr/>
          <p:nvPr/>
        </p:nvSpPr>
        <p:spPr>
          <a:xfrm>
            <a:off x="10972800" y="4151376"/>
            <a:ext cx="548640" cy="228600"/>
          </a:xfrm>
          <a:prstGeom prst="rect">
            <a:avLst/>
          </a:prstGeom>
          <a:noFill/>
          <a:ln/>
        </p:spPr>
        <p:txBody>
          <a:bodyPr wrap="square" lIns="0" tIns="0" rIns="0" bIns="0" rtlCol="0" anchor="ctr"/>
          <a:lstStyle/>
          <a:p>
            <a:pPr marL="0" indent="0" algn="r">
              <a:buNone/>
            </a:pPr>
            <a:r>
              <a:rPr lang="en-US" sz="800" b="1" kern="0" spc="100" dirty="0">
                <a:solidFill>
                  <a:srgbClr val="E08A1E"/>
                </a:solidFill>
                <a:latin typeface="Calibri" pitchFamily="34" charset="0"/>
                <a:ea typeface="Calibri" pitchFamily="34" charset="-122"/>
                <a:cs typeface="Calibri" pitchFamily="34" charset="-120"/>
              </a:rPr>
              <a:t>NEXT</a:t>
            </a:r>
            <a:endParaRPr lang="en-US" sz="800" dirty="0"/>
          </a:p>
        </p:txBody>
      </p:sp>
      <p:sp>
        <p:nvSpPr>
          <p:cNvPr id="39" name="Shape 32"/>
          <p:cNvSpPr/>
          <p:nvPr/>
        </p:nvSpPr>
        <p:spPr>
          <a:xfrm>
            <a:off x="5943600" y="4965192"/>
            <a:ext cx="5715000" cy="841248"/>
          </a:xfrm>
          <a:prstGeom prst="roundRect">
            <a:avLst>
              <a:gd name="adj" fmla="val 8696"/>
            </a:avLst>
          </a:prstGeom>
          <a:solidFill>
            <a:srgbClr val="FFFFFF"/>
          </a:solidFill>
          <a:ln w="12700">
            <a:solidFill>
              <a:srgbClr val="E2E8F0"/>
            </a:solidFill>
            <a:prstDash val="solid"/>
          </a:ln>
          <a:effectLst>
            <a:outerShdw blurRad="76200" dist="25400" dir="5400000" algn="bl" rotWithShape="0">
              <a:srgbClr val="1A2440">
                <a:alpha val="8000"/>
              </a:srgbClr>
            </a:outerShdw>
          </a:effectLst>
        </p:spPr>
      </p:sp>
      <p:sp>
        <p:nvSpPr>
          <p:cNvPr id="40" name="Shape 33"/>
          <p:cNvSpPr/>
          <p:nvPr/>
        </p:nvSpPr>
        <p:spPr>
          <a:xfrm>
            <a:off x="6144768" y="5157216"/>
            <a:ext cx="457200" cy="457200"/>
          </a:xfrm>
          <a:prstGeom prst="ellipse">
            <a:avLst/>
          </a:prstGeom>
          <a:solidFill>
            <a:srgbClr val="E08A1E"/>
          </a:solidFill>
          <a:ln/>
        </p:spPr>
      </p:sp>
      <p:pic>
        <p:nvPicPr>
          <p:cNvPr id="41" name="Image 5" descr="preencoded.png"/>
          <p:cNvPicPr>
            <a:picLocks noChangeAspect="1"/>
          </p:cNvPicPr>
          <p:nvPr/>
        </p:nvPicPr>
        <p:blipFill>
          <a:blip r:embed="rId8"/>
          <a:stretch>
            <a:fillRect/>
          </a:stretch>
        </p:blipFill>
        <p:spPr>
          <a:xfrm>
            <a:off x="6254496" y="5266944"/>
            <a:ext cx="237744" cy="237744"/>
          </a:xfrm>
          <a:prstGeom prst="rect">
            <a:avLst/>
          </a:prstGeom>
        </p:spPr>
      </p:pic>
      <p:sp>
        <p:nvSpPr>
          <p:cNvPr id="42" name="Text 34"/>
          <p:cNvSpPr/>
          <p:nvPr/>
        </p:nvSpPr>
        <p:spPr>
          <a:xfrm>
            <a:off x="6748272" y="5093208"/>
            <a:ext cx="4297680" cy="310896"/>
          </a:xfrm>
          <a:prstGeom prst="rect">
            <a:avLst/>
          </a:prstGeom>
          <a:noFill/>
          <a:ln/>
        </p:spPr>
        <p:txBody>
          <a:bodyPr wrap="square" lIns="0" tIns="0" rIns="0" bIns="0" rtlCol="0" anchor="ctr"/>
          <a:lstStyle/>
          <a:p>
            <a:pPr marL="0" indent="0">
              <a:buNone/>
            </a:pPr>
            <a:r>
              <a:rPr lang="en-US" sz="1350" b="1" dirty="0">
                <a:solidFill>
                  <a:srgbClr val="16223A"/>
                </a:solidFill>
                <a:latin typeface="Calibri" pitchFamily="34" charset="0"/>
                <a:ea typeface="Calibri" pitchFamily="34" charset="-122"/>
                <a:cs typeface="Calibri" pitchFamily="34" charset="-120"/>
              </a:rPr>
              <a:t>Preparing for motor-integration tests</a:t>
            </a:r>
            <a:endParaRPr lang="en-US" sz="1350" dirty="0"/>
          </a:p>
        </p:txBody>
      </p:sp>
      <p:sp>
        <p:nvSpPr>
          <p:cNvPr id="43" name="Text 35"/>
          <p:cNvSpPr/>
          <p:nvPr/>
        </p:nvSpPr>
        <p:spPr>
          <a:xfrm>
            <a:off x="6748272" y="5404104"/>
            <a:ext cx="4663440" cy="274320"/>
          </a:xfrm>
          <a:prstGeom prst="rect">
            <a:avLst/>
          </a:prstGeom>
          <a:noFill/>
          <a:ln/>
        </p:spPr>
        <p:txBody>
          <a:bodyPr wrap="square" lIns="0" tIns="0" rIns="0" bIns="0" rtlCol="0" anchor="ctr"/>
          <a:lstStyle/>
          <a:p>
            <a:pPr marL="0" indent="0">
              <a:buNone/>
            </a:pPr>
            <a:r>
              <a:rPr lang="en-US" sz="1100" dirty="0">
                <a:solidFill>
                  <a:srgbClr val="6B7890"/>
                </a:solidFill>
                <a:latin typeface="Calibri" pitchFamily="34" charset="0"/>
                <a:ea typeface="Calibri" pitchFamily="34" charset="-122"/>
                <a:cs typeface="Calibri" pitchFamily="34" charset="-120"/>
              </a:rPr>
              <a:t>Next: seat XL330 servos into segments.</a:t>
            </a:r>
            <a:endParaRPr lang="en-US" sz="1100" dirty="0"/>
          </a:p>
        </p:txBody>
      </p:sp>
      <p:sp>
        <p:nvSpPr>
          <p:cNvPr id="44" name="Text 36"/>
          <p:cNvSpPr/>
          <p:nvPr/>
        </p:nvSpPr>
        <p:spPr>
          <a:xfrm>
            <a:off x="10972800" y="5111496"/>
            <a:ext cx="548640" cy="228600"/>
          </a:xfrm>
          <a:prstGeom prst="rect">
            <a:avLst/>
          </a:prstGeom>
          <a:noFill/>
          <a:ln/>
        </p:spPr>
        <p:txBody>
          <a:bodyPr wrap="square" lIns="0" tIns="0" rIns="0" bIns="0" rtlCol="0" anchor="ctr"/>
          <a:lstStyle/>
          <a:p>
            <a:pPr marL="0" indent="0" algn="r">
              <a:buNone/>
            </a:pPr>
            <a:r>
              <a:rPr lang="en-US" sz="800" b="1" kern="0" spc="100" dirty="0">
                <a:solidFill>
                  <a:srgbClr val="E08A1E"/>
                </a:solidFill>
                <a:latin typeface="Calibri" pitchFamily="34" charset="0"/>
                <a:ea typeface="Calibri" pitchFamily="34" charset="-122"/>
                <a:cs typeface="Calibri" pitchFamily="34" charset="-120"/>
              </a:rPr>
              <a:t>NEXT</a:t>
            </a:r>
            <a:endParaRPr lang="en-US" sz="800" dirty="0"/>
          </a:p>
        </p:txBody>
      </p:sp>
      <p:pic>
        <p:nvPicPr>
          <p:cNvPr id="5" name="Picture 4" descr="The image shows a white, rectangular piece of furniture, possibly a desk or shelf, resting on a patterned carpet with a few scattered fabric scraps nearby.">
            <a:extLst>
              <a:ext uri="{FF2B5EF4-FFF2-40B4-BE49-F238E27FC236}">
                <a16:creationId xmlns:a16="http://schemas.microsoft.com/office/drawing/2014/main" id="{2B7CD62D-6348-4C50-4F1E-F52677B2E6DA}"/>
              </a:ext>
            </a:extLst>
          </p:cNvPr>
          <p:cNvPicPr>
            <a:picLocks noChangeAspect="1"/>
          </p:cNvPicPr>
          <p:nvPr/>
        </p:nvPicPr>
        <p:blipFill>
          <a:blip r:embed="rId9"/>
          <a:srcRect l="23494" t="18612" r="28325" b="16104"/>
          <a:stretch>
            <a:fillRect/>
          </a:stretch>
        </p:blipFill>
        <p:spPr>
          <a:xfrm>
            <a:off x="576072" y="1606526"/>
            <a:ext cx="5047487" cy="2101366"/>
          </a:xfrm>
          <a:prstGeom prst="rect">
            <a:avLst/>
          </a:prstGeom>
        </p:spPr>
      </p:pic>
      <p:pic>
        <p:nvPicPr>
          <p:cNvPr id="7" name="Picture 6" descr="The image shows a white, rectangular plastic structure lying flat on a patterned carpeted floor.&#10;&#10;AI-generated content may be incorrect.">
            <a:extLst>
              <a:ext uri="{FF2B5EF4-FFF2-40B4-BE49-F238E27FC236}">
                <a16:creationId xmlns:a16="http://schemas.microsoft.com/office/drawing/2014/main" id="{B31C5E51-FD00-4342-13F3-2A959BDD17D3}"/>
              </a:ext>
            </a:extLst>
          </p:cNvPr>
          <p:cNvPicPr>
            <a:picLocks noChangeAspect="1"/>
          </p:cNvPicPr>
          <p:nvPr/>
        </p:nvPicPr>
        <p:blipFill>
          <a:blip r:embed="rId10"/>
          <a:srcRect l="17223" t="9297" r="24652" b="21573"/>
          <a:stretch>
            <a:fillRect/>
          </a:stretch>
        </p:blipFill>
        <p:spPr>
          <a:xfrm>
            <a:off x="576072" y="3970730"/>
            <a:ext cx="5001768" cy="20313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6F8FB"/>
        </a:solidFill>
        <a:effectLst/>
      </p:bgPr>
    </p:bg>
    <p:spTree>
      <p:nvGrpSpPr>
        <p:cNvPr id="1" name=""/>
        <p:cNvGrpSpPr/>
        <p:nvPr/>
      </p:nvGrpSpPr>
      <p:grpSpPr>
        <a:xfrm>
          <a:off x="0" y="0"/>
          <a:ext cx="0" cy="0"/>
          <a:chOff x="0" y="0"/>
          <a:chExt cx="0" cy="0"/>
        </a:xfrm>
      </p:grpSpPr>
      <p:sp>
        <p:nvSpPr>
          <p:cNvPr id="300" name="LeftBg"/>
          <p:cNvSpPr/>
          <p:nvPr/>
        </p:nvSpPr>
        <p:spPr>
          <a:xfrm>
            <a:off x="101600" y="787400"/>
            <a:ext cx="4699000" cy="5943600"/>
          </a:xfrm>
          <a:prstGeom prst="roundRect">
            <a:avLst>
              <a:gd name="adj" fmla="val 3000"/>
            </a:avLst>
          </a:prstGeom>
          <a:solidFill>
            <a:srgbClr val="F4F7FB"/>
          </a:solidFill>
          <a:ln w="9525">
            <a:solidFill>
              <a:srgbClr val="DDE5F0"/>
            </a:solidFill>
          </a:ln>
        </p:spPr>
        <p:txBody>
          <a:bodyPr/>
          <a:lstStyle/>
          <a:p>
            <a:endParaRPr/>
          </a:p>
        </p:txBody>
      </p:sp>
      <p:sp>
        <p:nvSpPr>
          <p:cNvPr id="10" name="Shape 8"/>
          <p:cNvSpPr/>
          <p:nvPr/>
        </p:nvSpPr>
        <p:spPr>
          <a:xfrm>
            <a:off x="177800" y="939800"/>
            <a:ext cx="4495800" cy="723900"/>
          </a:xfrm>
          <a:prstGeom prst="roundRect">
            <a:avLst>
              <a:gd name="adj" fmla="val 10294"/>
            </a:avLst>
          </a:prstGeom>
          <a:solidFill>
            <a:srgbClr val="FFFFFF"/>
          </a:solidFill>
          <a:ln w="12700">
            <a:solidFill>
              <a:srgbClr val="E2E8F0"/>
            </a:solidFill>
            <a:prstDash val="solid"/>
          </a:ln>
        </p:spPr>
        <p:txBody>
          <a:bodyPr/>
          <a:lstStyle/>
          <a:p>
            <a:endParaRPr lang="en-IN"/>
          </a:p>
        </p:txBody>
      </p:sp>
      <p:sp>
        <p:nvSpPr>
          <p:cNvPr id="11" name="Shape 9"/>
          <p:cNvSpPr/>
          <p:nvPr/>
        </p:nvSpPr>
        <p:spPr>
          <a:xfrm>
            <a:off x="279400" y="1104900"/>
            <a:ext cx="393700" cy="393700"/>
          </a:xfrm>
          <a:prstGeom prst="ellipse">
            <a:avLst/>
          </a:prstGeom>
          <a:solidFill>
            <a:srgbClr val="0E96AC"/>
          </a:solidFill>
          <a:ln/>
        </p:spPr>
        <p:txBody>
          <a:bodyPr/>
          <a:lstStyle/>
          <a:p>
            <a:endParaRPr lang="en-IN"/>
          </a:p>
        </p:txBody>
      </p:sp>
      <p:pic>
        <p:nvPicPr>
          <p:cNvPr id="12" name="Image 0" descr="preencoded.png"/>
          <p:cNvPicPr>
            <a:picLocks noChangeAspect="1"/>
          </p:cNvPicPr>
          <p:nvPr/>
        </p:nvPicPr>
        <p:blipFill>
          <a:blip r:embed="rId3"/>
          <a:stretch>
            <a:fillRect/>
          </a:stretch>
        </p:blipFill>
        <p:spPr>
          <a:xfrm>
            <a:off x="381000" y="1206500"/>
            <a:ext cx="190500" cy="190500"/>
          </a:xfrm>
          <a:prstGeom prst="rect">
            <a:avLst/>
          </a:prstGeom>
        </p:spPr>
      </p:pic>
      <p:sp>
        <p:nvSpPr>
          <p:cNvPr id="13" name="Text 10"/>
          <p:cNvSpPr/>
          <p:nvPr/>
        </p:nvSpPr>
        <p:spPr>
          <a:xfrm>
            <a:off x="762000" y="1041400"/>
            <a:ext cx="3390900" cy="520700"/>
          </a:xfrm>
          <a:prstGeom prst="rect">
            <a:avLst/>
          </a:prstGeom>
          <a:noFill/>
          <a:ln/>
        </p:spPr>
        <p:txBody>
          <a:bodyPr wrap="square" lIns="0" tIns="0" rIns="0" bIns="0" rtlCol="0" anchor="ctr"/>
          <a:lstStyle/>
          <a:p>
            <a:pPr marL="0" indent="0">
              <a:buNone/>
            </a:pPr>
            <a:r>
              <a:rPr lang="en-US" sz="1250" dirty="0">
                <a:solidFill>
                  <a:srgbClr val="16223A"/>
                </a:solidFill>
                <a:latin typeface="Calibri" pitchFamily="34" charset="0"/>
                <a:ea typeface="Calibri" pitchFamily="34" charset="-122"/>
                <a:cs typeface="Calibri" pitchFamily="34" charset="-120"/>
              </a:rPr>
              <a:t>Raspberry Pi 5 received &amp; configured</a:t>
            </a:r>
            <a:endParaRPr lang="en-US" sz="1250" dirty="0"/>
          </a:p>
        </p:txBody>
      </p:sp>
      <p:pic>
        <p:nvPicPr>
          <p:cNvPr id="14" name="Image 1" descr="preencoded.png"/>
          <p:cNvPicPr>
            <a:picLocks noChangeAspect="1"/>
          </p:cNvPicPr>
          <p:nvPr/>
        </p:nvPicPr>
        <p:blipFill>
          <a:blip r:embed="rId4"/>
          <a:stretch>
            <a:fillRect/>
          </a:stretch>
        </p:blipFill>
        <p:spPr>
          <a:xfrm>
            <a:off x="4368800" y="1193800"/>
            <a:ext cx="215900" cy="215900"/>
          </a:xfrm>
          <a:prstGeom prst="rect">
            <a:avLst/>
          </a:prstGeom>
        </p:spPr>
      </p:pic>
      <p:sp>
        <p:nvSpPr>
          <p:cNvPr id="15" name="Shape 11"/>
          <p:cNvSpPr/>
          <p:nvPr/>
        </p:nvSpPr>
        <p:spPr>
          <a:xfrm>
            <a:off x="177800" y="1854200"/>
            <a:ext cx="4495800" cy="723900"/>
          </a:xfrm>
          <a:prstGeom prst="roundRect">
            <a:avLst>
              <a:gd name="adj" fmla="val 10294"/>
            </a:avLst>
          </a:prstGeom>
          <a:solidFill>
            <a:srgbClr val="FFFFFF"/>
          </a:solidFill>
          <a:ln w="12700">
            <a:solidFill>
              <a:srgbClr val="E2E8F0"/>
            </a:solidFill>
            <a:prstDash val="solid"/>
          </a:ln>
        </p:spPr>
        <p:txBody>
          <a:bodyPr/>
          <a:lstStyle/>
          <a:p>
            <a:endParaRPr lang="en-IN"/>
          </a:p>
        </p:txBody>
      </p:sp>
      <p:sp>
        <p:nvSpPr>
          <p:cNvPr id="16" name="Shape 12"/>
          <p:cNvSpPr/>
          <p:nvPr/>
        </p:nvSpPr>
        <p:spPr>
          <a:xfrm>
            <a:off x="279400" y="2019300"/>
            <a:ext cx="393700" cy="393700"/>
          </a:xfrm>
          <a:prstGeom prst="ellipse">
            <a:avLst/>
          </a:prstGeom>
          <a:solidFill>
            <a:srgbClr val="0E96AC"/>
          </a:solidFill>
          <a:ln/>
        </p:spPr>
        <p:txBody>
          <a:bodyPr/>
          <a:lstStyle/>
          <a:p>
            <a:endParaRPr lang="en-IN"/>
          </a:p>
        </p:txBody>
      </p:sp>
      <p:pic>
        <p:nvPicPr>
          <p:cNvPr id="17" name="Image 2" descr="preencoded.png"/>
          <p:cNvPicPr>
            <a:picLocks noChangeAspect="1"/>
          </p:cNvPicPr>
          <p:nvPr/>
        </p:nvPicPr>
        <p:blipFill>
          <a:blip r:embed="rId5"/>
          <a:stretch>
            <a:fillRect/>
          </a:stretch>
        </p:blipFill>
        <p:spPr>
          <a:xfrm>
            <a:off x="381000" y="2120900"/>
            <a:ext cx="190500" cy="190500"/>
          </a:xfrm>
          <a:prstGeom prst="rect">
            <a:avLst/>
          </a:prstGeom>
        </p:spPr>
      </p:pic>
      <p:sp>
        <p:nvSpPr>
          <p:cNvPr id="18" name="Text 13"/>
          <p:cNvSpPr/>
          <p:nvPr/>
        </p:nvSpPr>
        <p:spPr>
          <a:xfrm>
            <a:off x="762000" y="1955800"/>
            <a:ext cx="3390900" cy="520700"/>
          </a:xfrm>
          <a:prstGeom prst="rect">
            <a:avLst/>
          </a:prstGeom>
          <a:noFill/>
          <a:ln/>
        </p:spPr>
        <p:txBody>
          <a:bodyPr wrap="square" lIns="0" tIns="0" rIns="0" bIns="0" rtlCol="0" anchor="ctr"/>
          <a:lstStyle/>
          <a:p>
            <a:pPr marL="0" indent="0">
              <a:buNone/>
            </a:pPr>
            <a:r>
              <a:rPr lang="en-US" sz="1250" dirty="0">
                <a:solidFill>
                  <a:srgbClr val="16223A"/>
                </a:solidFill>
                <a:latin typeface="Calibri" pitchFamily="34" charset="0"/>
                <a:ea typeface="Calibri" pitchFamily="34" charset="-122"/>
                <a:cs typeface="Calibri" pitchFamily="34" charset="-120"/>
              </a:rPr>
              <a:t>Raspberry Pi OS installation completed</a:t>
            </a:r>
            <a:endParaRPr lang="en-US" sz="1250" dirty="0"/>
          </a:p>
        </p:txBody>
      </p:sp>
      <p:pic>
        <p:nvPicPr>
          <p:cNvPr id="19" name="Image 3" descr="preencoded.png"/>
          <p:cNvPicPr>
            <a:picLocks noChangeAspect="1"/>
          </p:cNvPicPr>
          <p:nvPr/>
        </p:nvPicPr>
        <p:blipFill>
          <a:blip r:embed="rId4"/>
          <a:stretch>
            <a:fillRect/>
          </a:stretch>
        </p:blipFill>
        <p:spPr>
          <a:xfrm>
            <a:off x="4368800" y="2108200"/>
            <a:ext cx="215900" cy="215900"/>
          </a:xfrm>
          <a:prstGeom prst="rect">
            <a:avLst/>
          </a:prstGeom>
        </p:spPr>
      </p:pic>
      <p:sp>
        <p:nvSpPr>
          <p:cNvPr id="20" name="Shape 14"/>
          <p:cNvSpPr/>
          <p:nvPr/>
        </p:nvSpPr>
        <p:spPr>
          <a:xfrm>
            <a:off x="177800" y="2768600"/>
            <a:ext cx="4495800" cy="723900"/>
          </a:xfrm>
          <a:prstGeom prst="roundRect">
            <a:avLst>
              <a:gd name="adj" fmla="val 10294"/>
            </a:avLst>
          </a:prstGeom>
          <a:solidFill>
            <a:srgbClr val="FFFFFF"/>
          </a:solidFill>
          <a:ln w="12700">
            <a:solidFill>
              <a:srgbClr val="E2E8F0"/>
            </a:solidFill>
            <a:prstDash val="solid"/>
          </a:ln>
        </p:spPr>
        <p:txBody>
          <a:bodyPr/>
          <a:lstStyle/>
          <a:p>
            <a:endParaRPr lang="en-IN"/>
          </a:p>
        </p:txBody>
      </p:sp>
      <p:sp>
        <p:nvSpPr>
          <p:cNvPr id="21" name="Shape 15"/>
          <p:cNvSpPr/>
          <p:nvPr/>
        </p:nvSpPr>
        <p:spPr>
          <a:xfrm>
            <a:off x="279400" y="2933700"/>
            <a:ext cx="393700" cy="393700"/>
          </a:xfrm>
          <a:prstGeom prst="ellipse">
            <a:avLst/>
          </a:prstGeom>
          <a:solidFill>
            <a:srgbClr val="0E96AC"/>
          </a:solidFill>
          <a:ln/>
        </p:spPr>
        <p:txBody>
          <a:bodyPr/>
          <a:lstStyle/>
          <a:p>
            <a:endParaRPr lang="en-IN"/>
          </a:p>
        </p:txBody>
      </p:sp>
      <p:pic>
        <p:nvPicPr>
          <p:cNvPr id="22" name="Image 4" descr="preencoded.png"/>
          <p:cNvPicPr>
            <a:picLocks noChangeAspect="1"/>
          </p:cNvPicPr>
          <p:nvPr/>
        </p:nvPicPr>
        <p:blipFill>
          <a:blip r:embed="rId6"/>
          <a:stretch>
            <a:fillRect/>
          </a:stretch>
        </p:blipFill>
        <p:spPr>
          <a:xfrm>
            <a:off x="381000" y="3035300"/>
            <a:ext cx="190500" cy="190500"/>
          </a:xfrm>
          <a:prstGeom prst="rect">
            <a:avLst/>
          </a:prstGeom>
        </p:spPr>
      </p:pic>
      <p:sp>
        <p:nvSpPr>
          <p:cNvPr id="23" name="Text 16"/>
          <p:cNvSpPr/>
          <p:nvPr/>
        </p:nvSpPr>
        <p:spPr>
          <a:xfrm>
            <a:off x="762000" y="2870200"/>
            <a:ext cx="3390900" cy="520700"/>
          </a:xfrm>
          <a:prstGeom prst="rect">
            <a:avLst/>
          </a:prstGeom>
          <a:noFill/>
          <a:ln/>
        </p:spPr>
        <p:txBody>
          <a:bodyPr wrap="square" lIns="0" tIns="0" rIns="0" bIns="0" rtlCol="0" anchor="ctr"/>
          <a:lstStyle/>
          <a:p>
            <a:pPr marL="0" indent="0">
              <a:buNone/>
            </a:pPr>
            <a:r>
              <a:rPr lang="en-US" sz="1250" dirty="0">
                <a:solidFill>
                  <a:srgbClr val="16223A"/>
                </a:solidFill>
                <a:latin typeface="Calibri" pitchFamily="34" charset="0"/>
                <a:ea typeface="Calibri" pitchFamily="34" charset="-122"/>
                <a:cs typeface="Calibri" pitchFamily="34" charset="-120"/>
              </a:rPr>
              <a:t>Wi-Fi connectivity established</a:t>
            </a:r>
            <a:endParaRPr lang="en-US" sz="1250" dirty="0"/>
          </a:p>
        </p:txBody>
      </p:sp>
      <p:pic>
        <p:nvPicPr>
          <p:cNvPr id="24" name="Image 5" descr="preencoded.png"/>
          <p:cNvPicPr>
            <a:picLocks noChangeAspect="1"/>
          </p:cNvPicPr>
          <p:nvPr/>
        </p:nvPicPr>
        <p:blipFill>
          <a:blip r:embed="rId4"/>
          <a:stretch>
            <a:fillRect/>
          </a:stretch>
        </p:blipFill>
        <p:spPr>
          <a:xfrm>
            <a:off x="4368800" y="3022600"/>
            <a:ext cx="215900" cy="215900"/>
          </a:xfrm>
          <a:prstGeom prst="rect">
            <a:avLst/>
          </a:prstGeom>
        </p:spPr>
      </p:pic>
      <p:sp>
        <p:nvSpPr>
          <p:cNvPr id="25" name="Shape 17"/>
          <p:cNvSpPr/>
          <p:nvPr/>
        </p:nvSpPr>
        <p:spPr>
          <a:xfrm>
            <a:off x="177800" y="3683000"/>
            <a:ext cx="4495800" cy="723900"/>
          </a:xfrm>
          <a:prstGeom prst="roundRect">
            <a:avLst>
              <a:gd name="adj" fmla="val 10294"/>
            </a:avLst>
          </a:prstGeom>
          <a:solidFill>
            <a:srgbClr val="FFFFFF"/>
          </a:solidFill>
          <a:ln w="12700">
            <a:solidFill>
              <a:srgbClr val="E2E8F0"/>
            </a:solidFill>
            <a:prstDash val="solid"/>
          </a:ln>
        </p:spPr>
        <p:txBody>
          <a:bodyPr/>
          <a:lstStyle/>
          <a:p>
            <a:endParaRPr lang="en-IN"/>
          </a:p>
        </p:txBody>
      </p:sp>
      <p:sp>
        <p:nvSpPr>
          <p:cNvPr id="26" name="Shape 18"/>
          <p:cNvSpPr/>
          <p:nvPr/>
        </p:nvSpPr>
        <p:spPr>
          <a:xfrm>
            <a:off x="279400" y="3848100"/>
            <a:ext cx="393700" cy="393700"/>
          </a:xfrm>
          <a:prstGeom prst="ellipse">
            <a:avLst/>
          </a:prstGeom>
          <a:solidFill>
            <a:srgbClr val="0E96AC"/>
          </a:solidFill>
          <a:ln/>
        </p:spPr>
        <p:txBody>
          <a:bodyPr/>
          <a:lstStyle/>
          <a:p>
            <a:endParaRPr lang="en-IN"/>
          </a:p>
        </p:txBody>
      </p:sp>
      <p:pic>
        <p:nvPicPr>
          <p:cNvPr id="27" name="Image 6" descr="preencoded.png"/>
          <p:cNvPicPr>
            <a:picLocks noChangeAspect="1"/>
          </p:cNvPicPr>
          <p:nvPr/>
        </p:nvPicPr>
        <p:blipFill>
          <a:blip r:embed="rId7"/>
          <a:stretch>
            <a:fillRect/>
          </a:stretch>
        </p:blipFill>
        <p:spPr>
          <a:xfrm>
            <a:off x="381000" y="3949700"/>
            <a:ext cx="190500" cy="190500"/>
          </a:xfrm>
          <a:prstGeom prst="rect">
            <a:avLst/>
          </a:prstGeom>
        </p:spPr>
      </p:pic>
      <p:sp>
        <p:nvSpPr>
          <p:cNvPr id="28" name="Text 19"/>
          <p:cNvSpPr/>
          <p:nvPr/>
        </p:nvSpPr>
        <p:spPr>
          <a:xfrm>
            <a:off x="762000" y="3784600"/>
            <a:ext cx="3390900" cy="520700"/>
          </a:xfrm>
          <a:prstGeom prst="rect">
            <a:avLst/>
          </a:prstGeom>
          <a:noFill/>
          <a:ln/>
        </p:spPr>
        <p:txBody>
          <a:bodyPr wrap="square" lIns="0" tIns="0" rIns="0" bIns="0" rtlCol="0" anchor="ctr"/>
          <a:lstStyle/>
          <a:p>
            <a:pPr marL="0" indent="0">
              <a:buNone/>
            </a:pPr>
            <a:r>
              <a:rPr lang="en-US" sz="1250" dirty="0">
                <a:solidFill>
                  <a:srgbClr val="16223A"/>
                </a:solidFill>
                <a:latin typeface="Calibri" pitchFamily="34" charset="0"/>
                <a:ea typeface="Calibri" pitchFamily="34" charset="-122"/>
                <a:cs typeface="Calibri" pitchFamily="34" charset="-120"/>
              </a:rPr>
              <a:t>SSH &amp; remote access explored</a:t>
            </a:r>
            <a:endParaRPr lang="en-US" sz="1250" dirty="0"/>
          </a:p>
        </p:txBody>
      </p:sp>
      <p:pic>
        <p:nvPicPr>
          <p:cNvPr id="29" name="Image 7" descr="preencoded.png"/>
          <p:cNvPicPr>
            <a:picLocks noChangeAspect="1"/>
          </p:cNvPicPr>
          <p:nvPr/>
        </p:nvPicPr>
        <p:blipFill>
          <a:blip r:embed="rId4"/>
          <a:stretch>
            <a:fillRect/>
          </a:stretch>
        </p:blipFill>
        <p:spPr>
          <a:xfrm>
            <a:off x="4368800" y="3937000"/>
            <a:ext cx="215900" cy="215900"/>
          </a:xfrm>
          <a:prstGeom prst="rect">
            <a:avLst/>
          </a:prstGeom>
        </p:spPr>
      </p:pic>
      <p:sp>
        <p:nvSpPr>
          <p:cNvPr id="30" name="Shape 20"/>
          <p:cNvSpPr/>
          <p:nvPr/>
        </p:nvSpPr>
        <p:spPr>
          <a:xfrm>
            <a:off x="177800" y="4597400"/>
            <a:ext cx="4495800" cy="723900"/>
          </a:xfrm>
          <a:prstGeom prst="roundRect">
            <a:avLst>
              <a:gd name="adj" fmla="val 10294"/>
            </a:avLst>
          </a:prstGeom>
          <a:solidFill>
            <a:srgbClr val="FFFFFF"/>
          </a:solidFill>
          <a:ln w="12700">
            <a:solidFill>
              <a:srgbClr val="E2E8F0"/>
            </a:solidFill>
            <a:prstDash val="solid"/>
          </a:ln>
        </p:spPr>
        <p:txBody>
          <a:bodyPr/>
          <a:lstStyle/>
          <a:p>
            <a:endParaRPr lang="en-IN"/>
          </a:p>
        </p:txBody>
      </p:sp>
      <p:sp>
        <p:nvSpPr>
          <p:cNvPr id="31" name="Shape 21"/>
          <p:cNvSpPr/>
          <p:nvPr/>
        </p:nvSpPr>
        <p:spPr>
          <a:xfrm>
            <a:off x="279400" y="4762500"/>
            <a:ext cx="393700" cy="393700"/>
          </a:xfrm>
          <a:prstGeom prst="ellipse">
            <a:avLst/>
          </a:prstGeom>
          <a:solidFill>
            <a:srgbClr val="0E96AC"/>
          </a:solidFill>
          <a:ln/>
        </p:spPr>
        <p:txBody>
          <a:bodyPr/>
          <a:lstStyle/>
          <a:p>
            <a:endParaRPr lang="en-IN"/>
          </a:p>
        </p:txBody>
      </p:sp>
      <p:pic>
        <p:nvPicPr>
          <p:cNvPr id="32" name="Image 8" descr="preencoded.png"/>
          <p:cNvPicPr>
            <a:picLocks noChangeAspect="1"/>
          </p:cNvPicPr>
          <p:nvPr/>
        </p:nvPicPr>
        <p:blipFill>
          <a:blip r:embed="rId8"/>
          <a:stretch>
            <a:fillRect/>
          </a:stretch>
        </p:blipFill>
        <p:spPr>
          <a:xfrm>
            <a:off x="381000" y="4864100"/>
            <a:ext cx="190500" cy="190500"/>
          </a:xfrm>
          <a:prstGeom prst="rect">
            <a:avLst/>
          </a:prstGeom>
        </p:spPr>
      </p:pic>
      <p:sp>
        <p:nvSpPr>
          <p:cNvPr id="33" name="Text 22"/>
          <p:cNvSpPr/>
          <p:nvPr/>
        </p:nvSpPr>
        <p:spPr>
          <a:xfrm>
            <a:off x="762000" y="4699000"/>
            <a:ext cx="3390900" cy="520700"/>
          </a:xfrm>
          <a:prstGeom prst="rect">
            <a:avLst/>
          </a:prstGeom>
          <a:noFill/>
          <a:ln/>
        </p:spPr>
        <p:txBody>
          <a:bodyPr wrap="square" lIns="0" tIns="0" rIns="0" bIns="0" rtlCol="0" anchor="ctr"/>
          <a:lstStyle/>
          <a:p>
            <a:pPr marL="0" indent="0">
              <a:buNone/>
            </a:pPr>
            <a:r>
              <a:rPr lang="en-US" sz="1250" dirty="0">
                <a:solidFill>
                  <a:srgbClr val="16223A"/>
                </a:solidFill>
                <a:latin typeface="Calibri" pitchFamily="34" charset="0"/>
                <a:ea typeface="Calibri" pitchFamily="34" charset="-122"/>
                <a:cs typeface="Calibri" pitchFamily="34" charset="-120"/>
              </a:rPr>
              <a:t>Basic GPIO &amp; intro projects performed</a:t>
            </a:r>
            <a:endParaRPr lang="en-US" sz="1250" dirty="0"/>
          </a:p>
        </p:txBody>
      </p:sp>
      <p:pic>
        <p:nvPicPr>
          <p:cNvPr id="34" name="Image 9" descr="preencoded.png"/>
          <p:cNvPicPr>
            <a:picLocks noChangeAspect="1"/>
          </p:cNvPicPr>
          <p:nvPr/>
        </p:nvPicPr>
        <p:blipFill>
          <a:blip r:embed="rId4"/>
          <a:stretch>
            <a:fillRect/>
          </a:stretch>
        </p:blipFill>
        <p:spPr>
          <a:xfrm>
            <a:off x="4368800" y="4851400"/>
            <a:ext cx="215900" cy="215900"/>
          </a:xfrm>
          <a:prstGeom prst="rect">
            <a:avLst/>
          </a:prstGeom>
        </p:spPr>
      </p:pic>
      <p:sp>
        <p:nvSpPr>
          <p:cNvPr id="35" name="Shape 23"/>
          <p:cNvSpPr/>
          <p:nvPr/>
        </p:nvSpPr>
        <p:spPr>
          <a:xfrm>
            <a:off x="177800" y="5511800"/>
            <a:ext cx="4495800" cy="723900"/>
          </a:xfrm>
          <a:prstGeom prst="roundRect">
            <a:avLst>
              <a:gd name="adj" fmla="val 10294"/>
            </a:avLst>
          </a:prstGeom>
          <a:solidFill>
            <a:srgbClr val="FFFFFF"/>
          </a:solidFill>
          <a:ln w="12700">
            <a:solidFill>
              <a:srgbClr val="E2E8F0"/>
            </a:solidFill>
            <a:prstDash val="solid"/>
          </a:ln>
        </p:spPr>
        <p:txBody>
          <a:bodyPr/>
          <a:lstStyle/>
          <a:p>
            <a:endParaRPr lang="en-IN"/>
          </a:p>
        </p:txBody>
      </p:sp>
      <p:sp>
        <p:nvSpPr>
          <p:cNvPr id="36" name="Shape 24"/>
          <p:cNvSpPr/>
          <p:nvPr/>
        </p:nvSpPr>
        <p:spPr>
          <a:xfrm>
            <a:off x="279400" y="5676900"/>
            <a:ext cx="393700" cy="393700"/>
          </a:xfrm>
          <a:prstGeom prst="ellipse">
            <a:avLst/>
          </a:prstGeom>
          <a:solidFill>
            <a:srgbClr val="0E96AC"/>
          </a:solidFill>
          <a:ln/>
        </p:spPr>
        <p:txBody>
          <a:bodyPr/>
          <a:lstStyle/>
          <a:p>
            <a:endParaRPr lang="en-IN"/>
          </a:p>
        </p:txBody>
      </p:sp>
      <p:pic>
        <p:nvPicPr>
          <p:cNvPr id="37" name="Image 10" descr="preencoded.png"/>
          <p:cNvPicPr>
            <a:picLocks noChangeAspect="1"/>
          </p:cNvPicPr>
          <p:nvPr/>
        </p:nvPicPr>
        <p:blipFill>
          <a:blip r:embed="rId9"/>
          <a:stretch>
            <a:fillRect/>
          </a:stretch>
        </p:blipFill>
        <p:spPr>
          <a:xfrm>
            <a:off x="381000" y="5778500"/>
            <a:ext cx="190500" cy="190500"/>
          </a:xfrm>
          <a:prstGeom prst="rect">
            <a:avLst/>
          </a:prstGeom>
        </p:spPr>
      </p:pic>
      <p:sp>
        <p:nvSpPr>
          <p:cNvPr id="38" name="Text 25"/>
          <p:cNvSpPr/>
          <p:nvPr/>
        </p:nvSpPr>
        <p:spPr>
          <a:xfrm>
            <a:off x="762000" y="5613400"/>
            <a:ext cx="3390900" cy="520700"/>
          </a:xfrm>
          <a:prstGeom prst="rect">
            <a:avLst/>
          </a:prstGeom>
          <a:noFill/>
          <a:ln/>
        </p:spPr>
        <p:txBody>
          <a:bodyPr wrap="square" lIns="0" tIns="0" rIns="0" bIns="0" rtlCol="0" anchor="ctr"/>
          <a:lstStyle/>
          <a:p>
            <a:pPr marL="0" indent="0">
              <a:buNone/>
            </a:pPr>
            <a:r>
              <a:rPr lang="en-US" sz="1250" dirty="0">
                <a:solidFill>
                  <a:srgbClr val="16223A"/>
                </a:solidFill>
                <a:latin typeface="Calibri" pitchFamily="34" charset="0"/>
                <a:ea typeface="Calibri" pitchFamily="34" charset="-122"/>
                <a:cs typeface="Calibri" pitchFamily="34" charset="-120"/>
              </a:rPr>
              <a:t>Linux environment &amp; Python familiarity</a:t>
            </a:r>
            <a:endParaRPr lang="en-US" sz="1250" dirty="0"/>
          </a:p>
        </p:txBody>
      </p:sp>
      <p:pic>
        <p:nvPicPr>
          <p:cNvPr id="39" name="Image 11" descr="preencoded.png"/>
          <p:cNvPicPr>
            <a:picLocks noChangeAspect="1"/>
          </p:cNvPicPr>
          <p:nvPr/>
        </p:nvPicPr>
        <p:blipFill>
          <a:blip r:embed="rId4"/>
          <a:stretch>
            <a:fillRect/>
          </a:stretch>
        </p:blipFill>
        <p:spPr>
          <a:xfrm>
            <a:off x="4368800" y="5765800"/>
            <a:ext cx="215900" cy="215900"/>
          </a:xfrm>
          <a:prstGeom prst="rect">
            <a:avLst/>
          </a:prstGeom>
        </p:spPr>
      </p:pic>
      <p:sp>
        <p:nvSpPr>
          <p:cNvPr id="310" name="Card0"/>
          <p:cNvSpPr/>
          <p:nvPr/>
        </p:nvSpPr>
        <p:spPr>
          <a:xfrm>
            <a:off x="5080000" y="1003300"/>
            <a:ext cx="3251200" cy="1828800"/>
          </a:xfrm>
          <a:prstGeom prst="roundRect">
            <a:avLst>
              <a:gd name="adj" fmla="val 5000"/>
            </a:avLst>
          </a:prstGeom>
          <a:solidFill>
            <a:srgbClr val="FFFFFF"/>
          </a:solidFill>
          <a:ln w="19050">
            <a:solidFill>
              <a:srgbClr val="C5D5E8"/>
            </a:solidFill>
          </a:ln>
          <a:effectLst>
            <a:outerShdw blurRad="38100" dist="25400" dir="5400000" algn="ctr" rotWithShape="0">
              <a:srgbClr val="607090">
                <a:alpha val="22000"/>
              </a:srgbClr>
            </a:outerShdw>
          </a:effectLst>
        </p:spPr>
        <p:txBody>
          <a:bodyPr/>
          <a:lstStyle/>
          <a:p>
            <a:endParaRPr/>
          </a:p>
        </p:txBody>
      </p:sp>
      <p:sp>
        <p:nvSpPr>
          <p:cNvPr id="311" name="Card1"/>
          <p:cNvSpPr/>
          <p:nvPr/>
        </p:nvSpPr>
        <p:spPr>
          <a:xfrm>
            <a:off x="8458200" y="1003300"/>
            <a:ext cx="3251200" cy="1828800"/>
          </a:xfrm>
          <a:prstGeom prst="roundRect">
            <a:avLst>
              <a:gd name="adj" fmla="val 5000"/>
            </a:avLst>
          </a:prstGeom>
          <a:solidFill>
            <a:srgbClr val="FFFFFF"/>
          </a:solidFill>
          <a:ln w="19050">
            <a:solidFill>
              <a:srgbClr val="C5D5E8"/>
            </a:solidFill>
          </a:ln>
          <a:effectLst>
            <a:outerShdw blurRad="38100" dist="25400" dir="5400000" algn="ctr" rotWithShape="0">
              <a:srgbClr val="607090">
                <a:alpha val="22000"/>
              </a:srgbClr>
            </a:outerShdw>
          </a:effectLst>
        </p:spPr>
        <p:txBody>
          <a:bodyPr/>
          <a:lstStyle/>
          <a:p>
            <a:endParaRPr/>
          </a:p>
        </p:txBody>
      </p:sp>
      <p:sp>
        <p:nvSpPr>
          <p:cNvPr id="312" name="Card2"/>
          <p:cNvSpPr/>
          <p:nvPr/>
        </p:nvSpPr>
        <p:spPr>
          <a:xfrm>
            <a:off x="5080000" y="3162300"/>
            <a:ext cx="3251200" cy="1828800"/>
          </a:xfrm>
          <a:prstGeom prst="roundRect">
            <a:avLst>
              <a:gd name="adj" fmla="val 5000"/>
            </a:avLst>
          </a:prstGeom>
          <a:solidFill>
            <a:srgbClr val="FFFFFF"/>
          </a:solidFill>
          <a:ln w="19050">
            <a:solidFill>
              <a:srgbClr val="C5D5E8"/>
            </a:solidFill>
          </a:ln>
          <a:effectLst>
            <a:outerShdw blurRad="38100" dist="25400" dir="5400000" algn="ctr" rotWithShape="0">
              <a:srgbClr val="607090">
                <a:alpha val="22000"/>
              </a:srgbClr>
            </a:outerShdw>
          </a:effectLst>
        </p:spPr>
        <p:txBody>
          <a:bodyPr/>
          <a:lstStyle/>
          <a:p>
            <a:endParaRPr/>
          </a:p>
        </p:txBody>
      </p:sp>
      <p:sp>
        <p:nvSpPr>
          <p:cNvPr id="313" name="Card3"/>
          <p:cNvSpPr/>
          <p:nvPr/>
        </p:nvSpPr>
        <p:spPr>
          <a:xfrm>
            <a:off x="8458200" y="3162300"/>
            <a:ext cx="3251200" cy="1828800"/>
          </a:xfrm>
          <a:prstGeom prst="roundRect">
            <a:avLst>
              <a:gd name="adj" fmla="val 5000"/>
            </a:avLst>
          </a:prstGeom>
          <a:solidFill>
            <a:srgbClr val="FFFFFF"/>
          </a:solidFill>
          <a:ln w="19050">
            <a:solidFill>
              <a:srgbClr val="C5D5E8"/>
            </a:solidFill>
          </a:ln>
          <a:effectLst>
            <a:outerShdw blurRad="38100" dist="25400" dir="5400000" algn="ctr" rotWithShape="0">
              <a:srgbClr val="607090">
                <a:alpha val="22000"/>
              </a:srgbClr>
            </a:outerShdw>
          </a:effectLst>
        </p:spPr>
        <p:txBody>
          <a:bodyPr/>
          <a:lstStyle/>
          <a:p>
            <a:endParaRPr/>
          </a:p>
        </p:txBody>
      </p:sp>
      <p:pic>
        <p:nvPicPr>
          <p:cNvPr id="46" name="Picture 45" descr="The image shows a schematic diagram of the Raspberry Pi GPIO pinout, detailing the connections between various pins and components such as power, ground, and communication interfaces.&#10;&#10;AI-generated content may be incorrect.">
            <a:extLst>
              <a:ext uri="{FF2B5EF4-FFF2-40B4-BE49-F238E27FC236}">
                <a16:creationId xmlns:a16="http://schemas.microsoft.com/office/drawing/2014/main" id="{DE1F7E33-CA39-C0EF-A173-4BAD70E88A32}"/>
              </a:ext>
            </a:extLst>
          </p:cNvPr>
          <p:cNvPicPr>
            <a:picLocks noChangeAspect="1"/>
          </p:cNvPicPr>
          <p:nvPr/>
        </p:nvPicPr>
        <p:blipFill>
          <a:blip r:embed="rId10"/>
          <a:srcRect r="60211"/>
          <a:stretch>
            <a:fillRect/>
          </a:stretch>
        </p:blipFill>
        <p:spPr>
          <a:xfrm>
            <a:off x="5105400" y="1028700"/>
            <a:ext cx="3200400" cy="1778000"/>
          </a:xfrm>
          <a:prstGeom prst="rect">
            <a:avLst/>
          </a:prstGeom>
        </p:spPr>
      </p:pic>
      <p:pic>
        <p:nvPicPr>
          <p:cNvPr id="5" name="Picture 4" descr="The image shows a Windows command prompt window, with a user logged into a remote Linux system via SSH, navigating through directories and listing files on a desktop.&#10;&#10;AI-generated content may be incorrect.">
            <a:extLst>
              <a:ext uri="{FF2B5EF4-FFF2-40B4-BE49-F238E27FC236}">
                <a16:creationId xmlns:a16="http://schemas.microsoft.com/office/drawing/2014/main" id="{476EAFDA-9F87-F6F2-3722-50C8B96B4274}"/>
              </a:ext>
            </a:extLst>
          </p:cNvPr>
          <p:cNvPicPr>
            <a:picLocks noChangeAspect="1"/>
          </p:cNvPicPr>
          <p:nvPr/>
        </p:nvPicPr>
        <p:blipFill>
          <a:blip r:embed="rId11"/>
          <a:srcRect b="23740"/>
          <a:stretch>
            <a:fillRect/>
          </a:stretch>
        </p:blipFill>
        <p:spPr>
          <a:xfrm>
            <a:off x="5105400" y="3187700"/>
            <a:ext cx="3200400" cy="1778000"/>
          </a:xfrm>
          <a:prstGeom prst="rect">
            <a:avLst/>
          </a:prstGeom>
        </p:spPr>
      </p:pic>
      <p:pic>
        <p:nvPicPr>
          <p:cNvPr id="7" name="Picture 6" descr="The image shows a purple rectangular device, presumably a Raspberry Pi E, with four black USB ports, placed on a wooden surface.">
            <a:extLst>
              <a:ext uri="{FF2B5EF4-FFF2-40B4-BE49-F238E27FC236}">
                <a16:creationId xmlns:a16="http://schemas.microsoft.com/office/drawing/2014/main" id="{2B20CD64-9A81-0E6C-1B7D-03F8DCC66540}"/>
              </a:ext>
            </a:extLst>
          </p:cNvPr>
          <p:cNvPicPr>
            <a:picLocks noChangeAspect="1"/>
          </p:cNvPicPr>
          <p:nvPr/>
        </p:nvPicPr>
        <p:blipFill>
          <a:blip r:embed="rId12"/>
          <a:srcRect l="19186" t="3630" r="28657" b="6275"/>
          <a:stretch>
            <a:fillRect/>
          </a:stretch>
        </p:blipFill>
        <p:spPr>
          <a:xfrm>
            <a:off x="8483600" y="3187700"/>
            <a:ext cx="3200400" cy="1778000"/>
          </a:xfrm>
          <a:prstGeom prst="rect">
            <a:avLst/>
          </a:prstGeom>
        </p:spPr>
      </p:pic>
      <p:pic>
        <p:nvPicPr>
          <p:cNvPr id="9" name="Picture 8" descr="The image shows a schematic diagram of the Raspberry Pi GPIO pinout, detailing the connections between various pins and components such as power, ground, and communication interfaces.&#10;&#10;AI-generated content may be incorrect.">
            <a:extLst>
              <a:ext uri="{FF2B5EF4-FFF2-40B4-BE49-F238E27FC236}">
                <a16:creationId xmlns:a16="http://schemas.microsoft.com/office/drawing/2014/main" id="{FEAE6426-EE78-D26E-1075-61019A1547A7}"/>
              </a:ext>
            </a:extLst>
          </p:cNvPr>
          <p:cNvPicPr>
            <a:picLocks noChangeAspect="1"/>
          </p:cNvPicPr>
          <p:nvPr/>
        </p:nvPicPr>
        <p:blipFill>
          <a:blip r:embed="rId10"/>
          <a:srcRect l="37886"/>
          <a:stretch>
            <a:fillRect/>
          </a:stretch>
        </p:blipFill>
        <p:spPr>
          <a:xfrm>
            <a:off x="8483600" y="1028700"/>
            <a:ext cx="3200400" cy="1778000"/>
          </a:xfrm>
          <a:prstGeom prst="rect">
            <a:avLst/>
          </a:prstGeom>
        </p:spPr>
      </p:pic>
      <p:sp>
        <p:nvSpPr>
          <p:cNvPr id="301" name="Divider"/>
          <p:cNvSpPr/>
          <p:nvPr/>
        </p:nvSpPr>
        <p:spPr>
          <a:xfrm>
            <a:off x="4864100" y="127000"/>
            <a:ext cx="25400" cy="6629400"/>
          </a:xfrm>
          <a:prstGeom prst="rect">
            <a:avLst/>
          </a:prstGeom>
          <a:solidFill>
            <a:srgbClr val="DDE5F0"/>
          </a:solidFill>
          <a:ln>
            <a:noFill/>
          </a:ln>
        </p:spPr>
        <p:txBody>
          <a:bodyPr/>
          <a:lstStyle/>
          <a:p>
            <a:endParaRPr/>
          </a:p>
        </p:txBody>
      </p:sp>
      <p:sp>
        <p:nvSpPr>
          <p:cNvPr id="330" name="BannerBg"/>
          <p:cNvSpPr/>
          <p:nvPr/>
        </p:nvSpPr>
        <p:spPr>
          <a:xfrm>
            <a:off x="5054600" y="5397500"/>
            <a:ext cx="6680200" cy="381000"/>
          </a:xfrm>
          <a:prstGeom prst="roundRect">
            <a:avLst>
              <a:gd name="adj" fmla="val 10000"/>
            </a:avLst>
          </a:prstGeom>
          <a:solidFill>
            <a:srgbClr val="D4EDDA"/>
          </a:solidFill>
          <a:ln w="12700">
            <a:solidFill>
              <a:srgbClr val="28A745"/>
            </a:solidFill>
          </a:ln>
        </p:spPr>
        <p:txBody>
          <a:bodyPr/>
          <a:lstStyle/>
          <a:p>
            <a:endParaRPr/>
          </a:p>
        </p:txBody>
      </p:sp>
      <p:sp>
        <p:nvSpPr>
          <p:cNvPr id="331" name="BannerText"/>
          <p:cNvSpPr/>
          <p:nvPr/>
        </p:nvSpPr>
        <p:spPr>
          <a:xfrm>
            <a:off x="5105400" y="5473700"/>
            <a:ext cx="6578600" cy="279400"/>
          </a:xfrm>
          <a:prstGeom prst="rect">
            <a:avLst/>
          </a:prstGeom>
          <a:noFill/>
        </p:spPr>
        <p:txBody>
          <a:bodyPr wrap="square" rtlCol="0"/>
          <a:lstStyle/>
          <a:p>
            <a:pPr marL="0" indent="0" algn="ctr">
              <a:buNone/>
            </a:pPr>
            <a:r>
              <a:rPr lang="en-US" sz="1000" b="1" dirty="0">
                <a:solidFill>
                  <a:srgbClr val="0A3D1F"/>
                </a:solidFill>
                <a:latin typeface="Calibri" pitchFamily="34" charset="0"/>
              </a:rPr>
              <a:t>Raspberry Pi Platform Successfully Configured and Tested</a:t>
            </a:r>
          </a:p>
        </p:txBody>
      </p:sp>
      <p:sp>
        <p:nvSpPr>
          <p:cNvPr id="320" name="Cap0"/>
          <p:cNvSpPr/>
          <p:nvPr/>
        </p:nvSpPr>
        <p:spPr>
          <a:xfrm>
            <a:off x="5080000" y="2857500"/>
            <a:ext cx="3251200" cy="203200"/>
          </a:xfrm>
          <a:prstGeom prst="rect">
            <a:avLst/>
          </a:prstGeom>
          <a:noFill/>
        </p:spPr>
        <p:txBody>
          <a:bodyPr wrap="square" rtlCol="0"/>
          <a:lstStyle/>
          <a:p>
            <a:pPr marL="0" indent="0" algn="ctr">
              <a:buNone/>
            </a:pPr>
            <a:r>
              <a:rPr lang="en-US" sz="900" dirty="0">
                <a:solidFill>
                  <a:srgbClr val="4A5568"/>
                </a:solidFill>
                <a:latin typeface="Calibri" pitchFamily="34" charset="0"/>
              </a:rPr>
              <a:t>Raspberry Pi OS Desktop</a:t>
            </a:r>
          </a:p>
        </p:txBody>
      </p:sp>
      <p:sp>
        <p:nvSpPr>
          <p:cNvPr id="321" name="Cap1"/>
          <p:cNvSpPr/>
          <p:nvPr/>
        </p:nvSpPr>
        <p:spPr>
          <a:xfrm>
            <a:off x="8458200" y="2857500"/>
            <a:ext cx="3251200" cy="203200"/>
          </a:xfrm>
          <a:prstGeom prst="rect">
            <a:avLst/>
          </a:prstGeom>
          <a:noFill/>
        </p:spPr>
        <p:txBody>
          <a:bodyPr wrap="square" rtlCol="0"/>
          <a:lstStyle/>
          <a:p>
            <a:pPr marL="0" indent="0" algn="ctr">
              <a:buNone/>
            </a:pPr>
            <a:r>
              <a:rPr lang="en-US" sz="900" dirty="0">
                <a:solidFill>
                  <a:srgbClr val="4A5568"/>
                </a:solidFill>
                <a:latin typeface="Calibri" pitchFamily="34" charset="0"/>
              </a:rPr>
              <a:t>GPIO / Python Testing</a:t>
            </a:r>
          </a:p>
        </p:txBody>
      </p:sp>
      <p:sp>
        <p:nvSpPr>
          <p:cNvPr id="322" name="Cap2"/>
          <p:cNvSpPr/>
          <p:nvPr/>
        </p:nvSpPr>
        <p:spPr>
          <a:xfrm>
            <a:off x="5080000" y="5016500"/>
            <a:ext cx="3251200" cy="203200"/>
          </a:xfrm>
          <a:prstGeom prst="rect">
            <a:avLst/>
          </a:prstGeom>
          <a:noFill/>
        </p:spPr>
        <p:txBody>
          <a:bodyPr wrap="square" rtlCol="0"/>
          <a:lstStyle/>
          <a:p>
            <a:pPr marL="0" indent="0" algn="ctr">
              <a:buNone/>
            </a:pPr>
            <a:r>
              <a:rPr lang="en-US" sz="900" dirty="0">
                <a:solidFill>
                  <a:srgbClr val="4A5568"/>
                </a:solidFill>
                <a:latin typeface="Calibri" pitchFamily="34" charset="0"/>
              </a:rPr>
              <a:t>SSH Remote Access</a:t>
            </a:r>
          </a:p>
        </p:txBody>
      </p:sp>
      <p:sp>
        <p:nvSpPr>
          <p:cNvPr id="323" name="Cap3"/>
          <p:cNvSpPr/>
          <p:nvPr/>
        </p:nvSpPr>
        <p:spPr>
          <a:xfrm>
            <a:off x="8458200" y="5016500"/>
            <a:ext cx="3251200" cy="203200"/>
          </a:xfrm>
          <a:prstGeom prst="rect">
            <a:avLst/>
          </a:prstGeom>
          <a:noFill/>
        </p:spPr>
        <p:txBody>
          <a:bodyPr wrap="square" rtlCol="0"/>
          <a:lstStyle/>
          <a:p>
            <a:pPr marL="0" indent="0" algn="ctr">
              <a:buNone/>
            </a:pPr>
            <a:r>
              <a:rPr lang="en-US" sz="900" dirty="0">
                <a:solidFill>
                  <a:srgbClr val="4A5568"/>
                </a:solidFill>
                <a:latin typeface="Calibri" pitchFamily="34" charset="0"/>
              </a:rPr>
              <a:t>System Configuration</a:t>
            </a:r>
          </a:p>
        </p:txBody>
      </p:sp>
      <p:sp>
        <p:nvSpPr>
          <p:cNvPr id="303" name="RightHeading"/>
          <p:cNvSpPr/>
          <p:nvPr/>
        </p:nvSpPr>
        <p:spPr>
          <a:xfrm>
            <a:off x="5029200" y="660400"/>
            <a:ext cx="6959600" cy="279400"/>
          </a:xfrm>
          <a:prstGeom prst="rect">
            <a:avLst/>
          </a:prstGeom>
          <a:noFill/>
        </p:spPr>
        <p:txBody>
          <a:bodyPr wrap="square" rtlCol="0"/>
          <a:lstStyle/>
          <a:p>
            <a:pPr marL="0" indent="0">
              <a:buNone/>
            </a:pPr>
            <a:r>
              <a:rPr lang="en-US" sz="1200" b="1" dirty="0">
                <a:solidFill>
                  <a:srgbClr val="0E96AC"/>
                </a:solidFill>
                <a:latin typeface="Calibri" pitchFamily="34" charset="0"/>
              </a:rPr>
              <a:t>Development Environment Setup</a:t>
            </a:r>
          </a:p>
        </p:txBody>
      </p:sp>
      <p:sp>
        <p:nvSpPr>
          <p:cNvPr id="302" name="MilesLabel"/>
          <p:cNvSpPr/>
          <p:nvPr/>
        </p:nvSpPr>
        <p:spPr>
          <a:xfrm>
            <a:off x="228600" y="787400"/>
            <a:ext cx="4318000" cy="177800"/>
          </a:xfrm>
          <a:prstGeom prst="rect">
            <a:avLst/>
          </a:prstGeom>
          <a:noFill/>
        </p:spPr>
        <p:txBody>
          <a:bodyPr wrap="square" rtlCol="0"/>
          <a:lstStyle/>
          <a:p>
            <a:pPr marL="0" indent="0">
              <a:buNone/>
            </a:pPr>
            <a:r>
              <a:rPr lang="en-US" sz="900" b="1" spc="100" dirty="0">
                <a:solidFill>
                  <a:srgbClr val="3A6D82"/>
                </a:solidFill>
                <a:latin typeface="Calibri" pitchFamily="34" charset="0"/>
              </a:rPr>
              <a:t>PROGRESS MILESTONES</a:t>
            </a:r>
          </a:p>
        </p:txBody>
      </p:sp>
      <p:sp>
        <p:nvSpPr>
          <p:cNvPr id="3" name="Text 1"/>
          <p:cNvSpPr/>
          <p:nvPr/>
        </p:nvSpPr>
        <p:spPr>
          <a:xfrm>
            <a:off x="228600" y="330200"/>
            <a:ext cx="4546600" cy="381000"/>
          </a:xfrm>
          <a:prstGeom prst="rect">
            <a:avLst/>
          </a:prstGeom>
          <a:noFill/>
          <a:ln/>
        </p:spPr>
        <p:txBody>
          <a:bodyPr wrap="square" lIns="0" tIns="0" rIns="0" bIns="0" rtlCol="0" anchor="ctr"/>
          <a:lstStyle/>
          <a:p>
            <a:pPr marL="0" indent="0">
              <a:buNone/>
            </a:pPr>
            <a:r>
              <a:rPr lang="en-US" sz="2200" b="1" dirty="0">
                <a:solidFill>
                  <a:srgbClr val="16223A"/>
                </a:solidFill>
                <a:latin typeface="Calibri" pitchFamily="34" charset="0"/>
                <a:ea typeface="Calibri" pitchFamily="34" charset="-122"/>
                <a:cs typeface="Calibri" pitchFamily="34" charset="-120"/>
              </a:rPr>
              <a:t>Standing Up the Compute Platform</a:t>
            </a:r>
            <a:endParaRPr lang="en-US" sz="3000" dirty="0"/>
          </a:p>
        </p:txBody>
      </p:sp>
      <p:sp>
        <p:nvSpPr>
          <p:cNvPr id="2" name="Text 0"/>
          <p:cNvSpPr/>
          <p:nvPr/>
        </p:nvSpPr>
        <p:spPr>
          <a:xfrm>
            <a:off x="228600" y="127000"/>
            <a:ext cx="4546600" cy="228600"/>
          </a:xfrm>
          <a:prstGeom prst="rect">
            <a:avLst/>
          </a:prstGeom>
          <a:noFill/>
          <a:ln/>
        </p:spPr>
        <p:txBody>
          <a:bodyPr wrap="square" lIns="0" tIns="0" rIns="0" bIns="0" rtlCol="0" anchor="ctr"/>
          <a:lstStyle/>
          <a:p>
            <a:pPr marL="0" indent="0">
              <a:buNone/>
            </a:pPr>
            <a:r>
              <a:rPr lang="en-US" sz="1200" b="1" kern="0" spc="300" dirty="0">
                <a:solidFill>
                  <a:srgbClr val="0E96AC"/>
                </a:solidFill>
                <a:latin typeface="Calibri" pitchFamily="34" charset="0"/>
                <a:ea typeface="Calibri" pitchFamily="34" charset="-122"/>
                <a:cs typeface="Calibri" pitchFamily="34" charset="-120"/>
              </a:rPr>
              <a:t>RASPBERRY PI LEARNING &amp; DEVELOPMENT</a:t>
            </a:r>
            <a:endParaRPr lang="en-US" sz="1200" dirty="0"/>
          </a:p>
        </p:txBody>
      </p:sp>
    </p:spTree>
    <p:extLst>
      <p:ext uri="{BB962C8B-B14F-4D97-AF65-F5344CB8AC3E}">
        <p14:creationId xmlns:p14="http://schemas.microsoft.com/office/powerpoint/2010/main" val="28406056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6F8FB"/>
        </a:solidFill>
        <a:effectLst/>
      </p:bgPr>
    </p:bg>
    <p:spTree>
      <p:nvGrpSpPr>
        <p:cNvPr id="1" name=""/>
        <p:cNvGrpSpPr/>
        <p:nvPr/>
      </p:nvGrpSpPr>
      <p:grpSpPr>
        <a:xfrm>
          <a:off x="0" y="0"/>
          <a:ext cx="0" cy="0"/>
          <a:chOff x="0" y="0"/>
          <a:chExt cx="0" cy="0"/>
        </a:xfrm>
      </p:grpSpPr>
      <p:sp>
        <p:nvSpPr>
          <p:cNvPr id="100" name="bg_top"/>
          <p:cNvSpPr>
            <a:spLocks noGrp="1"/>
          </p:cNvSpPr>
          <p:nvPr/>
        </p:nvSpPr>
        <p:spPr>
          <a:xfrm>
            <a:off x="0" y="0"/>
            <a:ext cx="12192000" cy="1397000"/>
          </a:xfrm>
          <a:prstGeom prst="rect">
            <a:avLst/>
          </a:prstGeom>
          <a:solidFill>
            <a:srgbClr val="F4F6F9"/>
          </a:solidFill>
          <a:ln>
            <a:noFill/>
          </a:ln>
        </p:spPr>
        <p:txBody>
          <a:bodyPr/>
          <a:lstStyle/>
          <a:p>
            <a:endParaRPr lang="en-US"/>
          </a:p>
        </p:txBody>
      </p:sp>
      <p:sp>
        <p:nvSpPr>
          <p:cNvPr id="101" name="bg_body"/>
          <p:cNvSpPr>
            <a:spLocks noGrp="1"/>
          </p:cNvSpPr>
          <p:nvPr/>
        </p:nvSpPr>
        <p:spPr>
          <a:xfrm>
            <a:off x="0" y="1397000"/>
            <a:ext cx="12192000" cy="5461000"/>
          </a:xfrm>
          <a:prstGeom prst="rect">
            <a:avLst/>
          </a:prstGeom>
          <a:solidFill>
            <a:srgbClr val="FFFFFF"/>
          </a:solidFill>
          <a:ln>
            <a:noFill/>
          </a:ln>
        </p:spPr>
        <p:txBody>
          <a:bodyPr/>
          <a:lstStyle/>
          <a:p>
            <a:endParaRPr lang="en-US"/>
          </a:p>
        </p:txBody>
      </p:sp>
      <p:sp>
        <p:nvSpPr>
          <p:cNvPr id="102" name="accent_bar"/>
          <p:cNvSpPr>
            <a:spLocks noGrp="1"/>
          </p:cNvSpPr>
          <p:nvPr/>
        </p:nvSpPr>
        <p:spPr>
          <a:xfrm>
            <a:off x="0" y="0"/>
            <a:ext cx="12192000" cy="63500"/>
          </a:xfrm>
          <a:prstGeom prst="rect">
            <a:avLst/>
          </a:prstGeom>
          <a:solidFill>
            <a:srgbClr val="0E96AC"/>
          </a:solidFill>
          <a:ln>
            <a:noFill/>
          </a:ln>
        </p:spPr>
        <p:txBody>
          <a:bodyPr/>
          <a:lstStyle/>
          <a:p>
            <a:endParaRPr lang="en-US"/>
          </a:p>
        </p:txBody>
      </p:sp>
      <p:sp>
        <p:nvSpPr>
          <p:cNvPr id="103" name="subtitle"/>
          <p:cNvSpPr txBox="1">
            <a:spLocks noGrp="1"/>
          </p:cNvSpPr>
          <p:nvPr/>
        </p:nvSpPr>
        <p:spPr>
          <a:xfrm>
            <a:off x="546100" y="177800"/>
            <a:ext cx="8636000" cy="254000"/>
          </a:xfrm>
          <a:prstGeom prst="rect">
            <a:avLst/>
          </a:prstGeom>
          <a:noFill/>
          <a:ln>
            <a:noFill/>
          </a:ln>
        </p:spPr>
        <p:txBody>
          <a:bodyPr anchor="t">
            <a:normAutofit lnSpcReduction="10000"/>
          </a:bodyPr>
          <a:lstStyle/>
          <a:p>
            <a:pPr marL="0" indent="0">
              <a:buNone/>
            </a:pPr>
            <a:r>
              <a:rPr lang="en-IN" sz="1100" b="1" kern="0" spc="300" dirty="0">
                <a:solidFill>
                  <a:srgbClr val="0E96AC"/>
                </a:solidFill>
                <a:latin typeface="Calibri"/>
              </a:rPr>
              <a:t>HARDWARE PROCUREMENT &amp; RESOURCE AVAILABILITY</a:t>
            </a:r>
          </a:p>
        </p:txBody>
      </p:sp>
      <p:sp>
        <p:nvSpPr>
          <p:cNvPr id="104" name="title"/>
          <p:cNvSpPr txBox="1">
            <a:spLocks noGrp="1"/>
          </p:cNvSpPr>
          <p:nvPr/>
        </p:nvSpPr>
        <p:spPr>
          <a:xfrm>
            <a:off x="546100" y="406400"/>
            <a:ext cx="11049000" cy="660400"/>
          </a:xfrm>
          <a:prstGeom prst="rect">
            <a:avLst/>
          </a:prstGeom>
          <a:noFill/>
          <a:ln>
            <a:noFill/>
          </a:ln>
        </p:spPr>
        <p:txBody>
          <a:bodyPr anchor="t">
            <a:normAutofit/>
          </a:bodyPr>
          <a:lstStyle/>
          <a:p>
            <a:pPr marL="0" indent="0">
              <a:buNone/>
            </a:pPr>
            <a:r>
              <a:rPr lang="en-IN" sz="2800" b="1" dirty="0">
                <a:solidFill>
                  <a:srgbClr val="16223A"/>
                </a:solidFill>
                <a:latin typeface="Calibri"/>
              </a:rPr>
              <a:t>Hardware Procurement &amp; Resource Availability</a:t>
            </a:r>
          </a:p>
        </p:txBody>
      </p:sp>
      <p:sp>
        <p:nvSpPr>
          <p:cNvPr id="105" name="divider"/>
          <p:cNvSpPr>
            <a:spLocks noGrp="1"/>
          </p:cNvSpPr>
          <p:nvPr/>
        </p:nvSpPr>
        <p:spPr>
          <a:xfrm>
            <a:off x="546100" y="1320800"/>
            <a:ext cx="11099800" cy="25400"/>
          </a:xfrm>
          <a:prstGeom prst="rect">
            <a:avLst/>
          </a:prstGeom>
          <a:solidFill>
            <a:srgbClr val="0E96AC"/>
          </a:solidFill>
          <a:ln>
            <a:noFill/>
          </a:ln>
        </p:spPr>
        <p:txBody>
          <a:bodyPr/>
          <a:lstStyle/>
          <a:p>
            <a:endParaRPr lang="en-US"/>
          </a:p>
        </p:txBody>
      </p:sp>
      <p:sp>
        <p:nvSpPr>
          <p:cNvPr id="110" name="s1_bg"/>
          <p:cNvSpPr>
            <a:spLocks noGrp="1"/>
          </p:cNvSpPr>
          <p:nvPr/>
        </p:nvSpPr>
        <p:spPr>
          <a:xfrm>
            <a:off x="546100" y="1447800"/>
            <a:ext cx="11099800" cy="711200"/>
          </a:xfrm>
          <a:prstGeom prst="roundRect">
            <a:avLst>
              <a:gd name="adj" fmla="val 12000"/>
            </a:avLst>
          </a:prstGeom>
          <a:solidFill>
            <a:srgbClr val="EBF8FA"/>
          </a:solidFill>
          <a:ln>
            <a:noFill/>
          </a:ln>
        </p:spPr>
        <p:txBody>
          <a:bodyPr/>
          <a:lstStyle/>
          <a:p>
            <a:endParaRPr lang="en-US"/>
          </a:p>
        </p:txBody>
      </p:sp>
      <p:sp>
        <p:nvSpPr>
          <p:cNvPr id="111" name="s1_accent"/>
          <p:cNvSpPr>
            <a:spLocks noGrp="1"/>
          </p:cNvSpPr>
          <p:nvPr/>
        </p:nvSpPr>
        <p:spPr>
          <a:xfrm>
            <a:off x="546100" y="1447800"/>
            <a:ext cx="63500" cy="711200"/>
          </a:xfrm>
          <a:prstGeom prst="rect">
            <a:avLst/>
          </a:prstGeom>
          <a:solidFill>
            <a:srgbClr val="0E96AC"/>
          </a:solidFill>
          <a:ln>
            <a:noFill/>
          </a:ln>
        </p:spPr>
        <p:txBody>
          <a:bodyPr/>
          <a:lstStyle/>
          <a:p>
            <a:endParaRPr lang="en-US"/>
          </a:p>
        </p:txBody>
      </p:sp>
      <p:sp>
        <p:nvSpPr>
          <p:cNvPr id="112" name="s1_text"/>
          <p:cNvSpPr txBox="1">
            <a:spLocks noGrp="1"/>
          </p:cNvSpPr>
          <p:nvPr/>
        </p:nvSpPr>
        <p:spPr>
          <a:xfrm>
            <a:off x="736600" y="1473200"/>
            <a:ext cx="10795000" cy="660400"/>
          </a:xfrm>
          <a:prstGeom prst="rect">
            <a:avLst/>
          </a:prstGeom>
          <a:noFill/>
          <a:ln>
            <a:noFill/>
          </a:ln>
        </p:spPr>
        <p:txBody>
          <a:bodyPr anchor="ctr">
            <a:normAutofit lnSpcReduction="10000"/>
          </a:bodyPr>
          <a:lstStyle/>
          <a:p>
            <a:pPr marL="0" indent="0">
              <a:buNone/>
            </a:pPr>
            <a:r>
              <a:rPr lang="en-IN" sz="1300" b="1" dirty="0">
                <a:solidFill>
                  <a:srgbClr val="16223A"/>
                </a:solidFill>
                <a:latin typeface="Calibri"/>
              </a:rPr>
              <a:t>Hardware Strategy: </a:t>
            </a:r>
            <a:r>
              <a:rPr lang="en-IN" sz="1300" dirty="0">
                <a:solidFill>
                  <a:srgbClr val="16223A"/>
                </a:solidFill>
                <a:latin typeface="Calibri"/>
              </a:rPr>
              <a:t>Raspberry Pi 4 was planned in the BOM; however, a Raspberry Pi 5 was already available in the laboratory, enabling immediate software development and testing without waiting for delivery. To accelerate development, the team utilised the laboratory Raspberry Pi 5 platform while the ordered components remain under procurement.</a:t>
            </a:r>
          </a:p>
        </p:txBody>
      </p:sp>
      <p:sp>
        <p:nvSpPr>
          <p:cNvPr id="120" name="card0_bg"/>
          <p:cNvSpPr>
            <a:spLocks noGrp="1"/>
          </p:cNvSpPr>
          <p:nvPr/>
        </p:nvSpPr>
        <p:spPr>
          <a:xfrm>
            <a:off x="546100" y="2260600"/>
            <a:ext cx="3568700" cy="1714500"/>
          </a:xfrm>
          <a:prstGeom prst="roundRect">
            <a:avLst>
              <a:gd name="adj" fmla="val 10000"/>
            </a:avLst>
          </a:prstGeom>
          <a:solidFill>
            <a:srgbClr val="F0FBF4"/>
          </a:solidFill>
          <a:ln w="15000">
            <a:solidFill>
              <a:srgbClr val="1E7A3E"/>
            </a:solidFill>
          </a:ln>
        </p:spPr>
        <p:txBody>
          <a:bodyPr/>
          <a:lstStyle/>
          <a:p>
            <a:endParaRPr lang="en-US"/>
          </a:p>
        </p:txBody>
      </p:sp>
      <p:sp>
        <p:nvSpPr>
          <p:cNvPr id="121" name="card0_hdr"/>
          <p:cNvSpPr>
            <a:spLocks noGrp="1"/>
          </p:cNvSpPr>
          <p:nvPr/>
        </p:nvSpPr>
        <p:spPr>
          <a:xfrm>
            <a:off x="546100" y="2260600"/>
            <a:ext cx="3568700" cy="330200"/>
          </a:xfrm>
          <a:prstGeom prst="rect">
            <a:avLst/>
          </a:prstGeom>
          <a:solidFill>
            <a:srgbClr val="1E7A3E"/>
          </a:solidFill>
          <a:ln>
            <a:noFill/>
          </a:ln>
        </p:spPr>
        <p:txBody>
          <a:bodyPr/>
          <a:lstStyle/>
          <a:p>
            <a:endParaRPr lang="en-US"/>
          </a:p>
        </p:txBody>
      </p:sp>
      <p:sp>
        <p:nvSpPr>
          <p:cNvPr id="130" name="card1_bg"/>
          <p:cNvSpPr>
            <a:spLocks noGrp="1"/>
          </p:cNvSpPr>
          <p:nvPr/>
        </p:nvSpPr>
        <p:spPr>
          <a:xfrm>
            <a:off x="4305300" y="2260600"/>
            <a:ext cx="3568700" cy="1714500"/>
          </a:xfrm>
          <a:prstGeom prst="roundRect">
            <a:avLst>
              <a:gd name="adj" fmla="val 10000"/>
            </a:avLst>
          </a:prstGeom>
          <a:solidFill>
            <a:srgbClr val="FEF9EE"/>
          </a:solidFill>
          <a:ln w="15000">
            <a:solidFill>
              <a:srgbClr val="B45309"/>
            </a:solidFill>
          </a:ln>
        </p:spPr>
        <p:txBody>
          <a:bodyPr/>
          <a:lstStyle/>
          <a:p>
            <a:endParaRPr lang="en-US"/>
          </a:p>
        </p:txBody>
      </p:sp>
      <p:sp>
        <p:nvSpPr>
          <p:cNvPr id="131" name="card1_hdr"/>
          <p:cNvSpPr>
            <a:spLocks noGrp="1"/>
          </p:cNvSpPr>
          <p:nvPr/>
        </p:nvSpPr>
        <p:spPr>
          <a:xfrm>
            <a:off x="4305300" y="2260600"/>
            <a:ext cx="3568700" cy="330200"/>
          </a:xfrm>
          <a:prstGeom prst="rect">
            <a:avLst/>
          </a:prstGeom>
          <a:solidFill>
            <a:srgbClr val="B45309"/>
          </a:solidFill>
          <a:ln>
            <a:noFill/>
          </a:ln>
        </p:spPr>
        <p:txBody>
          <a:bodyPr/>
          <a:lstStyle/>
          <a:p>
            <a:endParaRPr lang="en-US"/>
          </a:p>
        </p:txBody>
      </p:sp>
      <p:sp>
        <p:nvSpPr>
          <p:cNvPr id="140" name="card2_bg"/>
          <p:cNvSpPr>
            <a:spLocks noGrp="1"/>
          </p:cNvSpPr>
          <p:nvPr/>
        </p:nvSpPr>
        <p:spPr>
          <a:xfrm>
            <a:off x="8064500" y="2260600"/>
            <a:ext cx="3568700" cy="1714500"/>
          </a:xfrm>
          <a:prstGeom prst="roundRect">
            <a:avLst>
              <a:gd name="adj" fmla="val 10000"/>
            </a:avLst>
          </a:prstGeom>
          <a:solidFill>
            <a:srgbClr val="EEF3FC"/>
          </a:solidFill>
          <a:ln w="15000">
            <a:solidFill>
              <a:srgbClr val="1A4A8A"/>
            </a:solidFill>
          </a:ln>
        </p:spPr>
        <p:txBody>
          <a:bodyPr/>
          <a:lstStyle/>
          <a:p>
            <a:endParaRPr lang="en-US"/>
          </a:p>
        </p:txBody>
      </p:sp>
      <p:sp>
        <p:nvSpPr>
          <p:cNvPr id="141" name="card2_hdr"/>
          <p:cNvSpPr>
            <a:spLocks noGrp="1"/>
          </p:cNvSpPr>
          <p:nvPr/>
        </p:nvSpPr>
        <p:spPr>
          <a:xfrm>
            <a:off x="8064500" y="2260600"/>
            <a:ext cx="3568700" cy="330200"/>
          </a:xfrm>
          <a:prstGeom prst="rect">
            <a:avLst/>
          </a:prstGeom>
          <a:solidFill>
            <a:srgbClr val="1A4A8A"/>
          </a:solidFill>
          <a:ln>
            <a:noFill/>
          </a:ln>
        </p:spPr>
        <p:txBody>
          <a:bodyPr/>
          <a:lstStyle/>
          <a:p>
            <a:endParaRPr lang="en-US"/>
          </a:p>
        </p:txBody>
      </p:sp>
      <p:sp>
        <p:nvSpPr>
          <p:cNvPr id="124" name="card0_hdr_fix"/>
          <p:cNvSpPr>
            <a:spLocks noGrp="1"/>
          </p:cNvSpPr>
          <p:nvPr/>
        </p:nvSpPr>
        <p:spPr>
          <a:xfrm>
            <a:off x="546100" y="2413000"/>
            <a:ext cx="3568700" cy="177800"/>
          </a:xfrm>
          <a:prstGeom prst="rect">
            <a:avLst/>
          </a:prstGeom>
          <a:solidFill>
            <a:srgbClr val="1E7A3E"/>
          </a:solidFill>
          <a:ln>
            <a:noFill/>
          </a:ln>
        </p:spPr>
        <p:txBody>
          <a:bodyPr/>
          <a:lstStyle/>
          <a:p>
            <a:endParaRPr lang="en-US"/>
          </a:p>
        </p:txBody>
      </p:sp>
      <p:sp>
        <p:nvSpPr>
          <p:cNvPr id="134" name="card1_hdr_fix"/>
          <p:cNvSpPr>
            <a:spLocks noGrp="1"/>
          </p:cNvSpPr>
          <p:nvPr/>
        </p:nvSpPr>
        <p:spPr>
          <a:xfrm>
            <a:off x="4305300" y="2413000"/>
            <a:ext cx="3568700" cy="177800"/>
          </a:xfrm>
          <a:prstGeom prst="rect">
            <a:avLst/>
          </a:prstGeom>
          <a:solidFill>
            <a:srgbClr val="B45309"/>
          </a:solidFill>
          <a:ln>
            <a:noFill/>
          </a:ln>
        </p:spPr>
        <p:txBody>
          <a:bodyPr/>
          <a:lstStyle/>
          <a:p>
            <a:endParaRPr lang="en-US"/>
          </a:p>
        </p:txBody>
      </p:sp>
      <p:sp>
        <p:nvSpPr>
          <p:cNvPr id="144" name="card2_hdr_fix"/>
          <p:cNvSpPr>
            <a:spLocks noGrp="1"/>
          </p:cNvSpPr>
          <p:nvPr/>
        </p:nvSpPr>
        <p:spPr>
          <a:xfrm>
            <a:off x="8064500" y="2413000"/>
            <a:ext cx="3568700" cy="177800"/>
          </a:xfrm>
          <a:prstGeom prst="rect">
            <a:avLst/>
          </a:prstGeom>
          <a:solidFill>
            <a:srgbClr val="1A4A8A"/>
          </a:solidFill>
          <a:ln>
            <a:noFill/>
          </a:ln>
        </p:spPr>
        <p:txBody>
          <a:bodyPr/>
          <a:lstStyle/>
          <a:p>
            <a:endParaRPr lang="en-US"/>
          </a:p>
        </p:txBody>
      </p:sp>
      <p:sp>
        <p:nvSpPr>
          <p:cNvPr id="125" name="card0_title"/>
          <p:cNvSpPr txBox="1">
            <a:spLocks noGrp="1"/>
          </p:cNvSpPr>
          <p:nvPr/>
        </p:nvSpPr>
        <p:spPr>
          <a:xfrm>
            <a:off x="647700" y="2324100"/>
            <a:ext cx="3365500" cy="228600"/>
          </a:xfrm>
          <a:prstGeom prst="rect">
            <a:avLst/>
          </a:prstGeom>
          <a:noFill/>
          <a:ln>
            <a:noFill/>
          </a:ln>
        </p:spPr>
        <p:txBody>
          <a:bodyPr anchor="t">
            <a:normAutofit/>
          </a:bodyPr>
          <a:lstStyle/>
          <a:p>
            <a:pPr marL="0" indent="0">
              <a:buNone/>
            </a:pPr>
            <a:r>
              <a:rPr lang="en-IN" sz="900" b="1" spc="100" dirty="0">
                <a:solidFill>
                  <a:srgbClr val="FFFFFF"/>
                </a:solidFill>
                <a:latin typeface="Calibri"/>
              </a:rPr>
              <a:t>AVAILABLE &amp; IN USE</a:t>
            </a:r>
          </a:p>
        </p:txBody>
      </p:sp>
      <p:sp>
        <p:nvSpPr>
          <p:cNvPr id="135" name="card1_title"/>
          <p:cNvSpPr txBox="1">
            <a:spLocks noGrp="1"/>
          </p:cNvSpPr>
          <p:nvPr/>
        </p:nvSpPr>
        <p:spPr>
          <a:xfrm>
            <a:off x="4406900" y="2324100"/>
            <a:ext cx="3365500" cy="228600"/>
          </a:xfrm>
          <a:prstGeom prst="rect">
            <a:avLst/>
          </a:prstGeom>
          <a:noFill/>
          <a:ln>
            <a:noFill/>
          </a:ln>
        </p:spPr>
        <p:txBody>
          <a:bodyPr anchor="t">
            <a:normAutofit/>
          </a:bodyPr>
          <a:lstStyle/>
          <a:p>
            <a:pPr marL="0" indent="0">
              <a:buNone/>
            </a:pPr>
            <a:r>
              <a:rPr lang="en-IN" sz="900" b="1" spc="100" dirty="0">
                <a:solidFill>
                  <a:srgbClr val="FFFFFF"/>
                </a:solidFill>
                <a:latin typeface="Calibri"/>
              </a:rPr>
              <a:t>ORDERED — AWAITING DELIVERY</a:t>
            </a:r>
          </a:p>
        </p:txBody>
      </p:sp>
      <p:sp>
        <p:nvSpPr>
          <p:cNvPr id="145" name="card2_title"/>
          <p:cNvSpPr txBox="1">
            <a:spLocks noGrp="1"/>
          </p:cNvSpPr>
          <p:nvPr/>
        </p:nvSpPr>
        <p:spPr>
          <a:xfrm>
            <a:off x="8166100" y="2324100"/>
            <a:ext cx="3365500" cy="228600"/>
          </a:xfrm>
          <a:prstGeom prst="rect">
            <a:avLst/>
          </a:prstGeom>
          <a:noFill/>
          <a:ln>
            <a:noFill/>
          </a:ln>
        </p:spPr>
        <p:txBody>
          <a:bodyPr anchor="t">
            <a:normAutofit/>
          </a:bodyPr>
          <a:lstStyle/>
          <a:p>
            <a:pPr marL="0" indent="0">
              <a:buNone/>
            </a:pPr>
            <a:r>
              <a:rPr lang="en-IN" sz="900" b="1" spc="100" dirty="0">
                <a:solidFill>
                  <a:srgbClr val="FFFFFF"/>
                </a:solidFill>
                <a:latin typeface="Calibri"/>
              </a:rPr>
              <a:t>COMPLETED PREPARATORY WORK</a:t>
            </a:r>
          </a:p>
        </p:txBody>
      </p:sp>
      <p:sp>
        <p:nvSpPr>
          <p:cNvPr id="160" name="card0_items"/>
          <p:cNvSpPr txBox="1">
            <a:spLocks noGrp="1"/>
          </p:cNvSpPr>
          <p:nvPr/>
        </p:nvSpPr>
        <p:spPr>
          <a:xfrm>
            <a:off x="647700" y="2641600"/>
            <a:ext cx="3365500" cy="1282700"/>
          </a:xfrm>
          <a:prstGeom prst="rect">
            <a:avLst/>
          </a:prstGeom>
          <a:noFill/>
          <a:ln>
            <a:noFill/>
          </a:ln>
        </p:spPr>
        <p:txBody>
          <a:bodyPr anchor="t">
            <a:normAutofit/>
          </a:bodyPr>
          <a:lstStyle/>
          <a:p>
            <a:pPr marL="180000" indent="-180000">
              <a:buFont typeface="Arial"/>
              <a:buChar char="•"/>
            </a:pPr>
            <a:r>
              <a:rPr lang="en-IN" sz="1200" dirty="0">
                <a:solidFill>
                  <a:srgbClr val="1E4620"/>
                </a:solidFill>
                <a:latin typeface="Calibri"/>
              </a:rPr>
              <a:t>Raspberry Pi 5 (Laboratory Resource)</a:t>
            </a:r>
          </a:p>
          <a:p>
            <a:pPr marL="180000" indent="-180000">
              <a:buFont typeface="Arial"/>
              <a:buChar char="•"/>
            </a:pPr>
            <a:r>
              <a:rPr lang="en-IN" sz="1200" dirty="0">
                <a:solidFill>
                  <a:srgbClr val="1E4620"/>
                </a:solidFill>
                <a:latin typeface="Calibri"/>
              </a:rPr>
              <a:t>Raspberry Pi Starter Kit</a:t>
            </a:r>
          </a:p>
          <a:p>
            <a:pPr marL="180000" indent="-180000">
              <a:buFont typeface="Arial"/>
              <a:buChar char="•"/>
            </a:pPr>
            <a:r>
              <a:rPr lang="en-IN" sz="1200" dirty="0">
                <a:solidFill>
                  <a:srgbClr val="1E4620"/>
                </a:solidFill>
                <a:latin typeface="Calibri"/>
              </a:rPr>
              <a:t>Raspberry Pi OS Environment</a:t>
            </a:r>
          </a:p>
          <a:p>
            <a:pPr marL="180000" indent="-180000">
              <a:buFont typeface="Arial"/>
              <a:buChar char="•"/>
            </a:pPr>
            <a:r>
              <a:rPr lang="en-IN" sz="1200" dirty="0">
                <a:solidFill>
                  <a:srgbClr val="1E4620"/>
                </a:solidFill>
                <a:latin typeface="Calibri"/>
              </a:rPr>
              <a:t>GitHub Repository</a:t>
            </a:r>
          </a:p>
          <a:p>
            <a:pPr marL="180000" indent="-180000">
              <a:buFont typeface="Arial"/>
              <a:buChar char="•"/>
            </a:pPr>
            <a:r>
              <a:rPr lang="en-IN" sz="1200" dirty="0">
                <a:solidFill>
                  <a:srgbClr val="1E4620"/>
                </a:solidFill>
                <a:latin typeface="Calibri"/>
              </a:rPr>
              <a:t>3D Printed Prototype Segments</a:t>
            </a:r>
          </a:p>
        </p:txBody>
      </p:sp>
      <p:sp>
        <p:nvSpPr>
          <p:cNvPr id="161" name="card1_items"/>
          <p:cNvSpPr txBox="1">
            <a:spLocks noGrp="1"/>
          </p:cNvSpPr>
          <p:nvPr/>
        </p:nvSpPr>
        <p:spPr>
          <a:xfrm>
            <a:off x="4406900" y="2641600"/>
            <a:ext cx="3365500" cy="1282700"/>
          </a:xfrm>
          <a:prstGeom prst="rect">
            <a:avLst/>
          </a:prstGeom>
          <a:noFill/>
          <a:ln>
            <a:noFill/>
          </a:ln>
        </p:spPr>
        <p:txBody>
          <a:bodyPr anchor="t">
            <a:normAutofit/>
          </a:bodyPr>
          <a:lstStyle/>
          <a:p>
            <a:pPr marL="180000" indent="-180000">
              <a:buFont typeface="Arial"/>
              <a:buChar char="•"/>
            </a:pPr>
            <a:r>
              <a:rPr lang="en-IN" sz="1000" dirty="0">
                <a:solidFill>
                  <a:srgbClr val="374151"/>
                </a:solidFill>
                <a:latin typeface="Calibri"/>
              </a:rPr>
              <a:t>Dynamixel XL330 Smart Servo Motors</a:t>
            </a:r>
          </a:p>
          <a:p>
            <a:pPr marL="180000" indent="-180000">
              <a:buFont typeface="Arial"/>
              <a:buChar char="•"/>
            </a:pPr>
            <a:r>
              <a:rPr lang="en-IN" sz="1000" dirty="0">
                <a:solidFill>
                  <a:srgbClr val="374151"/>
                </a:solidFill>
                <a:latin typeface="Calibri"/>
              </a:rPr>
              <a:t>U2D2 Communication Interface</a:t>
            </a:r>
          </a:p>
          <a:p>
            <a:pPr marL="180000" indent="-180000">
              <a:buFont typeface="Arial"/>
              <a:buChar char="•"/>
            </a:pPr>
            <a:r>
              <a:rPr lang="en-IN" sz="1000" dirty="0">
                <a:solidFill>
                  <a:srgbClr val="374151"/>
                </a:solidFill>
                <a:latin typeface="Calibri"/>
              </a:rPr>
              <a:t>U2D2 Power Hub Board</a:t>
            </a:r>
          </a:p>
          <a:p>
            <a:pPr marL="180000" indent="-180000">
              <a:buFont typeface="Arial"/>
              <a:buChar char="•"/>
            </a:pPr>
            <a:r>
              <a:rPr lang="en-IN" sz="1000" dirty="0">
                <a:solidFill>
                  <a:srgbClr val="374151"/>
                </a:solidFill>
                <a:latin typeface="Calibri"/>
              </a:rPr>
              <a:t>Dynamixel Communication Cables</a:t>
            </a:r>
          </a:p>
          <a:p>
            <a:pPr marL="180000" indent="-180000">
              <a:buFont typeface="Arial"/>
              <a:buChar char="•"/>
            </a:pPr>
            <a:r>
              <a:rPr lang="en-IN" sz="1000" dirty="0">
                <a:solidFill>
                  <a:srgbClr val="374151"/>
                </a:solidFill>
                <a:latin typeface="Calibri"/>
              </a:rPr>
              <a:t>5V Power Supply</a:t>
            </a:r>
          </a:p>
          <a:p>
            <a:pPr marL="180000" indent="-180000">
              <a:buFont typeface="Arial"/>
              <a:buChar char="•"/>
            </a:pPr>
            <a:r>
              <a:rPr lang="en-IN" sz="1000" dirty="0">
                <a:solidFill>
                  <a:srgbClr val="374151"/>
                </a:solidFill>
                <a:latin typeface="Calibri"/>
              </a:rPr>
              <a:t>ESP32 Development Board</a:t>
            </a:r>
          </a:p>
        </p:txBody>
      </p:sp>
      <p:sp>
        <p:nvSpPr>
          <p:cNvPr id="162" name="card2_items"/>
          <p:cNvSpPr txBox="1">
            <a:spLocks noGrp="1"/>
          </p:cNvSpPr>
          <p:nvPr/>
        </p:nvSpPr>
        <p:spPr>
          <a:xfrm>
            <a:off x="8166100" y="2641600"/>
            <a:ext cx="3365500" cy="1282700"/>
          </a:xfrm>
          <a:prstGeom prst="rect">
            <a:avLst/>
          </a:prstGeom>
          <a:noFill/>
          <a:ln>
            <a:noFill/>
          </a:ln>
        </p:spPr>
        <p:txBody>
          <a:bodyPr anchor="t">
            <a:normAutofit/>
          </a:bodyPr>
          <a:lstStyle/>
          <a:p>
            <a:pPr marL="180000" indent="-180000">
              <a:buFont typeface="Arial"/>
              <a:buChar char="•"/>
            </a:pPr>
            <a:r>
              <a:rPr lang="en-IN" sz="1000" dirty="0">
                <a:solidFill>
                  <a:srgbClr val="374151"/>
                </a:solidFill>
                <a:latin typeface="Calibri"/>
              </a:rPr>
              <a:t>Hardware selection finalised</a:t>
            </a:r>
          </a:p>
          <a:p>
            <a:pPr marL="180000" indent="-180000">
              <a:buFont typeface="Arial"/>
              <a:buChar char="•"/>
            </a:pPr>
            <a:r>
              <a:rPr lang="en-IN" sz="1000" dirty="0">
                <a:solidFill>
                  <a:srgbClr val="374151"/>
                </a:solidFill>
                <a:latin typeface="Calibri"/>
              </a:rPr>
              <a:t>Bill of Materials prepared</a:t>
            </a:r>
          </a:p>
          <a:p>
            <a:pPr marL="180000" indent="-180000">
              <a:buFont typeface="Arial"/>
              <a:buChar char="•"/>
            </a:pPr>
            <a:r>
              <a:rPr lang="en-IN" sz="1000" dirty="0">
                <a:solidFill>
                  <a:srgbClr val="374151"/>
                </a:solidFill>
                <a:latin typeface="Calibri"/>
              </a:rPr>
              <a:t>CAD model completed</a:t>
            </a:r>
          </a:p>
          <a:p>
            <a:pPr marL="180000" indent="-180000">
              <a:buFont typeface="Arial"/>
              <a:buChar char="•"/>
            </a:pPr>
            <a:r>
              <a:rPr lang="en-IN" sz="1000" dirty="0">
                <a:solidFill>
                  <a:srgbClr val="374151"/>
                </a:solidFill>
                <a:latin typeface="Calibri"/>
              </a:rPr>
              <a:t>Segment fabrication initiated</a:t>
            </a:r>
          </a:p>
          <a:p>
            <a:pPr marL="180000" indent="-180000">
              <a:buFont typeface="Arial"/>
              <a:buChar char="•"/>
            </a:pPr>
            <a:r>
              <a:rPr lang="en-IN" sz="1000" dirty="0">
                <a:solidFill>
                  <a:srgbClr val="374151"/>
                </a:solidFill>
                <a:latin typeface="Calibri"/>
              </a:rPr>
              <a:t>Software environment configured</a:t>
            </a:r>
          </a:p>
        </p:txBody>
      </p:sp>
      <p:sp>
        <p:nvSpPr>
          <p:cNvPr id="200" name="s3_label"/>
          <p:cNvSpPr txBox="1">
            <a:spLocks noGrp="1"/>
          </p:cNvSpPr>
          <p:nvPr/>
        </p:nvSpPr>
        <p:spPr>
          <a:xfrm>
            <a:off x="546100" y="4089400"/>
            <a:ext cx="6350000" cy="228600"/>
          </a:xfrm>
          <a:prstGeom prst="rect">
            <a:avLst/>
          </a:prstGeom>
          <a:noFill/>
          <a:ln>
            <a:noFill/>
          </a:ln>
        </p:spPr>
        <p:txBody>
          <a:bodyPr anchor="t">
            <a:normAutofit/>
          </a:bodyPr>
          <a:lstStyle/>
          <a:p>
            <a:pPr marL="0" indent="0">
              <a:buNone/>
            </a:pPr>
            <a:r>
              <a:rPr lang="en-IN" sz="900" b="1" kern="0" spc="200" dirty="0">
                <a:solidFill>
                  <a:srgbClr val="0E96AC"/>
                </a:solidFill>
                <a:latin typeface="Calibri"/>
              </a:rPr>
              <a:t>DEVELOPMENT PROGRESS</a:t>
            </a:r>
          </a:p>
        </p:txBody>
      </p:sp>
      <p:sp>
        <p:nvSpPr>
          <p:cNvPr id="300" name="conn0"/>
          <p:cNvSpPr>
            <a:spLocks noGrp="1"/>
          </p:cNvSpPr>
          <p:nvPr/>
        </p:nvSpPr>
        <p:spPr>
          <a:xfrm>
            <a:off x="1028700" y="4432300"/>
            <a:ext cx="965200" cy="63500"/>
          </a:xfrm>
          <a:prstGeom prst="rect">
            <a:avLst/>
          </a:prstGeom>
          <a:solidFill>
            <a:srgbClr val="1E7A3E"/>
          </a:solidFill>
          <a:ln>
            <a:noFill/>
          </a:ln>
        </p:spPr>
        <p:txBody>
          <a:bodyPr/>
          <a:lstStyle/>
          <a:p>
            <a:endParaRPr lang="en-US"/>
          </a:p>
        </p:txBody>
      </p:sp>
      <p:sp>
        <p:nvSpPr>
          <p:cNvPr id="310" name="step0_circle"/>
          <p:cNvSpPr>
            <a:spLocks noGrp="1"/>
          </p:cNvSpPr>
          <p:nvPr/>
        </p:nvSpPr>
        <p:spPr>
          <a:xfrm>
            <a:off x="774700" y="4241800"/>
            <a:ext cx="457200" cy="457200"/>
          </a:xfrm>
          <a:prstGeom prst="roundRect">
            <a:avLst>
              <a:gd name="adj" fmla="val 50000"/>
            </a:avLst>
          </a:prstGeom>
          <a:solidFill>
            <a:srgbClr val="1E7A3E"/>
          </a:solidFill>
          <a:ln>
            <a:noFill/>
          </a:ln>
        </p:spPr>
        <p:txBody>
          <a:bodyPr/>
          <a:lstStyle/>
          <a:p>
            <a:endParaRPr lang="en-US"/>
          </a:p>
        </p:txBody>
      </p:sp>
      <p:sp>
        <p:nvSpPr>
          <p:cNvPr id="320" name="step0_icon"/>
          <p:cNvSpPr txBox="1">
            <a:spLocks noGrp="1"/>
          </p:cNvSpPr>
          <p:nvPr/>
        </p:nvSpPr>
        <p:spPr>
          <a:xfrm>
            <a:off x="774700" y="4241800"/>
            <a:ext cx="457200" cy="457200"/>
          </a:xfrm>
          <a:prstGeom prst="rect">
            <a:avLst/>
          </a:prstGeom>
          <a:noFill/>
          <a:ln>
            <a:noFill/>
          </a:ln>
        </p:spPr>
        <p:txBody>
          <a:bodyPr anchor="ctr">
            <a:normAutofit/>
          </a:bodyPr>
          <a:lstStyle/>
          <a:p>
            <a:pPr algn="ctr">
              <a:buNone/>
            </a:pPr>
            <a:r>
              <a:rPr lang="en-US" sz="1000" b="1" dirty="0">
                <a:solidFill>
                  <a:srgbClr val="FFFFFF"/>
                </a:solidFill>
                <a:latin typeface="Calibri"/>
              </a:rPr>
              <a:t>✓</a:t>
            </a:r>
          </a:p>
        </p:txBody>
      </p:sp>
      <p:sp>
        <p:nvSpPr>
          <p:cNvPr id="330" name="step0_label"/>
          <p:cNvSpPr txBox="1">
            <a:spLocks noGrp="1"/>
          </p:cNvSpPr>
          <p:nvPr/>
        </p:nvSpPr>
        <p:spPr>
          <a:xfrm>
            <a:off x="546100" y="4737100"/>
            <a:ext cx="914400" cy="457200"/>
          </a:xfrm>
          <a:prstGeom prst="rect">
            <a:avLst/>
          </a:prstGeom>
          <a:noFill/>
          <a:ln>
            <a:noFill/>
          </a:ln>
        </p:spPr>
        <p:txBody>
          <a:bodyPr anchor="t">
            <a:normAutofit fontScale="85000" lnSpcReduction="10000"/>
          </a:bodyPr>
          <a:lstStyle/>
          <a:p>
            <a:pPr algn="ctr">
              <a:buNone/>
            </a:pPr>
            <a:r>
              <a:rPr lang="en-IN" sz="1400" dirty="0">
                <a:solidFill>
                  <a:srgbClr val="374151"/>
                </a:solidFill>
                <a:latin typeface="Calibri"/>
              </a:rPr>
              <a:t>Component</a:t>
            </a:r>
          </a:p>
          <a:p>
            <a:pPr algn="ctr">
              <a:buNone/>
            </a:pPr>
            <a:r>
              <a:rPr lang="en-IN" sz="1400" dirty="0">
                <a:solidFill>
                  <a:srgbClr val="374151"/>
                </a:solidFill>
                <a:latin typeface="Calibri"/>
              </a:rPr>
              <a:t>Selection</a:t>
            </a:r>
          </a:p>
        </p:txBody>
      </p:sp>
      <p:sp>
        <p:nvSpPr>
          <p:cNvPr id="301" name="conn1"/>
          <p:cNvSpPr>
            <a:spLocks noGrp="1"/>
          </p:cNvSpPr>
          <p:nvPr/>
        </p:nvSpPr>
        <p:spPr>
          <a:xfrm>
            <a:off x="2501900" y="4432300"/>
            <a:ext cx="965200" cy="63500"/>
          </a:xfrm>
          <a:prstGeom prst="rect">
            <a:avLst/>
          </a:prstGeom>
          <a:solidFill>
            <a:srgbClr val="1E7A3E"/>
          </a:solidFill>
          <a:ln>
            <a:noFill/>
          </a:ln>
        </p:spPr>
        <p:txBody>
          <a:bodyPr/>
          <a:lstStyle/>
          <a:p>
            <a:endParaRPr lang="en-US"/>
          </a:p>
        </p:txBody>
      </p:sp>
      <p:sp>
        <p:nvSpPr>
          <p:cNvPr id="311" name="step1_circle"/>
          <p:cNvSpPr>
            <a:spLocks noGrp="1"/>
          </p:cNvSpPr>
          <p:nvPr/>
        </p:nvSpPr>
        <p:spPr>
          <a:xfrm>
            <a:off x="2247900" y="4241800"/>
            <a:ext cx="457200" cy="457200"/>
          </a:xfrm>
          <a:prstGeom prst="roundRect">
            <a:avLst>
              <a:gd name="adj" fmla="val 50000"/>
            </a:avLst>
          </a:prstGeom>
          <a:solidFill>
            <a:srgbClr val="1E7A3E"/>
          </a:solidFill>
          <a:ln>
            <a:noFill/>
          </a:ln>
        </p:spPr>
        <p:txBody>
          <a:bodyPr/>
          <a:lstStyle/>
          <a:p>
            <a:endParaRPr lang="en-US"/>
          </a:p>
        </p:txBody>
      </p:sp>
      <p:sp>
        <p:nvSpPr>
          <p:cNvPr id="321" name="step1_icon"/>
          <p:cNvSpPr txBox="1">
            <a:spLocks noGrp="1"/>
          </p:cNvSpPr>
          <p:nvPr/>
        </p:nvSpPr>
        <p:spPr>
          <a:xfrm>
            <a:off x="2247900" y="4241800"/>
            <a:ext cx="457200" cy="457200"/>
          </a:xfrm>
          <a:prstGeom prst="rect">
            <a:avLst/>
          </a:prstGeom>
          <a:noFill/>
          <a:ln>
            <a:noFill/>
          </a:ln>
        </p:spPr>
        <p:txBody>
          <a:bodyPr anchor="ctr">
            <a:normAutofit/>
          </a:bodyPr>
          <a:lstStyle/>
          <a:p>
            <a:pPr algn="ctr">
              <a:buNone/>
            </a:pPr>
            <a:r>
              <a:rPr lang="en-US" sz="1000" b="1" dirty="0">
                <a:solidFill>
                  <a:srgbClr val="FFFFFF"/>
                </a:solidFill>
                <a:latin typeface="Calibri"/>
              </a:rPr>
              <a:t>✓</a:t>
            </a:r>
          </a:p>
        </p:txBody>
      </p:sp>
      <p:sp>
        <p:nvSpPr>
          <p:cNvPr id="331" name="step1_label"/>
          <p:cNvSpPr txBox="1">
            <a:spLocks noGrp="1"/>
          </p:cNvSpPr>
          <p:nvPr/>
        </p:nvSpPr>
        <p:spPr>
          <a:xfrm>
            <a:off x="2019300" y="4737100"/>
            <a:ext cx="914400" cy="457200"/>
          </a:xfrm>
          <a:prstGeom prst="rect">
            <a:avLst/>
          </a:prstGeom>
          <a:noFill/>
          <a:ln>
            <a:noFill/>
          </a:ln>
        </p:spPr>
        <p:txBody>
          <a:bodyPr anchor="t">
            <a:normAutofit fontScale="70000" lnSpcReduction="20000"/>
          </a:bodyPr>
          <a:lstStyle/>
          <a:p>
            <a:pPr algn="ctr">
              <a:buNone/>
            </a:pPr>
            <a:r>
              <a:rPr lang="en-IN" sz="1400" dirty="0">
                <a:solidFill>
                  <a:srgbClr val="374151"/>
                </a:solidFill>
                <a:latin typeface="Calibri"/>
              </a:rPr>
              <a:t>Procurement</a:t>
            </a:r>
          </a:p>
          <a:p>
            <a:pPr algn="ctr">
              <a:buNone/>
            </a:pPr>
            <a:r>
              <a:rPr lang="en-IN" sz="1400" dirty="0">
                <a:solidFill>
                  <a:srgbClr val="374151"/>
                </a:solidFill>
                <a:latin typeface="Calibri"/>
              </a:rPr>
              <a:t>Initiated</a:t>
            </a:r>
          </a:p>
        </p:txBody>
      </p:sp>
      <p:sp>
        <p:nvSpPr>
          <p:cNvPr id="302" name="conn2"/>
          <p:cNvSpPr>
            <a:spLocks noGrp="1"/>
          </p:cNvSpPr>
          <p:nvPr/>
        </p:nvSpPr>
        <p:spPr>
          <a:xfrm>
            <a:off x="3975100" y="4432300"/>
            <a:ext cx="965200" cy="63500"/>
          </a:xfrm>
          <a:prstGeom prst="rect">
            <a:avLst/>
          </a:prstGeom>
          <a:solidFill>
            <a:srgbClr val="1E7A3E"/>
          </a:solidFill>
          <a:ln>
            <a:noFill/>
          </a:ln>
        </p:spPr>
        <p:txBody>
          <a:bodyPr/>
          <a:lstStyle/>
          <a:p>
            <a:endParaRPr lang="en-US"/>
          </a:p>
        </p:txBody>
      </p:sp>
      <p:sp>
        <p:nvSpPr>
          <p:cNvPr id="312" name="step2_circle"/>
          <p:cNvSpPr>
            <a:spLocks noGrp="1"/>
          </p:cNvSpPr>
          <p:nvPr/>
        </p:nvSpPr>
        <p:spPr>
          <a:xfrm>
            <a:off x="3721100" y="4241800"/>
            <a:ext cx="457200" cy="457200"/>
          </a:xfrm>
          <a:prstGeom prst="roundRect">
            <a:avLst>
              <a:gd name="adj" fmla="val 50000"/>
            </a:avLst>
          </a:prstGeom>
          <a:solidFill>
            <a:srgbClr val="1E7A3E"/>
          </a:solidFill>
          <a:ln>
            <a:noFill/>
          </a:ln>
        </p:spPr>
        <p:txBody>
          <a:bodyPr/>
          <a:lstStyle/>
          <a:p>
            <a:endParaRPr lang="en-US"/>
          </a:p>
        </p:txBody>
      </p:sp>
      <p:sp>
        <p:nvSpPr>
          <p:cNvPr id="322" name="step2_icon"/>
          <p:cNvSpPr txBox="1">
            <a:spLocks noGrp="1"/>
          </p:cNvSpPr>
          <p:nvPr/>
        </p:nvSpPr>
        <p:spPr>
          <a:xfrm>
            <a:off x="3721100" y="4241800"/>
            <a:ext cx="457200" cy="457200"/>
          </a:xfrm>
          <a:prstGeom prst="rect">
            <a:avLst/>
          </a:prstGeom>
          <a:noFill/>
          <a:ln>
            <a:noFill/>
          </a:ln>
        </p:spPr>
        <p:txBody>
          <a:bodyPr anchor="ctr">
            <a:normAutofit/>
          </a:bodyPr>
          <a:lstStyle/>
          <a:p>
            <a:pPr algn="ctr">
              <a:buNone/>
            </a:pPr>
            <a:r>
              <a:rPr lang="en-US" sz="1000" b="1" dirty="0">
                <a:solidFill>
                  <a:srgbClr val="FFFFFF"/>
                </a:solidFill>
                <a:latin typeface="Calibri"/>
              </a:rPr>
              <a:t>✓</a:t>
            </a:r>
          </a:p>
        </p:txBody>
      </p:sp>
      <p:sp>
        <p:nvSpPr>
          <p:cNvPr id="332" name="step2_label"/>
          <p:cNvSpPr txBox="1">
            <a:spLocks noGrp="1"/>
          </p:cNvSpPr>
          <p:nvPr/>
        </p:nvSpPr>
        <p:spPr>
          <a:xfrm>
            <a:off x="3492500" y="4737100"/>
            <a:ext cx="914400" cy="457200"/>
          </a:xfrm>
          <a:prstGeom prst="rect">
            <a:avLst/>
          </a:prstGeom>
          <a:noFill/>
          <a:ln>
            <a:noFill/>
          </a:ln>
        </p:spPr>
        <p:txBody>
          <a:bodyPr anchor="t">
            <a:normAutofit fontScale="92500" lnSpcReduction="10000"/>
          </a:bodyPr>
          <a:lstStyle/>
          <a:p>
            <a:pPr algn="ctr">
              <a:buNone/>
            </a:pPr>
            <a:r>
              <a:rPr lang="en-IN" sz="1400" dirty="0">
                <a:solidFill>
                  <a:srgbClr val="374151"/>
                </a:solidFill>
                <a:latin typeface="Calibri"/>
              </a:rPr>
              <a:t>CAD</a:t>
            </a:r>
          </a:p>
          <a:p>
            <a:pPr algn="ctr">
              <a:buNone/>
            </a:pPr>
            <a:r>
              <a:rPr lang="en-IN" sz="1400" dirty="0">
                <a:solidFill>
                  <a:srgbClr val="374151"/>
                </a:solidFill>
                <a:latin typeface="Calibri"/>
              </a:rPr>
              <a:t>Design</a:t>
            </a:r>
          </a:p>
        </p:txBody>
      </p:sp>
      <p:sp>
        <p:nvSpPr>
          <p:cNvPr id="303" name="conn3"/>
          <p:cNvSpPr>
            <a:spLocks noGrp="1"/>
          </p:cNvSpPr>
          <p:nvPr/>
        </p:nvSpPr>
        <p:spPr>
          <a:xfrm>
            <a:off x="5448300" y="4432300"/>
            <a:ext cx="965200" cy="63500"/>
          </a:xfrm>
          <a:prstGeom prst="rect">
            <a:avLst/>
          </a:prstGeom>
          <a:solidFill>
            <a:srgbClr val="1E7A3E"/>
          </a:solidFill>
          <a:ln>
            <a:noFill/>
          </a:ln>
        </p:spPr>
        <p:txBody>
          <a:bodyPr/>
          <a:lstStyle/>
          <a:p>
            <a:endParaRPr lang="en-US"/>
          </a:p>
        </p:txBody>
      </p:sp>
      <p:sp>
        <p:nvSpPr>
          <p:cNvPr id="313" name="step3_circle"/>
          <p:cNvSpPr>
            <a:spLocks noGrp="1"/>
          </p:cNvSpPr>
          <p:nvPr/>
        </p:nvSpPr>
        <p:spPr>
          <a:xfrm>
            <a:off x="5194300" y="4241800"/>
            <a:ext cx="457200" cy="457200"/>
          </a:xfrm>
          <a:prstGeom prst="roundRect">
            <a:avLst>
              <a:gd name="adj" fmla="val 50000"/>
            </a:avLst>
          </a:prstGeom>
          <a:solidFill>
            <a:srgbClr val="1E7A3E"/>
          </a:solidFill>
          <a:ln>
            <a:noFill/>
          </a:ln>
        </p:spPr>
        <p:txBody>
          <a:bodyPr/>
          <a:lstStyle/>
          <a:p>
            <a:endParaRPr lang="en-US"/>
          </a:p>
        </p:txBody>
      </p:sp>
      <p:sp>
        <p:nvSpPr>
          <p:cNvPr id="323" name="step3_icon"/>
          <p:cNvSpPr txBox="1">
            <a:spLocks noGrp="1"/>
          </p:cNvSpPr>
          <p:nvPr/>
        </p:nvSpPr>
        <p:spPr>
          <a:xfrm>
            <a:off x="5194300" y="4241800"/>
            <a:ext cx="457200" cy="457200"/>
          </a:xfrm>
          <a:prstGeom prst="rect">
            <a:avLst/>
          </a:prstGeom>
          <a:noFill/>
          <a:ln>
            <a:noFill/>
          </a:ln>
        </p:spPr>
        <p:txBody>
          <a:bodyPr anchor="ctr">
            <a:normAutofit/>
          </a:bodyPr>
          <a:lstStyle/>
          <a:p>
            <a:pPr algn="ctr">
              <a:buNone/>
            </a:pPr>
            <a:r>
              <a:rPr lang="en-US" sz="1000" b="1" dirty="0">
                <a:solidFill>
                  <a:srgbClr val="FFFFFF"/>
                </a:solidFill>
                <a:latin typeface="Calibri"/>
              </a:rPr>
              <a:t>✓</a:t>
            </a:r>
          </a:p>
        </p:txBody>
      </p:sp>
      <p:sp>
        <p:nvSpPr>
          <p:cNvPr id="333" name="step3_label"/>
          <p:cNvSpPr txBox="1">
            <a:spLocks noGrp="1"/>
          </p:cNvSpPr>
          <p:nvPr/>
        </p:nvSpPr>
        <p:spPr>
          <a:xfrm>
            <a:off x="4965700" y="4737100"/>
            <a:ext cx="914400" cy="457200"/>
          </a:xfrm>
          <a:prstGeom prst="rect">
            <a:avLst/>
          </a:prstGeom>
          <a:noFill/>
          <a:ln>
            <a:noFill/>
          </a:ln>
        </p:spPr>
        <p:txBody>
          <a:bodyPr anchor="t">
            <a:normAutofit fontScale="92500" lnSpcReduction="10000"/>
          </a:bodyPr>
          <a:lstStyle/>
          <a:p>
            <a:pPr algn="ctr">
              <a:buNone/>
            </a:pPr>
            <a:r>
              <a:rPr lang="en-IN" sz="1400" dirty="0">
                <a:solidFill>
                  <a:srgbClr val="374151"/>
                </a:solidFill>
                <a:latin typeface="Calibri"/>
              </a:rPr>
              <a:t>Prototype</a:t>
            </a:r>
          </a:p>
          <a:p>
            <a:pPr algn="ctr">
              <a:buNone/>
            </a:pPr>
            <a:r>
              <a:rPr lang="en-IN" sz="1400" dirty="0">
                <a:solidFill>
                  <a:srgbClr val="374151"/>
                </a:solidFill>
                <a:latin typeface="Calibri"/>
              </a:rPr>
              <a:t>Printing</a:t>
            </a:r>
          </a:p>
        </p:txBody>
      </p:sp>
      <p:sp>
        <p:nvSpPr>
          <p:cNvPr id="304" name="conn4"/>
          <p:cNvSpPr>
            <a:spLocks noGrp="1"/>
          </p:cNvSpPr>
          <p:nvPr/>
        </p:nvSpPr>
        <p:spPr>
          <a:xfrm>
            <a:off x="6921500" y="4432300"/>
            <a:ext cx="965200" cy="63500"/>
          </a:xfrm>
          <a:prstGeom prst="rect">
            <a:avLst/>
          </a:prstGeom>
          <a:solidFill>
            <a:srgbClr val="1E7A3E"/>
          </a:solidFill>
          <a:ln>
            <a:noFill/>
          </a:ln>
        </p:spPr>
        <p:txBody>
          <a:bodyPr/>
          <a:lstStyle/>
          <a:p>
            <a:endParaRPr lang="en-US"/>
          </a:p>
        </p:txBody>
      </p:sp>
      <p:sp>
        <p:nvSpPr>
          <p:cNvPr id="314" name="step4_circle"/>
          <p:cNvSpPr>
            <a:spLocks noGrp="1"/>
          </p:cNvSpPr>
          <p:nvPr/>
        </p:nvSpPr>
        <p:spPr>
          <a:xfrm>
            <a:off x="6667500" y="4241800"/>
            <a:ext cx="457200" cy="457200"/>
          </a:xfrm>
          <a:prstGeom prst="roundRect">
            <a:avLst>
              <a:gd name="adj" fmla="val 50000"/>
            </a:avLst>
          </a:prstGeom>
          <a:solidFill>
            <a:srgbClr val="1E7A3E"/>
          </a:solidFill>
          <a:ln>
            <a:noFill/>
          </a:ln>
        </p:spPr>
        <p:txBody>
          <a:bodyPr/>
          <a:lstStyle/>
          <a:p>
            <a:endParaRPr lang="en-US"/>
          </a:p>
        </p:txBody>
      </p:sp>
      <p:sp>
        <p:nvSpPr>
          <p:cNvPr id="324" name="step4_icon"/>
          <p:cNvSpPr txBox="1">
            <a:spLocks noGrp="1"/>
          </p:cNvSpPr>
          <p:nvPr/>
        </p:nvSpPr>
        <p:spPr>
          <a:xfrm>
            <a:off x="6667500" y="4241800"/>
            <a:ext cx="457200" cy="457200"/>
          </a:xfrm>
          <a:prstGeom prst="rect">
            <a:avLst/>
          </a:prstGeom>
          <a:noFill/>
          <a:ln>
            <a:noFill/>
          </a:ln>
        </p:spPr>
        <p:txBody>
          <a:bodyPr anchor="ctr">
            <a:normAutofit/>
          </a:bodyPr>
          <a:lstStyle/>
          <a:p>
            <a:pPr algn="ctr">
              <a:buNone/>
            </a:pPr>
            <a:r>
              <a:rPr lang="en-US" sz="1000" b="1" dirty="0">
                <a:solidFill>
                  <a:srgbClr val="FFFFFF"/>
                </a:solidFill>
                <a:latin typeface="Calibri"/>
              </a:rPr>
              <a:t>✓</a:t>
            </a:r>
          </a:p>
        </p:txBody>
      </p:sp>
      <p:sp>
        <p:nvSpPr>
          <p:cNvPr id="334" name="step4_label"/>
          <p:cNvSpPr txBox="1">
            <a:spLocks noGrp="1"/>
          </p:cNvSpPr>
          <p:nvPr/>
        </p:nvSpPr>
        <p:spPr>
          <a:xfrm>
            <a:off x="6438900" y="4737100"/>
            <a:ext cx="914400" cy="457200"/>
          </a:xfrm>
          <a:prstGeom prst="rect">
            <a:avLst/>
          </a:prstGeom>
          <a:noFill/>
          <a:ln>
            <a:noFill/>
          </a:ln>
        </p:spPr>
        <p:txBody>
          <a:bodyPr anchor="t">
            <a:normAutofit fontScale="92500" lnSpcReduction="10000"/>
          </a:bodyPr>
          <a:lstStyle/>
          <a:p>
            <a:pPr algn="ctr">
              <a:buNone/>
            </a:pPr>
            <a:r>
              <a:rPr lang="en-IN" sz="1400" dirty="0">
                <a:solidFill>
                  <a:srgbClr val="374151"/>
                </a:solidFill>
                <a:latin typeface="Calibri"/>
              </a:rPr>
              <a:t>RPi</a:t>
            </a:r>
          </a:p>
          <a:p>
            <a:pPr algn="ctr">
              <a:buNone/>
            </a:pPr>
            <a:r>
              <a:rPr lang="en-IN" sz="1400" dirty="0">
                <a:solidFill>
                  <a:srgbClr val="374151"/>
                </a:solidFill>
                <a:latin typeface="Calibri"/>
              </a:rPr>
              <a:t>Learning</a:t>
            </a:r>
          </a:p>
        </p:txBody>
      </p:sp>
      <p:sp>
        <p:nvSpPr>
          <p:cNvPr id="305" name="conn5"/>
          <p:cNvSpPr>
            <a:spLocks noGrp="1"/>
          </p:cNvSpPr>
          <p:nvPr/>
        </p:nvSpPr>
        <p:spPr>
          <a:xfrm>
            <a:off x="8394700" y="4432300"/>
            <a:ext cx="965200" cy="63500"/>
          </a:xfrm>
          <a:prstGeom prst="rect">
            <a:avLst/>
          </a:prstGeom>
          <a:solidFill>
            <a:srgbClr val="CBD5E1"/>
          </a:solidFill>
          <a:ln>
            <a:noFill/>
          </a:ln>
        </p:spPr>
        <p:txBody>
          <a:bodyPr/>
          <a:lstStyle/>
          <a:p>
            <a:endParaRPr lang="en-US"/>
          </a:p>
        </p:txBody>
      </p:sp>
      <p:sp>
        <p:nvSpPr>
          <p:cNvPr id="315" name="step5_circle"/>
          <p:cNvSpPr>
            <a:spLocks noGrp="1"/>
          </p:cNvSpPr>
          <p:nvPr/>
        </p:nvSpPr>
        <p:spPr>
          <a:xfrm>
            <a:off x="8140700" y="4241800"/>
            <a:ext cx="457200" cy="457200"/>
          </a:xfrm>
          <a:prstGeom prst="roundRect">
            <a:avLst>
              <a:gd name="adj" fmla="val 50000"/>
            </a:avLst>
          </a:prstGeom>
          <a:solidFill>
            <a:srgbClr val="D97706"/>
          </a:solidFill>
          <a:ln>
            <a:noFill/>
          </a:ln>
        </p:spPr>
        <p:txBody>
          <a:bodyPr/>
          <a:lstStyle/>
          <a:p>
            <a:endParaRPr lang="en-US"/>
          </a:p>
        </p:txBody>
      </p:sp>
      <p:sp>
        <p:nvSpPr>
          <p:cNvPr id="325" name="step5_icon"/>
          <p:cNvSpPr txBox="1">
            <a:spLocks noGrp="1"/>
          </p:cNvSpPr>
          <p:nvPr/>
        </p:nvSpPr>
        <p:spPr>
          <a:xfrm>
            <a:off x="8140700" y="4241800"/>
            <a:ext cx="457200" cy="457200"/>
          </a:xfrm>
          <a:prstGeom prst="rect">
            <a:avLst/>
          </a:prstGeom>
          <a:noFill/>
          <a:ln>
            <a:noFill/>
          </a:ln>
        </p:spPr>
        <p:txBody>
          <a:bodyPr anchor="ctr">
            <a:normAutofit/>
          </a:bodyPr>
          <a:lstStyle/>
          <a:p>
            <a:pPr algn="ctr">
              <a:buNone/>
            </a:pPr>
            <a:r>
              <a:rPr lang="en-US" sz="1000" b="1" dirty="0">
                <a:solidFill>
                  <a:srgbClr val="FFFFFF"/>
                </a:solidFill>
                <a:latin typeface="Calibri"/>
              </a:rPr>
              <a:t>⏳</a:t>
            </a:r>
          </a:p>
        </p:txBody>
      </p:sp>
      <p:sp>
        <p:nvSpPr>
          <p:cNvPr id="335" name="step5_label"/>
          <p:cNvSpPr txBox="1">
            <a:spLocks noGrp="1"/>
          </p:cNvSpPr>
          <p:nvPr/>
        </p:nvSpPr>
        <p:spPr>
          <a:xfrm>
            <a:off x="7912100" y="4737100"/>
            <a:ext cx="914400" cy="457200"/>
          </a:xfrm>
          <a:prstGeom prst="rect">
            <a:avLst/>
          </a:prstGeom>
          <a:noFill/>
          <a:ln>
            <a:noFill/>
          </a:ln>
        </p:spPr>
        <p:txBody>
          <a:bodyPr anchor="t">
            <a:normAutofit fontScale="85000" lnSpcReduction="10000"/>
          </a:bodyPr>
          <a:lstStyle/>
          <a:p>
            <a:pPr algn="ctr">
              <a:buNone/>
            </a:pPr>
            <a:r>
              <a:rPr lang="en-IN" sz="1400" dirty="0">
                <a:solidFill>
                  <a:srgbClr val="374151"/>
                </a:solidFill>
                <a:latin typeface="Calibri"/>
              </a:rPr>
              <a:t>Motor</a:t>
            </a:r>
          </a:p>
          <a:p>
            <a:pPr algn="ctr">
              <a:buNone/>
            </a:pPr>
            <a:r>
              <a:rPr lang="en-IN" sz="1400" dirty="0">
                <a:solidFill>
                  <a:srgbClr val="374151"/>
                </a:solidFill>
                <a:latin typeface="Calibri"/>
              </a:rPr>
              <a:t>Integration</a:t>
            </a:r>
          </a:p>
        </p:txBody>
      </p:sp>
      <p:sp>
        <p:nvSpPr>
          <p:cNvPr id="345" name="step5_status"/>
          <p:cNvSpPr txBox="1">
            <a:spLocks noGrp="1"/>
          </p:cNvSpPr>
          <p:nvPr/>
        </p:nvSpPr>
        <p:spPr>
          <a:xfrm>
            <a:off x="7861300" y="5092700"/>
            <a:ext cx="1016000" cy="203200"/>
          </a:xfrm>
          <a:prstGeom prst="rect">
            <a:avLst/>
          </a:prstGeom>
          <a:noFill/>
          <a:ln>
            <a:noFill/>
          </a:ln>
        </p:spPr>
        <p:txBody>
          <a:bodyPr anchor="t">
            <a:normAutofit fontScale="70000" lnSpcReduction="20000"/>
          </a:bodyPr>
          <a:lstStyle/>
          <a:p>
            <a:pPr algn="ctr">
              <a:buNone/>
            </a:pPr>
            <a:r>
              <a:rPr lang="en-IN" sz="1100" i="1" dirty="0">
                <a:solidFill>
                  <a:srgbClr val="D97706"/>
                </a:solidFill>
                <a:latin typeface="Calibri"/>
              </a:rPr>
              <a:t>Awaiting HW</a:t>
            </a:r>
          </a:p>
        </p:txBody>
      </p:sp>
      <p:sp>
        <p:nvSpPr>
          <p:cNvPr id="316" name="step6_circle"/>
          <p:cNvSpPr>
            <a:spLocks noGrp="1"/>
          </p:cNvSpPr>
          <p:nvPr/>
        </p:nvSpPr>
        <p:spPr>
          <a:xfrm>
            <a:off x="9613900" y="4241800"/>
            <a:ext cx="457200" cy="457200"/>
          </a:xfrm>
          <a:prstGeom prst="roundRect">
            <a:avLst>
              <a:gd name="adj" fmla="val 50000"/>
            </a:avLst>
          </a:prstGeom>
          <a:solidFill>
            <a:srgbClr val="94A3B8"/>
          </a:solidFill>
          <a:ln>
            <a:noFill/>
          </a:ln>
        </p:spPr>
        <p:txBody>
          <a:bodyPr/>
          <a:lstStyle/>
          <a:p>
            <a:endParaRPr lang="en-US"/>
          </a:p>
        </p:txBody>
      </p:sp>
      <p:sp>
        <p:nvSpPr>
          <p:cNvPr id="326" name="step6_icon"/>
          <p:cNvSpPr txBox="1">
            <a:spLocks noGrp="1"/>
          </p:cNvSpPr>
          <p:nvPr/>
        </p:nvSpPr>
        <p:spPr>
          <a:xfrm>
            <a:off x="9613900" y="4241800"/>
            <a:ext cx="457200" cy="457200"/>
          </a:xfrm>
          <a:prstGeom prst="rect">
            <a:avLst/>
          </a:prstGeom>
          <a:noFill/>
          <a:ln>
            <a:noFill/>
          </a:ln>
        </p:spPr>
        <p:txBody>
          <a:bodyPr anchor="ctr">
            <a:normAutofit/>
          </a:bodyPr>
          <a:lstStyle/>
          <a:p>
            <a:pPr algn="ctr">
              <a:buNone/>
            </a:pPr>
            <a:r>
              <a:rPr lang="en-US" sz="1000" b="1" dirty="0">
                <a:solidFill>
                  <a:srgbClr val="FFFFFF"/>
                </a:solidFill>
                <a:latin typeface="Calibri"/>
              </a:rPr>
              <a:t>→</a:t>
            </a:r>
          </a:p>
        </p:txBody>
      </p:sp>
      <p:sp>
        <p:nvSpPr>
          <p:cNvPr id="336" name="step6_label"/>
          <p:cNvSpPr txBox="1">
            <a:spLocks noGrp="1"/>
          </p:cNvSpPr>
          <p:nvPr/>
        </p:nvSpPr>
        <p:spPr>
          <a:xfrm>
            <a:off x="9385300" y="4737100"/>
            <a:ext cx="914400" cy="457200"/>
          </a:xfrm>
          <a:prstGeom prst="rect">
            <a:avLst/>
          </a:prstGeom>
          <a:noFill/>
          <a:ln>
            <a:noFill/>
          </a:ln>
        </p:spPr>
        <p:txBody>
          <a:bodyPr anchor="t">
            <a:normAutofit fontScale="77500" lnSpcReduction="20000"/>
          </a:bodyPr>
          <a:lstStyle/>
          <a:p>
            <a:pPr algn="ctr">
              <a:buNone/>
            </a:pPr>
            <a:r>
              <a:rPr lang="en-IN" sz="1400" dirty="0">
                <a:solidFill>
                  <a:srgbClr val="374151"/>
                </a:solidFill>
                <a:latin typeface="Calibri"/>
              </a:rPr>
              <a:t>Locomotion</a:t>
            </a:r>
          </a:p>
          <a:p>
            <a:pPr algn="ctr">
              <a:buNone/>
            </a:pPr>
            <a:r>
              <a:rPr lang="en-IN" sz="1400" dirty="0">
                <a:solidFill>
                  <a:srgbClr val="374151"/>
                </a:solidFill>
                <a:latin typeface="Calibri"/>
              </a:rPr>
              <a:t>Testing</a:t>
            </a:r>
          </a:p>
        </p:txBody>
      </p:sp>
      <p:sp>
        <p:nvSpPr>
          <p:cNvPr id="346" name="step6_status"/>
          <p:cNvSpPr txBox="1">
            <a:spLocks noGrp="1"/>
          </p:cNvSpPr>
          <p:nvPr/>
        </p:nvSpPr>
        <p:spPr>
          <a:xfrm>
            <a:off x="9334500" y="5092700"/>
            <a:ext cx="1016000" cy="203200"/>
          </a:xfrm>
          <a:prstGeom prst="rect">
            <a:avLst/>
          </a:prstGeom>
          <a:noFill/>
          <a:ln>
            <a:noFill/>
          </a:ln>
        </p:spPr>
        <p:txBody>
          <a:bodyPr anchor="t">
            <a:normAutofit fontScale="70000" lnSpcReduction="20000"/>
          </a:bodyPr>
          <a:lstStyle/>
          <a:p>
            <a:pPr algn="ctr">
              <a:buNone/>
            </a:pPr>
            <a:r>
              <a:rPr lang="en-IN" sz="1100" i="1" dirty="0">
                <a:solidFill>
                  <a:srgbClr val="6B7280"/>
                </a:solidFill>
                <a:latin typeface="Calibri"/>
              </a:rPr>
              <a:t>Upcoming</a:t>
            </a:r>
          </a:p>
        </p:txBody>
      </p:sp>
      <p:sp>
        <p:nvSpPr>
          <p:cNvPr id="400" name="achieve_bg"/>
          <p:cNvSpPr>
            <a:spLocks noGrp="1"/>
          </p:cNvSpPr>
          <p:nvPr/>
        </p:nvSpPr>
        <p:spPr>
          <a:xfrm>
            <a:off x="546100" y="5270500"/>
            <a:ext cx="11099800" cy="838200"/>
          </a:xfrm>
          <a:prstGeom prst="roundRect">
            <a:avLst>
              <a:gd name="adj" fmla="val 10000"/>
            </a:avLst>
          </a:prstGeom>
          <a:solidFill>
            <a:srgbClr val="EBF8FA"/>
          </a:solidFill>
          <a:ln w="15000">
            <a:solidFill>
              <a:srgbClr val="0E96AC"/>
            </a:solidFill>
          </a:ln>
        </p:spPr>
        <p:txBody>
          <a:bodyPr/>
          <a:lstStyle/>
          <a:p>
            <a:endParaRPr lang="en-US"/>
          </a:p>
        </p:txBody>
      </p:sp>
      <p:sp>
        <p:nvSpPr>
          <p:cNvPr id="401" name="achieve_accent"/>
          <p:cNvSpPr>
            <a:spLocks noGrp="1"/>
          </p:cNvSpPr>
          <p:nvPr/>
        </p:nvSpPr>
        <p:spPr>
          <a:xfrm>
            <a:off x="546100" y="5270500"/>
            <a:ext cx="76200" cy="838200"/>
          </a:xfrm>
          <a:prstGeom prst="rect">
            <a:avLst/>
          </a:prstGeom>
          <a:solidFill>
            <a:srgbClr val="0E96AC"/>
          </a:solidFill>
          <a:ln>
            <a:noFill/>
          </a:ln>
        </p:spPr>
        <p:txBody>
          <a:bodyPr/>
          <a:lstStyle/>
          <a:p>
            <a:endParaRPr lang="en-US"/>
          </a:p>
        </p:txBody>
      </p:sp>
      <p:sp>
        <p:nvSpPr>
          <p:cNvPr id="402" name="achieve_star"/>
          <p:cNvSpPr txBox="1">
            <a:spLocks noGrp="1"/>
          </p:cNvSpPr>
          <p:nvPr/>
        </p:nvSpPr>
        <p:spPr>
          <a:xfrm>
            <a:off x="660400" y="5270500"/>
            <a:ext cx="355600" cy="838200"/>
          </a:xfrm>
          <a:prstGeom prst="rect">
            <a:avLst/>
          </a:prstGeom>
          <a:noFill/>
          <a:ln>
            <a:noFill/>
          </a:ln>
        </p:spPr>
        <p:txBody>
          <a:bodyPr anchor="ctr">
            <a:normAutofit/>
          </a:bodyPr>
          <a:lstStyle/>
          <a:p>
            <a:pPr algn="ctr">
              <a:buNone/>
            </a:pPr>
            <a:r>
              <a:rPr lang="en-US" sz="1600" dirty="0">
                <a:solidFill>
                  <a:srgbClr val="0E96AC"/>
                </a:solidFill>
                <a:latin typeface="Calibri"/>
              </a:rPr>
              <a:t>★</a:t>
            </a:r>
          </a:p>
        </p:txBody>
      </p:sp>
      <p:sp>
        <p:nvSpPr>
          <p:cNvPr id="403" name="achieve_text"/>
          <p:cNvSpPr txBox="1">
            <a:spLocks noGrp="1"/>
          </p:cNvSpPr>
          <p:nvPr/>
        </p:nvSpPr>
        <p:spPr>
          <a:xfrm>
            <a:off x="1041400" y="5295900"/>
            <a:ext cx="10515600" cy="787400"/>
          </a:xfrm>
          <a:prstGeom prst="rect">
            <a:avLst/>
          </a:prstGeom>
          <a:noFill/>
          <a:ln>
            <a:noFill/>
          </a:ln>
        </p:spPr>
        <p:txBody>
          <a:bodyPr anchor="ctr">
            <a:normAutofit/>
          </a:bodyPr>
          <a:lstStyle/>
          <a:p>
            <a:pPr marL="0" indent="0">
              <a:buNone/>
            </a:pPr>
            <a:r>
              <a:rPr lang="en-IN" sz="1100" b="1" dirty="0">
                <a:solidFill>
                  <a:srgbClr val="16223A"/>
                </a:solidFill>
                <a:latin typeface="Calibri"/>
              </a:rPr>
              <a:t>Key Achievement: </a:t>
            </a:r>
            <a:r>
              <a:rPr lang="en-IN" sz="1100" dirty="0">
                <a:solidFill>
                  <a:srgbClr val="374151"/>
                </a:solidFill>
                <a:latin typeface="Calibri"/>
              </a:rPr>
              <a:t>Although the primary Dynamixel hardware has not yet arrived, the team has successfully utilised available laboratory resources to complete design, fabrication, documentation, and software preparation activities, ensuring project progress is maintained.</a:t>
            </a:r>
          </a:p>
        </p:txBody>
      </p:sp>
    </p:spTree>
    <p:extLst>
      <p:ext uri="{BB962C8B-B14F-4D97-AF65-F5344CB8AC3E}">
        <p14:creationId xmlns:p14="http://schemas.microsoft.com/office/powerpoint/2010/main" val="41449805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6F8FB"/>
        </a:solidFill>
        <a:effectLst/>
      </p:bgPr>
    </p:bg>
    <p:spTree>
      <p:nvGrpSpPr>
        <p:cNvPr id="1" name=""/>
        <p:cNvGrpSpPr/>
        <p:nvPr/>
      </p:nvGrpSpPr>
      <p:grpSpPr>
        <a:xfrm>
          <a:off x="0" y="0"/>
          <a:ext cx="0" cy="0"/>
          <a:chOff x="0" y="0"/>
          <a:chExt cx="0" cy="0"/>
        </a:xfrm>
      </p:grpSpPr>
      <p:sp>
        <p:nvSpPr>
          <p:cNvPr id="100" name="bg_hdr"/>
          <p:cNvSpPr>
            <a:spLocks noGrp="1"/>
          </p:cNvSpPr>
          <p:nvPr/>
        </p:nvSpPr>
        <p:spPr>
          <a:xfrm>
            <a:off x="0" y="0"/>
            <a:ext cx="12192000" cy="1371600"/>
          </a:xfrm>
          <a:prstGeom prst="rect">
            <a:avLst/>
          </a:prstGeom>
          <a:solidFill>
            <a:srgbClr val="F4F6F9"/>
          </a:solidFill>
          <a:ln>
            <a:noFill/>
          </a:ln>
        </p:spPr>
        <p:txBody>
          <a:bodyPr/>
          <a:lstStyle/>
          <a:p>
            <a:endParaRPr lang="en-US" dirty="0"/>
          </a:p>
        </p:txBody>
      </p:sp>
      <p:sp>
        <p:nvSpPr>
          <p:cNvPr id="101" name="bg_body"/>
          <p:cNvSpPr>
            <a:spLocks noGrp="1"/>
          </p:cNvSpPr>
          <p:nvPr/>
        </p:nvSpPr>
        <p:spPr>
          <a:xfrm>
            <a:off x="0" y="1371600"/>
            <a:ext cx="12192000" cy="5486400"/>
          </a:xfrm>
          <a:prstGeom prst="rect">
            <a:avLst/>
          </a:prstGeom>
          <a:solidFill>
            <a:srgbClr val="FFFFFF"/>
          </a:solidFill>
          <a:ln>
            <a:noFill/>
          </a:ln>
        </p:spPr>
        <p:txBody>
          <a:bodyPr/>
          <a:lstStyle/>
          <a:p>
            <a:endParaRPr lang="en-US" dirty="0"/>
          </a:p>
        </p:txBody>
      </p:sp>
      <p:sp>
        <p:nvSpPr>
          <p:cNvPr id="102" name="teal_bar"/>
          <p:cNvSpPr>
            <a:spLocks noGrp="1"/>
          </p:cNvSpPr>
          <p:nvPr/>
        </p:nvSpPr>
        <p:spPr>
          <a:xfrm>
            <a:off x="0" y="0"/>
            <a:ext cx="12192000" cy="63500"/>
          </a:xfrm>
          <a:prstGeom prst="rect">
            <a:avLst/>
          </a:prstGeom>
          <a:solidFill>
            <a:srgbClr val="0E96AC"/>
          </a:solidFill>
          <a:ln>
            <a:noFill/>
          </a:ln>
        </p:spPr>
        <p:txBody>
          <a:bodyPr/>
          <a:lstStyle/>
          <a:p>
            <a:endParaRPr lang="en-US" dirty="0"/>
          </a:p>
        </p:txBody>
      </p:sp>
      <p:sp>
        <p:nvSpPr>
          <p:cNvPr id="103" name="div_v"/>
          <p:cNvSpPr>
            <a:spLocks noGrp="1"/>
          </p:cNvSpPr>
          <p:nvPr/>
        </p:nvSpPr>
        <p:spPr>
          <a:xfrm>
            <a:off x="4241800" y="1422400"/>
            <a:ext cx="25400" cy="5257800"/>
          </a:xfrm>
          <a:prstGeom prst="rect">
            <a:avLst/>
          </a:prstGeom>
          <a:solidFill>
            <a:srgbClr val="CBD5E1"/>
          </a:solidFill>
          <a:ln>
            <a:noFill/>
          </a:ln>
        </p:spPr>
        <p:txBody>
          <a:bodyPr/>
          <a:lstStyle/>
          <a:p>
            <a:endParaRPr lang="en-US" dirty="0"/>
          </a:p>
        </p:txBody>
      </p:sp>
      <p:sp>
        <p:nvSpPr>
          <p:cNvPr id="104" name="subt"/>
          <p:cNvSpPr txBox="1">
            <a:spLocks noGrp="1"/>
          </p:cNvSpPr>
          <p:nvPr/>
        </p:nvSpPr>
        <p:spPr>
          <a:xfrm>
            <a:off x="546100" y="177800"/>
            <a:ext cx="8890000" cy="254000"/>
          </a:xfrm>
          <a:prstGeom prst="rect">
            <a:avLst/>
          </a:prstGeom>
          <a:noFill/>
          <a:ln>
            <a:noFill/>
          </a:ln>
        </p:spPr>
        <p:txBody>
          <a:bodyPr anchor="t">
            <a:normAutofit lnSpcReduction="10000"/>
          </a:bodyPr>
          <a:lstStyle/>
          <a:p>
            <a:pPr marL="0" indent="0">
              <a:buNone/>
            </a:pPr>
            <a:r>
              <a:rPr lang="en-IN" sz="1100" b="1" kern="0" spc="300" dirty="0">
                <a:solidFill>
                  <a:srgbClr val="0E96AC"/>
                </a:solidFill>
                <a:latin typeface="Calibri"/>
              </a:rPr>
              <a:t>REPOSITORY &amp; DOCUMENTATION</a:t>
            </a:r>
          </a:p>
        </p:txBody>
      </p:sp>
      <p:sp>
        <p:nvSpPr>
          <p:cNvPr id="105" name="ttl"/>
          <p:cNvSpPr txBox="1">
            <a:spLocks noGrp="1"/>
          </p:cNvSpPr>
          <p:nvPr/>
        </p:nvSpPr>
        <p:spPr>
          <a:xfrm>
            <a:off x="546100" y="406400"/>
            <a:ext cx="11049000" cy="660400"/>
          </a:xfrm>
          <a:prstGeom prst="rect">
            <a:avLst/>
          </a:prstGeom>
          <a:noFill/>
          <a:ln>
            <a:noFill/>
          </a:ln>
        </p:spPr>
        <p:txBody>
          <a:bodyPr anchor="t">
            <a:normAutofit/>
          </a:bodyPr>
          <a:lstStyle/>
          <a:p>
            <a:pPr marL="0" indent="0">
              <a:buNone/>
            </a:pPr>
            <a:r>
              <a:rPr lang="en-IN" sz="2800" b="1" dirty="0">
                <a:solidFill>
                  <a:srgbClr val="16223A"/>
                </a:solidFill>
                <a:latin typeface="Calibri"/>
              </a:rPr>
              <a:t>Version Control From Day One</a:t>
            </a:r>
          </a:p>
        </p:txBody>
      </p:sp>
      <p:sp>
        <p:nvSpPr>
          <p:cNvPr id="106" name="hdr_ln"/>
          <p:cNvSpPr>
            <a:spLocks noGrp="1"/>
          </p:cNvSpPr>
          <p:nvPr/>
        </p:nvSpPr>
        <p:spPr>
          <a:xfrm>
            <a:off x="546100" y="1320800"/>
            <a:ext cx="11099800" cy="25400"/>
          </a:xfrm>
          <a:prstGeom prst="rect">
            <a:avLst/>
          </a:prstGeom>
          <a:solidFill>
            <a:srgbClr val="0E96AC"/>
          </a:solidFill>
          <a:ln>
            <a:noFill/>
          </a:ln>
        </p:spPr>
        <p:txBody>
          <a:bodyPr/>
          <a:lstStyle/>
          <a:p>
            <a:endParaRPr lang="en-US" dirty="0"/>
          </a:p>
        </p:txBody>
      </p:sp>
      <p:sp>
        <p:nvSpPr>
          <p:cNvPr id="200" name="rbg0"/>
          <p:cNvSpPr>
            <a:spLocks noGrp="1"/>
          </p:cNvSpPr>
          <p:nvPr/>
        </p:nvSpPr>
        <p:spPr>
          <a:xfrm>
            <a:off x="546100" y="1422400"/>
            <a:ext cx="3632200" cy="838200"/>
          </a:xfrm>
          <a:prstGeom prst="rect">
            <a:avLst/>
          </a:prstGeom>
          <a:solidFill>
            <a:srgbClr val="F8FAFC"/>
          </a:solidFill>
          <a:ln>
            <a:noFill/>
          </a:ln>
        </p:spPr>
        <p:txBody>
          <a:bodyPr/>
          <a:lstStyle/>
          <a:p>
            <a:endParaRPr lang="en-US" dirty="0"/>
          </a:p>
        </p:txBody>
      </p:sp>
      <p:sp>
        <p:nvSpPr>
          <p:cNvPr id="210" name="nc0"/>
          <p:cNvSpPr>
            <a:spLocks noGrp="1"/>
          </p:cNvSpPr>
          <p:nvPr/>
        </p:nvSpPr>
        <p:spPr>
          <a:xfrm>
            <a:off x="609600" y="1689100"/>
            <a:ext cx="304800" cy="304800"/>
          </a:xfrm>
          <a:prstGeom prst="ellipse">
            <a:avLst/>
          </a:prstGeom>
          <a:solidFill>
            <a:srgbClr val="0E96AC"/>
          </a:solidFill>
          <a:ln>
            <a:noFill/>
          </a:ln>
        </p:spPr>
        <p:txBody>
          <a:bodyPr/>
          <a:lstStyle/>
          <a:p>
            <a:endParaRPr lang="en-US" dirty="0"/>
          </a:p>
        </p:txBody>
      </p:sp>
      <p:sp>
        <p:nvSpPr>
          <p:cNvPr id="220" name="nct0"/>
          <p:cNvSpPr txBox="1">
            <a:spLocks noGrp="1"/>
          </p:cNvSpPr>
          <p:nvPr/>
        </p:nvSpPr>
        <p:spPr>
          <a:xfrm>
            <a:off x="609600" y="1689100"/>
            <a:ext cx="304800" cy="304800"/>
          </a:xfrm>
          <a:prstGeom prst="rect">
            <a:avLst/>
          </a:prstGeom>
          <a:noFill/>
          <a:ln>
            <a:noFill/>
          </a:ln>
        </p:spPr>
        <p:txBody>
          <a:bodyPr anchor="ctr">
            <a:normAutofit/>
          </a:bodyPr>
          <a:lstStyle/>
          <a:p>
            <a:pPr algn="ctr">
              <a:buNone/>
            </a:pPr>
            <a:r>
              <a:rPr lang="en-IN" sz="1000" b="1" dirty="0">
                <a:solidFill>
                  <a:srgbClr val="FFFFFF"/>
                </a:solidFill>
                <a:latin typeface="Calibri"/>
              </a:rPr>
              <a:t>1</a:t>
            </a:r>
          </a:p>
        </p:txBody>
      </p:sp>
      <p:sp>
        <p:nvSpPr>
          <p:cNvPr id="230" name="bt0"/>
          <p:cNvSpPr txBox="1">
            <a:spLocks noGrp="1"/>
          </p:cNvSpPr>
          <p:nvPr/>
        </p:nvSpPr>
        <p:spPr>
          <a:xfrm>
            <a:off x="1003300" y="1498600"/>
            <a:ext cx="3162300" cy="736600"/>
          </a:xfrm>
          <a:prstGeom prst="rect">
            <a:avLst/>
          </a:prstGeom>
          <a:noFill/>
          <a:ln>
            <a:noFill/>
          </a:ln>
        </p:spPr>
        <p:txBody>
          <a:bodyPr anchor="t">
            <a:normAutofit/>
          </a:bodyPr>
          <a:lstStyle/>
          <a:p>
            <a:pPr marL="0" indent="0">
              <a:buNone/>
            </a:pPr>
            <a:r>
              <a:rPr lang="en-IN" sz="1500" b="1" dirty="0">
                <a:solidFill>
                  <a:srgbClr val="16223A"/>
                </a:solidFill>
                <a:latin typeface="Calibri"/>
              </a:rPr>
              <a:t>Repository created</a:t>
            </a:r>
          </a:p>
          <a:p>
            <a:pPr marL="0" indent="0">
              <a:buNone/>
            </a:pPr>
            <a:r>
              <a:rPr lang="en-IN" sz="1400" dirty="0">
                <a:solidFill>
                  <a:srgbClr val="6B7890"/>
                </a:solidFill>
                <a:latin typeface="Calibri"/>
              </a:rPr>
              <a:t>Central home for the whole project.</a:t>
            </a:r>
          </a:p>
        </p:txBody>
      </p:sp>
      <p:sp>
        <p:nvSpPr>
          <p:cNvPr id="240" name="rdiv0"/>
          <p:cNvSpPr>
            <a:spLocks noGrp="1"/>
          </p:cNvSpPr>
          <p:nvPr/>
        </p:nvSpPr>
        <p:spPr>
          <a:xfrm>
            <a:off x="546100" y="2247900"/>
            <a:ext cx="3632200" cy="12700"/>
          </a:xfrm>
          <a:prstGeom prst="rect">
            <a:avLst/>
          </a:prstGeom>
          <a:solidFill>
            <a:srgbClr val="E2E8F0"/>
          </a:solidFill>
          <a:ln>
            <a:noFill/>
          </a:ln>
        </p:spPr>
        <p:txBody>
          <a:bodyPr/>
          <a:lstStyle/>
          <a:p>
            <a:endParaRPr lang="en-US" dirty="0"/>
          </a:p>
        </p:txBody>
      </p:sp>
      <p:sp>
        <p:nvSpPr>
          <p:cNvPr id="211" name="nc1"/>
          <p:cNvSpPr>
            <a:spLocks noGrp="1"/>
          </p:cNvSpPr>
          <p:nvPr/>
        </p:nvSpPr>
        <p:spPr>
          <a:xfrm>
            <a:off x="609600" y="2527300"/>
            <a:ext cx="304800" cy="304800"/>
          </a:xfrm>
          <a:prstGeom prst="ellipse">
            <a:avLst/>
          </a:prstGeom>
          <a:solidFill>
            <a:srgbClr val="0E96AC"/>
          </a:solidFill>
          <a:ln>
            <a:noFill/>
          </a:ln>
        </p:spPr>
        <p:txBody>
          <a:bodyPr/>
          <a:lstStyle/>
          <a:p>
            <a:endParaRPr lang="en-US" dirty="0"/>
          </a:p>
        </p:txBody>
      </p:sp>
      <p:sp>
        <p:nvSpPr>
          <p:cNvPr id="221" name="nct1"/>
          <p:cNvSpPr txBox="1">
            <a:spLocks noGrp="1"/>
          </p:cNvSpPr>
          <p:nvPr/>
        </p:nvSpPr>
        <p:spPr>
          <a:xfrm>
            <a:off x="609600" y="2527300"/>
            <a:ext cx="304800" cy="304800"/>
          </a:xfrm>
          <a:prstGeom prst="rect">
            <a:avLst/>
          </a:prstGeom>
          <a:noFill/>
          <a:ln>
            <a:noFill/>
          </a:ln>
        </p:spPr>
        <p:txBody>
          <a:bodyPr anchor="ctr">
            <a:normAutofit/>
          </a:bodyPr>
          <a:lstStyle/>
          <a:p>
            <a:pPr algn="ctr">
              <a:buNone/>
            </a:pPr>
            <a:r>
              <a:rPr lang="en-IN" sz="1000" b="1" dirty="0">
                <a:solidFill>
                  <a:srgbClr val="FFFFFF"/>
                </a:solidFill>
                <a:latin typeface="Calibri"/>
              </a:rPr>
              <a:t>2</a:t>
            </a:r>
          </a:p>
        </p:txBody>
      </p:sp>
      <p:sp>
        <p:nvSpPr>
          <p:cNvPr id="231" name="bt1"/>
          <p:cNvSpPr txBox="1">
            <a:spLocks noGrp="1"/>
          </p:cNvSpPr>
          <p:nvPr/>
        </p:nvSpPr>
        <p:spPr>
          <a:xfrm>
            <a:off x="1003300" y="2336800"/>
            <a:ext cx="3162300" cy="736600"/>
          </a:xfrm>
          <a:prstGeom prst="rect">
            <a:avLst/>
          </a:prstGeom>
          <a:noFill/>
          <a:ln>
            <a:noFill/>
          </a:ln>
        </p:spPr>
        <p:txBody>
          <a:bodyPr anchor="t">
            <a:normAutofit/>
          </a:bodyPr>
          <a:lstStyle/>
          <a:p>
            <a:pPr marL="0" indent="0">
              <a:buNone/>
            </a:pPr>
            <a:r>
              <a:rPr lang="en-IN" sz="1500" b="1" dirty="0">
                <a:solidFill>
                  <a:srgbClr val="16223A"/>
                </a:solidFill>
                <a:latin typeface="Calibri"/>
              </a:rPr>
              <a:t>Version control established</a:t>
            </a:r>
          </a:p>
          <a:p>
            <a:pPr marL="0" indent="0">
              <a:buNone/>
            </a:pPr>
            <a:r>
              <a:rPr lang="en-IN" sz="1400" dirty="0">
                <a:solidFill>
                  <a:srgbClr val="6B7890"/>
                </a:solidFill>
                <a:latin typeface="Calibri"/>
              </a:rPr>
              <a:t>Tracked, reversible change history.</a:t>
            </a:r>
          </a:p>
        </p:txBody>
      </p:sp>
      <p:sp>
        <p:nvSpPr>
          <p:cNvPr id="241" name="rdiv1"/>
          <p:cNvSpPr>
            <a:spLocks noGrp="1"/>
          </p:cNvSpPr>
          <p:nvPr/>
        </p:nvSpPr>
        <p:spPr>
          <a:xfrm>
            <a:off x="546100" y="3086100"/>
            <a:ext cx="3632200" cy="12700"/>
          </a:xfrm>
          <a:prstGeom prst="rect">
            <a:avLst/>
          </a:prstGeom>
          <a:solidFill>
            <a:srgbClr val="E2E8F0"/>
          </a:solidFill>
          <a:ln>
            <a:noFill/>
          </a:ln>
        </p:spPr>
        <p:txBody>
          <a:bodyPr/>
          <a:lstStyle/>
          <a:p>
            <a:endParaRPr lang="en-US" dirty="0"/>
          </a:p>
        </p:txBody>
      </p:sp>
      <p:sp>
        <p:nvSpPr>
          <p:cNvPr id="202" name="rbg2"/>
          <p:cNvSpPr>
            <a:spLocks noGrp="1"/>
          </p:cNvSpPr>
          <p:nvPr/>
        </p:nvSpPr>
        <p:spPr>
          <a:xfrm>
            <a:off x="546100" y="3098800"/>
            <a:ext cx="3632200" cy="838200"/>
          </a:xfrm>
          <a:prstGeom prst="rect">
            <a:avLst/>
          </a:prstGeom>
          <a:solidFill>
            <a:srgbClr val="F8FAFC"/>
          </a:solidFill>
          <a:ln>
            <a:noFill/>
          </a:ln>
        </p:spPr>
        <p:txBody>
          <a:bodyPr/>
          <a:lstStyle/>
          <a:p>
            <a:endParaRPr lang="en-US" dirty="0"/>
          </a:p>
        </p:txBody>
      </p:sp>
      <p:sp>
        <p:nvSpPr>
          <p:cNvPr id="212" name="nc2"/>
          <p:cNvSpPr>
            <a:spLocks noGrp="1"/>
          </p:cNvSpPr>
          <p:nvPr/>
        </p:nvSpPr>
        <p:spPr>
          <a:xfrm>
            <a:off x="609600" y="3365500"/>
            <a:ext cx="304800" cy="304800"/>
          </a:xfrm>
          <a:prstGeom prst="ellipse">
            <a:avLst/>
          </a:prstGeom>
          <a:solidFill>
            <a:srgbClr val="0E96AC"/>
          </a:solidFill>
          <a:ln>
            <a:noFill/>
          </a:ln>
        </p:spPr>
        <p:txBody>
          <a:bodyPr/>
          <a:lstStyle/>
          <a:p>
            <a:endParaRPr lang="en-US" dirty="0"/>
          </a:p>
        </p:txBody>
      </p:sp>
      <p:sp>
        <p:nvSpPr>
          <p:cNvPr id="222" name="nct2"/>
          <p:cNvSpPr txBox="1">
            <a:spLocks noGrp="1"/>
          </p:cNvSpPr>
          <p:nvPr/>
        </p:nvSpPr>
        <p:spPr>
          <a:xfrm>
            <a:off x="609600" y="3365500"/>
            <a:ext cx="304800" cy="304800"/>
          </a:xfrm>
          <a:prstGeom prst="rect">
            <a:avLst/>
          </a:prstGeom>
          <a:noFill/>
          <a:ln>
            <a:noFill/>
          </a:ln>
        </p:spPr>
        <p:txBody>
          <a:bodyPr anchor="ctr">
            <a:normAutofit/>
          </a:bodyPr>
          <a:lstStyle/>
          <a:p>
            <a:pPr algn="ctr">
              <a:buNone/>
            </a:pPr>
            <a:r>
              <a:rPr lang="en-IN" sz="1000" b="1" dirty="0">
                <a:solidFill>
                  <a:srgbClr val="FFFFFF"/>
                </a:solidFill>
                <a:latin typeface="Calibri"/>
              </a:rPr>
              <a:t>3</a:t>
            </a:r>
          </a:p>
        </p:txBody>
      </p:sp>
      <p:sp>
        <p:nvSpPr>
          <p:cNvPr id="232" name="bt2"/>
          <p:cNvSpPr txBox="1">
            <a:spLocks noGrp="1"/>
          </p:cNvSpPr>
          <p:nvPr/>
        </p:nvSpPr>
        <p:spPr>
          <a:xfrm>
            <a:off x="1003300" y="3175000"/>
            <a:ext cx="3162300" cy="736600"/>
          </a:xfrm>
          <a:prstGeom prst="rect">
            <a:avLst/>
          </a:prstGeom>
          <a:noFill/>
          <a:ln>
            <a:noFill/>
          </a:ln>
        </p:spPr>
        <p:txBody>
          <a:bodyPr anchor="t">
            <a:normAutofit/>
          </a:bodyPr>
          <a:lstStyle/>
          <a:p>
            <a:pPr marL="0" indent="0">
              <a:buNone/>
            </a:pPr>
            <a:r>
              <a:rPr lang="en-IN" sz="1500" b="1" dirty="0">
                <a:solidFill>
                  <a:srgbClr val="16223A"/>
                </a:solidFill>
                <a:latin typeface="Calibri"/>
              </a:rPr>
              <a:t>CAD files uploaded</a:t>
            </a:r>
          </a:p>
          <a:p>
            <a:pPr marL="0" indent="0">
              <a:buNone/>
            </a:pPr>
            <a:r>
              <a:rPr lang="en-IN" sz="1400" dirty="0">
                <a:solidFill>
                  <a:srgbClr val="6B7890"/>
                </a:solidFill>
                <a:latin typeface="Calibri"/>
              </a:rPr>
              <a:t>Design source committed to the repo.</a:t>
            </a:r>
          </a:p>
        </p:txBody>
      </p:sp>
      <p:sp>
        <p:nvSpPr>
          <p:cNvPr id="242" name="rdiv2"/>
          <p:cNvSpPr>
            <a:spLocks noGrp="1"/>
          </p:cNvSpPr>
          <p:nvPr/>
        </p:nvSpPr>
        <p:spPr>
          <a:xfrm>
            <a:off x="546100" y="3924300"/>
            <a:ext cx="3632200" cy="12700"/>
          </a:xfrm>
          <a:prstGeom prst="rect">
            <a:avLst/>
          </a:prstGeom>
          <a:solidFill>
            <a:srgbClr val="E2E8F0"/>
          </a:solidFill>
          <a:ln>
            <a:noFill/>
          </a:ln>
        </p:spPr>
        <p:txBody>
          <a:bodyPr/>
          <a:lstStyle/>
          <a:p>
            <a:endParaRPr lang="en-US" dirty="0"/>
          </a:p>
        </p:txBody>
      </p:sp>
      <p:sp>
        <p:nvSpPr>
          <p:cNvPr id="213" name="nc3"/>
          <p:cNvSpPr>
            <a:spLocks noGrp="1"/>
          </p:cNvSpPr>
          <p:nvPr/>
        </p:nvSpPr>
        <p:spPr>
          <a:xfrm>
            <a:off x="609600" y="4203700"/>
            <a:ext cx="304800" cy="304800"/>
          </a:xfrm>
          <a:prstGeom prst="ellipse">
            <a:avLst/>
          </a:prstGeom>
          <a:solidFill>
            <a:srgbClr val="0E96AC"/>
          </a:solidFill>
          <a:ln>
            <a:noFill/>
          </a:ln>
        </p:spPr>
        <p:txBody>
          <a:bodyPr/>
          <a:lstStyle/>
          <a:p>
            <a:endParaRPr lang="en-US" dirty="0"/>
          </a:p>
        </p:txBody>
      </p:sp>
      <p:sp>
        <p:nvSpPr>
          <p:cNvPr id="223" name="nct3"/>
          <p:cNvSpPr txBox="1">
            <a:spLocks noGrp="1"/>
          </p:cNvSpPr>
          <p:nvPr/>
        </p:nvSpPr>
        <p:spPr>
          <a:xfrm>
            <a:off x="609600" y="4203700"/>
            <a:ext cx="304800" cy="304800"/>
          </a:xfrm>
          <a:prstGeom prst="rect">
            <a:avLst/>
          </a:prstGeom>
          <a:noFill/>
          <a:ln>
            <a:noFill/>
          </a:ln>
        </p:spPr>
        <p:txBody>
          <a:bodyPr anchor="ctr">
            <a:normAutofit/>
          </a:bodyPr>
          <a:lstStyle/>
          <a:p>
            <a:pPr algn="ctr">
              <a:buNone/>
            </a:pPr>
            <a:r>
              <a:rPr lang="en-IN" sz="1000" b="1" dirty="0">
                <a:solidFill>
                  <a:srgbClr val="FFFFFF"/>
                </a:solidFill>
                <a:latin typeface="Calibri"/>
              </a:rPr>
              <a:t>4</a:t>
            </a:r>
          </a:p>
        </p:txBody>
      </p:sp>
      <p:sp>
        <p:nvSpPr>
          <p:cNvPr id="233" name="bt3"/>
          <p:cNvSpPr txBox="1">
            <a:spLocks noGrp="1"/>
          </p:cNvSpPr>
          <p:nvPr/>
        </p:nvSpPr>
        <p:spPr>
          <a:xfrm>
            <a:off x="1003300" y="4013200"/>
            <a:ext cx="3162300" cy="736600"/>
          </a:xfrm>
          <a:prstGeom prst="rect">
            <a:avLst/>
          </a:prstGeom>
          <a:noFill/>
          <a:ln>
            <a:noFill/>
          </a:ln>
        </p:spPr>
        <p:txBody>
          <a:bodyPr anchor="t">
            <a:normAutofit/>
          </a:bodyPr>
          <a:lstStyle/>
          <a:p>
            <a:pPr marL="0" indent="0">
              <a:buNone/>
            </a:pPr>
            <a:r>
              <a:rPr lang="en-IN" sz="1500" b="1" dirty="0">
                <a:solidFill>
                  <a:srgbClr val="16223A"/>
                </a:solidFill>
                <a:latin typeface="Calibri"/>
              </a:rPr>
              <a:t>Design iterations documented</a:t>
            </a:r>
          </a:p>
          <a:p>
            <a:pPr marL="0" indent="0">
              <a:buNone/>
            </a:pPr>
            <a:r>
              <a:rPr lang="en-IN" sz="1400" dirty="0">
                <a:solidFill>
                  <a:srgbClr val="6B7890"/>
                </a:solidFill>
                <a:latin typeface="Calibri"/>
              </a:rPr>
              <a:t>Every revision captured in commits.</a:t>
            </a:r>
          </a:p>
        </p:txBody>
      </p:sp>
      <p:sp>
        <p:nvSpPr>
          <p:cNvPr id="243" name="rdiv3"/>
          <p:cNvSpPr>
            <a:spLocks noGrp="1"/>
          </p:cNvSpPr>
          <p:nvPr/>
        </p:nvSpPr>
        <p:spPr>
          <a:xfrm>
            <a:off x="546100" y="4762500"/>
            <a:ext cx="3632200" cy="12700"/>
          </a:xfrm>
          <a:prstGeom prst="rect">
            <a:avLst/>
          </a:prstGeom>
          <a:solidFill>
            <a:srgbClr val="E2E8F0"/>
          </a:solidFill>
          <a:ln>
            <a:noFill/>
          </a:ln>
        </p:spPr>
        <p:txBody>
          <a:bodyPr/>
          <a:lstStyle/>
          <a:p>
            <a:endParaRPr lang="en-US" dirty="0"/>
          </a:p>
        </p:txBody>
      </p:sp>
      <p:sp>
        <p:nvSpPr>
          <p:cNvPr id="204" name="rbg4"/>
          <p:cNvSpPr>
            <a:spLocks noGrp="1"/>
          </p:cNvSpPr>
          <p:nvPr/>
        </p:nvSpPr>
        <p:spPr>
          <a:xfrm>
            <a:off x="546100" y="4775200"/>
            <a:ext cx="3632200" cy="838200"/>
          </a:xfrm>
          <a:prstGeom prst="rect">
            <a:avLst/>
          </a:prstGeom>
          <a:solidFill>
            <a:srgbClr val="F8FAFC"/>
          </a:solidFill>
          <a:ln>
            <a:noFill/>
          </a:ln>
        </p:spPr>
        <p:txBody>
          <a:bodyPr/>
          <a:lstStyle/>
          <a:p>
            <a:endParaRPr lang="en-US" dirty="0"/>
          </a:p>
        </p:txBody>
      </p:sp>
      <p:sp>
        <p:nvSpPr>
          <p:cNvPr id="214" name="nc4"/>
          <p:cNvSpPr>
            <a:spLocks noGrp="1"/>
          </p:cNvSpPr>
          <p:nvPr/>
        </p:nvSpPr>
        <p:spPr>
          <a:xfrm>
            <a:off x="609600" y="5041900"/>
            <a:ext cx="304800" cy="304800"/>
          </a:xfrm>
          <a:prstGeom prst="ellipse">
            <a:avLst/>
          </a:prstGeom>
          <a:solidFill>
            <a:srgbClr val="0E96AC"/>
          </a:solidFill>
          <a:ln>
            <a:noFill/>
          </a:ln>
        </p:spPr>
        <p:txBody>
          <a:bodyPr/>
          <a:lstStyle/>
          <a:p>
            <a:endParaRPr lang="en-US" dirty="0"/>
          </a:p>
        </p:txBody>
      </p:sp>
      <p:sp>
        <p:nvSpPr>
          <p:cNvPr id="224" name="nct4"/>
          <p:cNvSpPr txBox="1">
            <a:spLocks noGrp="1"/>
          </p:cNvSpPr>
          <p:nvPr/>
        </p:nvSpPr>
        <p:spPr>
          <a:xfrm>
            <a:off x="609600" y="5041900"/>
            <a:ext cx="304800" cy="304800"/>
          </a:xfrm>
          <a:prstGeom prst="rect">
            <a:avLst/>
          </a:prstGeom>
          <a:noFill/>
          <a:ln>
            <a:noFill/>
          </a:ln>
        </p:spPr>
        <p:txBody>
          <a:bodyPr anchor="ctr">
            <a:normAutofit/>
          </a:bodyPr>
          <a:lstStyle/>
          <a:p>
            <a:pPr algn="ctr">
              <a:buNone/>
            </a:pPr>
            <a:r>
              <a:rPr lang="en-IN" sz="1000" b="1" dirty="0">
                <a:solidFill>
                  <a:srgbClr val="FFFFFF"/>
                </a:solidFill>
                <a:latin typeface="Calibri"/>
              </a:rPr>
              <a:t>5</a:t>
            </a:r>
          </a:p>
        </p:txBody>
      </p:sp>
      <p:sp>
        <p:nvSpPr>
          <p:cNvPr id="234" name="bt4"/>
          <p:cNvSpPr txBox="1">
            <a:spLocks noGrp="1"/>
          </p:cNvSpPr>
          <p:nvPr/>
        </p:nvSpPr>
        <p:spPr>
          <a:xfrm>
            <a:off x="1003300" y="4851400"/>
            <a:ext cx="3162300" cy="736600"/>
          </a:xfrm>
          <a:prstGeom prst="rect">
            <a:avLst/>
          </a:prstGeom>
          <a:noFill/>
          <a:ln>
            <a:noFill/>
          </a:ln>
        </p:spPr>
        <p:txBody>
          <a:bodyPr anchor="t">
            <a:normAutofit/>
          </a:bodyPr>
          <a:lstStyle/>
          <a:p>
            <a:pPr marL="0" indent="0">
              <a:buNone/>
            </a:pPr>
            <a:r>
              <a:rPr lang="en-IN" sz="1500" b="1" dirty="0">
                <a:solidFill>
                  <a:srgbClr val="16223A"/>
                </a:solidFill>
                <a:latin typeface="Calibri"/>
              </a:rPr>
              <a:t>Progress tracking in place</a:t>
            </a:r>
          </a:p>
          <a:p>
            <a:pPr marL="0" indent="0">
              <a:buNone/>
            </a:pPr>
            <a:r>
              <a:rPr lang="en-IN" sz="1400" dirty="0">
                <a:solidFill>
                  <a:srgbClr val="6B7890"/>
                </a:solidFill>
                <a:latin typeface="Calibri"/>
              </a:rPr>
              <a:t>Milestones and issues logged.</a:t>
            </a:r>
          </a:p>
        </p:txBody>
      </p:sp>
      <p:sp>
        <p:nvSpPr>
          <p:cNvPr id="244" name="rdiv4"/>
          <p:cNvSpPr>
            <a:spLocks noGrp="1"/>
          </p:cNvSpPr>
          <p:nvPr/>
        </p:nvSpPr>
        <p:spPr>
          <a:xfrm>
            <a:off x="546100" y="5600700"/>
            <a:ext cx="3632200" cy="12700"/>
          </a:xfrm>
          <a:prstGeom prst="rect">
            <a:avLst/>
          </a:prstGeom>
          <a:solidFill>
            <a:srgbClr val="E2E8F0"/>
          </a:solidFill>
          <a:ln>
            <a:noFill/>
          </a:ln>
        </p:spPr>
        <p:txBody>
          <a:bodyPr/>
          <a:lstStyle/>
          <a:p>
            <a:endParaRPr lang="en-US" dirty="0"/>
          </a:p>
        </p:txBody>
      </p:sp>
      <p:sp>
        <p:nvSpPr>
          <p:cNvPr id="215" name="nc5"/>
          <p:cNvSpPr>
            <a:spLocks noGrp="1"/>
          </p:cNvSpPr>
          <p:nvPr/>
        </p:nvSpPr>
        <p:spPr>
          <a:xfrm>
            <a:off x="609600" y="5880100"/>
            <a:ext cx="304800" cy="304800"/>
          </a:xfrm>
          <a:prstGeom prst="ellipse">
            <a:avLst/>
          </a:prstGeom>
          <a:solidFill>
            <a:srgbClr val="0E96AC"/>
          </a:solidFill>
          <a:ln>
            <a:noFill/>
          </a:ln>
        </p:spPr>
        <p:txBody>
          <a:bodyPr/>
          <a:lstStyle/>
          <a:p>
            <a:endParaRPr lang="en-US" dirty="0"/>
          </a:p>
        </p:txBody>
      </p:sp>
      <p:sp>
        <p:nvSpPr>
          <p:cNvPr id="225" name="nct5"/>
          <p:cNvSpPr txBox="1">
            <a:spLocks noGrp="1"/>
          </p:cNvSpPr>
          <p:nvPr/>
        </p:nvSpPr>
        <p:spPr>
          <a:xfrm>
            <a:off x="609600" y="5880100"/>
            <a:ext cx="304800" cy="304800"/>
          </a:xfrm>
          <a:prstGeom prst="rect">
            <a:avLst/>
          </a:prstGeom>
          <a:noFill/>
          <a:ln>
            <a:noFill/>
          </a:ln>
        </p:spPr>
        <p:txBody>
          <a:bodyPr anchor="ctr">
            <a:normAutofit/>
          </a:bodyPr>
          <a:lstStyle/>
          <a:p>
            <a:pPr algn="ctr">
              <a:buNone/>
            </a:pPr>
            <a:r>
              <a:rPr lang="en-IN" sz="1000" b="1" dirty="0">
                <a:solidFill>
                  <a:srgbClr val="FFFFFF"/>
                </a:solidFill>
                <a:latin typeface="Calibri"/>
              </a:rPr>
              <a:t>6</a:t>
            </a:r>
          </a:p>
        </p:txBody>
      </p:sp>
      <p:sp>
        <p:nvSpPr>
          <p:cNvPr id="235" name="bt5"/>
          <p:cNvSpPr txBox="1">
            <a:spLocks noGrp="1"/>
          </p:cNvSpPr>
          <p:nvPr/>
        </p:nvSpPr>
        <p:spPr>
          <a:xfrm>
            <a:off x="1003300" y="5689600"/>
            <a:ext cx="3162300" cy="736600"/>
          </a:xfrm>
          <a:prstGeom prst="rect">
            <a:avLst/>
          </a:prstGeom>
          <a:noFill/>
          <a:ln>
            <a:noFill/>
          </a:ln>
        </p:spPr>
        <p:txBody>
          <a:bodyPr anchor="t">
            <a:normAutofit/>
          </a:bodyPr>
          <a:lstStyle/>
          <a:p>
            <a:pPr marL="0" indent="0">
              <a:buNone/>
            </a:pPr>
            <a:r>
              <a:rPr lang="en-IN" sz="1500" b="1" dirty="0">
                <a:solidFill>
                  <a:srgbClr val="16223A"/>
                </a:solidFill>
                <a:latin typeface="Calibri"/>
              </a:rPr>
              <a:t>Team collaboration workflow</a:t>
            </a:r>
          </a:p>
          <a:p>
            <a:pPr marL="0" indent="0">
              <a:buNone/>
            </a:pPr>
            <a:r>
              <a:rPr lang="en-IN" sz="1400" dirty="0">
                <a:solidFill>
                  <a:srgbClr val="6B7890"/>
                </a:solidFill>
                <a:latin typeface="Calibri"/>
              </a:rPr>
              <a:t>Shared branches and pull requests.</a:t>
            </a:r>
          </a:p>
        </p:txBody>
      </p:sp>
      <p:sp>
        <p:nvSpPr>
          <p:cNvPr id="300" name="fr0"/>
          <p:cNvSpPr>
            <a:spLocks noGrp="1"/>
          </p:cNvSpPr>
          <p:nvPr/>
        </p:nvSpPr>
        <p:spPr>
          <a:xfrm>
            <a:off x="4406900" y="1409700"/>
            <a:ext cx="6176383" cy="2338618"/>
          </a:xfrm>
          <a:prstGeom prst="rect">
            <a:avLst/>
          </a:prstGeom>
          <a:solidFill>
            <a:srgbClr val="FFFFFF"/>
          </a:solidFill>
          <a:ln w="15875">
            <a:solidFill>
              <a:srgbClr val="0E96AC"/>
            </a:solidFill>
          </a:ln>
        </p:spPr>
        <p:txBody>
          <a:bodyPr/>
          <a:lstStyle/>
          <a:p>
            <a:endParaRPr lang="en-US" dirty="0"/>
          </a:p>
        </p:txBody>
      </p:sp>
      <p:sp>
        <p:nvSpPr>
          <p:cNvPr id="301" name="fr1"/>
          <p:cNvSpPr>
            <a:spLocks noGrp="1"/>
          </p:cNvSpPr>
          <p:nvPr/>
        </p:nvSpPr>
        <p:spPr>
          <a:xfrm>
            <a:off x="4343400" y="4102100"/>
            <a:ext cx="5164394" cy="1703848"/>
          </a:xfrm>
          <a:prstGeom prst="rect">
            <a:avLst/>
          </a:prstGeom>
          <a:solidFill>
            <a:srgbClr val="FFFFFF"/>
          </a:solidFill>
          <a:ln w="15875">
            <a:solidFill>
              <a:srgbClr val="0E96AC"/>
            </a:solidFill>
          </a:ln>
        </p:spPr>
        <p:txBody>
          <a:bodyPr/>
          <a:lstStyle/>
          <a:p>
            <a:endParaRPr lang="en-US" dirty="0"/>
          </a:p>
        </p:txBody>
      </p:sp>
      <p:pic>
        <p:nvPicPr>
          <p:cNvPr id="9" name="Picture 8" descr="Locomotion set too 2D forward sine curve movement.&#10;&#10;AI-generated content may be incorrect.">
            <a:extLst>
              <a:ext uri="{FF2B5EF4-FFF2-40B4-BE49-F238E27FC236}">
                <a16:creationId xmlns:a16="http://schemas.microsoft.com/office/drawing/2014/main" id="{ED2047AF-DB81-F6EB-B705-0BA0C0456025}"/>
              </a:ext>
            </a:extLst>
          </p:cNvPr>
          <p:cNvPicPr>
            <a:picLocks noChangeAspect="1"/>
          </p:cNvPicPr>
          <p:nvPr/>
        </p:nvPicPr>
        <p:blipFill>
          <a:blip r:embed="rId3"/>
          <a:stretch>
            <a:fillRect/>
          </a:stretch>
        </p:blipFill>
        <p:spPr>
          <a:xfrm>
            <a:off x="4419600" y="1461524"/>
            <a:ext cx="6150983" cy="2056376"/>
          </a:xfrm>
          <a:prstGeom prst="rect">
            <a:avLst/>
          </a:prstGeom>
        </p:spPr>
      </p:pic>
      <p:pic>
        <p:nvPicPr>
          <p:cNvPr id="5" name="Picture 4" descr="step&#10;&#10;AI-generated content may be incorrect.">
            <a:extLst>
              <a:ext uri="{FF2B5EF4-FFF2-40B4-BE49-F238E27FC236}">
                <a16:creationId xmlns:a16="http://schemas.microsoft.com/office/drawing/2014/main" id="{80777DB4-B751-FFD3-5E4E-49618F172697}"/>
              </a:ext>
            </a:extLst>
          </p:cNvPr>
          <p:cNvPicPr>
            <a:picLocks noChangeAspect="1"/>
          </p:cNvPicPr>
          <p:nvPr/>
        </p:nvPicPr>
        <p:blipFill>
          <a:blip r:embed="rId4"/>
          <a:stretch>
            <a:fillRect/>
          </a:stretch>
        </p:blipFill>
        <p:spPr>
          <a:xfrm>
            <a:off x="4356100" y="4110447"/>
            <a:ext cx="5139813" cy="1473200"/>
          </a:xfrm>
          <a:prstGeom prst="rect">
            <a:avLst/>
          </a:prstGeom>
        </p:spPr>
      </p:pic>
      <p:pic>
        <p:nvPicPr>
          <p:cNvPr id="7" name="Picture 6" descr="The image shows a collection of text documents and files related to Raspberry Pi setup and testing, including installation guides, hardware documentation, and various scripts and manuals.&#10;&#10;AI-generated content may be incorrect.">
            <a:extLst>
              <a:ext uri="{FF2B5EF4-FFF2-40B4-BE49-F238E27FC236}">
                <a16:creationId xmlns:a16="http://schemas.microsoft.com/office/drawing/2014/main" id="{95193EA5-352B-66B9-D1D8-D963F722885B}"/>
              </a:ext>
            </a:extLst>
          </p:cNvPr>
          <p:cNvPicPr>
            <a:picLocks noChangeAspect="1"/>
          </p:cNvPicPr>
          <p:nvPr/>
        </p:nvPicPr>
        <p:blipFill>
          <a:blip r:embed="rId5"/>
          <a:stretch>
            <a:fillRect/>
          </a:stretch>
        </p:blipFill>
        <p:spPr>
          <a:xfrm>
            <a:off x="9957620" y="3827640"/>
            <a:ext cx="1776053" cy="3017659"/>
          </a:xfrm>
          <a:prstGeom prst="rect">
            <a:avLst/>
          </a:prstGeom>
        </p:spPr>
      </p:pic>
      <p:sp>
        <p:nvSpPr>
          <p:cNvPr id="310" name="cov0"/>
          <p:cNvSpPr>
            <a:spLocks noGrp="1"/>
          </p:cNvSpPr>
          <p:nvPr/>
        </p:nvSpPr>
        <p:spPr>
          <a:xfrm>
            <a:off x="4406900" y="3512752"/>
            <a:ext cx="6176383" cy="235565"/>
          </a:xfrm>
          <a:prstGeom prst="rect">
            <a:avLst/>
          </a:prstGeom>
          <a:solidFill>
            <a:srgbClr val="16223A"/>
          </a:solidFill>
          <a:ln>
            <a:noFill/>
          </a:ln>
        </p:spPr>
        <p:txBody>
          <a:bodyPr/>
          <a:lstStyle/>
          <a:p>
            <a:endParaRPr lang="en-US" dirty="0"/>
          </a:p>
        </p:txBody>
      </p:sp>
      <p:sp>
        <p:nvSpPr>
          <p:cNvPr id="320" name="cap0"/>
          <p:cNvSpPr txBox="1">
            <a:spLocks noGrp="1"/>
          </p:cNvSpPr>
          <p:nvPr/>
        </p:nvSpPr>
        <p:spPr>
          <a:xfrm>
            <a:off x="4383386" y="3535937"/>
            <a:ext cx="6223410" cy="229624"/>
          </a:xfrm>
          <a:prstGeom prst="rect">
            <a:avLst/>
          </a:prstGeom>
          <a:noFill/>
          <a:ln>
            <a:noFill/>
          </a:ln>
        </p:spPr>
        <p:txBody>
          <a:bodyPr anchor="ctr">
            <a:normAutofit lnSpcReduction="10000"/>
          </a:bodyPr>
          <a:lstStyle/>
          <a:p>
            <a:pPr marL="0" indent="0">
              <a:buNone/>
            </a:pPr>
            <a:r>
              <a:rPr lang="en-IN" sz="1000" b="1" dirty="0">
                <a:solidFill>
                  <a:srgbClr val="FFFFFF"/>
                </a:solidFill>
                <a:latin typeface="Calibri"/>
              </a:rPr>
              <a:t>GitHub repository — project root &amp; structure</a:t>
            </a:r>
          </a:p>
        </p:txBody>
      </p:sp>
      <p:sp>
        <p:nvSpPr>
          <p:cNvPr id="311" name="cov1"/>
          <p:cNvSpPr>
            <a:spLocks noGrp="1"/>
          </p:cNvSpPr>
          <p:nvPr/>
        </p:nvSpPr>
        <p:spPr>
          <a:xfrm>
            <a:off x="4343400" y="5579192"/>
            <a:ext cx="5164394" cy="202304"/>
          </a:xfrm>
          <a:prstGeom prst="rect">
            <a:avLst/>
          </a:prstGeom>
          <a:solidFill>
            <a:srgbClr val="16223A"/>
          </a:solidFill>
          <a:ln>
            <a:noFill/>
          </a:ln>
        </p:spPr>
        <p:txBody>
          <a:bodyPr/>
          <a:lstStyle/>
          <a:p>
            <a:endParaRPr lang="en-US" dirty="0"/>
          </a:p>
        </p:txBody>
      </p:sp>
      <p:sp>
        <p:nvSpPr>
          <p:cNvPr id="321" name="cap1"/>
          <p:cNvSpPr txBox="1">
            <a:spLocks noGrp="1"/>
          </p:cNvSpPr>
          <p:nvPr/>
        </p:nvSpPr>
        <p:spPr>
          <a:xfrm>
            <a:off x="4318819" y="5543012"/>
            <a:ext cx="5177094" cy="271283"/>
          </a:xfrm>
          <a:prstGeom prst="rect">
            <a:avLst/>
          </a:prstGeom>
          <a:noFill/>
          <a:ln>
            <a:noFill/>
          </a:ln>
        </p:spPr>
        <p:txBody>
          <a:bodyPr anchor="ctr">
            <a:normAutofit/>
          </a:bodyPr>
          <a:lstStyle/>
          <a:p>
            <a:pPr marL="0" indent="0">
              <a:buNone/>
            </a:pPr>
            <a:r>
              <a:rPr lang="en-IN" sz="1000" b="1" dirty="0">
                <a:solidFill>
                  <a:srgbClr val="FFFFFF"/>
                </a:solidFill>
                <a:latin typeface="Calibri"/>
              </a:rPr>
              <a:t>Commit history — tracked iterations &amp; uploads</a:t>
            </a:r>
          </a:p>
        </p:txBody>
      </p:sp>
      <p:sp>
        <p:nvSpPr>
          <p:cNvPr id="330" name="arr0"/>
          <p:cNvSpPr>
            <a:spLocks noGrp="1"/>
          </p:cNvSpPr>
          <p:nvPr/>
        </p:nvSpPr>
        <p:spPr>
          <a:xfrm>
            <a:off x="7360879" y="3750647"/>
            <a:ext cx="355600" cy="266700"/>
          </a:xfrm>
          <a:prstGeom prst="downArrow">
            <a:avLst>
              <a:gd name="adj1" fmla="val 50000"/>
              <a:gd name="adj2" fmla="val 50000"/>
            </a:avLst>
          </a:prstGeom>
          <a:solidFill>
            <a:srgbClr val="0E96AC"/>
          </a:solidFill>
          <a:ln>
            <a:noFill/>
          </a:ln>
        </p:spPr>
        <p:txBody>
          <a:bodyPr/>
          <a:lstStyle/>
          <a:p>
            <a:endParaRPr lang="en-US" dirty="0"/>
          </a:p>
        </p:txBody>
      </p:sp>
      <p:sp>
        <p:nvSpPr>
          <p:cNvPr id="331" name="arr1"/>
          <p:cNvSpPr>
            <a:spLocks noGrp="1"/>
          </p:cNvSpPr>
          <p:nvPr/>
        </p:nvSpPr>
        <p:spPr>
          <a:xfrm rot="16200000">
            <a:off x="9554907" y="5036459"/>
            <a:ext cx="355600" cy="177800"/>
          </a:xfrm>
          <a:prstGeom prst="downArrow">
            <a:avLst>
              <a:gd name="adj1" fmla="val 50000"/>
              <a:gd name="adj2" fmla="val 50000"/>
            </a:avLst>
          </a:prstGeom>
          <a:solidFill>
            <a:srgbClr val="0E96AC"/>
          </a:solidFill>
          <a:ln>
            <a:noFill/>
          </a:ln>
        </p:spPr>
        <p:txBody>
          <a:bodyPr/>
          <a:lstStyle/>
          <a:p>
            <a:endParaRPr lang="en-US" dirty="0"/>
          </a:p>
        </p:txBody>
      </p:sp>
      <p:sp>
        <p:nvSpPr>
          <p:cNvPr id="340" name="gh_lbl"/>
          <p:cNvSpPr txBox="1">
            <a:spLocks noGrp="1"/>
          </p:cNvSpPr>
          <p:nvPr/>
        </p:nvSpPr>
        <p:spPr>
          <a:xfrm>
            <a:off x="4419600" y="1371600"/>
            <a:ext cx="3810000" cy="177800"/>
          </a:xfrm>
          <a:prstGeom prst="rect">
            <a:avLst/>
          </a:prstGeom>
          <a:noFill/>
          <a:ln>
            <a:noFill/>
          </a:ln>
        </p:spPr>
        <p:txBody>
          <a:bodyPr anchor="t">
            <a:normAutofit fontScale="70000" lnSpcReduction="20000"/>
          </a:bodyPr>
          <a:lstStyle/>
          <a:p>
            <a:pPr marL="0" indent="0">
              <a:buNone/>
            </a:pPr>
            <a:r>
              <a:rPr lang="en-IN" sz="900" b="1" spc="200" dirty="0">
                <a:solidFill>
                  <a:srgbClr val="0E96AC"/>
                </a:solidFill>
                <a:latin typeface="Calibri"/>
              </a:rPr>
              <a:t>GITHUB REPOSITORY SCREENSHOTS</a:t>
            </a:r>
          </a:p>
        </p:txBody>
      </p:sp>
      <p:sp>
        <p:nvSpPr>
          <p:cNvPr id="400" name="sum_strip"/>
          <p:cNvSpPr>
            <a:spLocks noGrp="1"/>
          </p:cNvSpPr>
          <p:nvPr/>
        </p:nvSpPr>
        <p:spPr>
          <a:xfrm>
            <a:off x="546100" y="6451600"/>
            <a:ext cx="3632200" cy="254000"/>
          </a:xfrm>
          <a:prstGeom prst="rect">
            <a:avLst/>
          </a:prstGeom>
          <a:solidFill>
            <a:srgbClr val="0E96AC"/>
          </a:solidFill>
          <a:ln>
            <a:noFill/>
          </a:ln>
        </p:spPr>
        <p:txBody>
          <a:bodyPr anchor="ctr"/>
          <a:lstStyle/>
          <a:p>
            <a:pPr algn="ctr">
              <a:buNone/>
            </a:pPr>
            <a:r>
              <a:rPr lang="en-IN" sz="900" b="1" dirty="0">
                <a:solidFill>
                  <a:srgbClr val="FFFFFF"/>
                </a:solidFill>
                <a:latin typeface="Calibri"/>
              </a:rPr>
              <a:t>✓ All milestones tracked in GitHub</a:t>
            </a:r>
          </a:p>
        </p:txBody>
      </p:sp>
    </p:spTree>
    <p:extLst>
      <p:ext uri="{BB962C8B-B14F-4D97-AF65-F5344CB8AC3E}">
        <p14:creationId xmlns:p14="http://schemas.microsoft.com/office/powerpoint/2010/main" val="7862534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lIns="0" tIns="0" rIns="0" bIns="0" rtlCol="0" anchor="ctr"/>
          <a:lstStyle/>
          <a:p>
            <a:pPr marL="0" indent="0">
              <a:buNone/>
            </a:pPr>
            <a:r>
              <a:rPr lang="en-US" sz="1200" b="1" kern="0" spc="300" dirty="0">
                <a:solidFill>
                  <a:srgbClr val="0E96AC"/>
                </a:solidFill>
                <a:latin typeface="Calibri" pitchFamily="34" charset="0"/>
                <a:ea typeface="Calibri" pitchFamily="34" charset="-122"/>
                <a:cs typeface="Calibri" pitchFamily="34" charset="-120"/>
              </a:rPr>
              <a:t>PROJECT TIMELINE</a:t>
            </a:r>
            <a:endParaRPr lang="en-US" sz="1200" dirty="0"/>
          </a:p>
        </p:txBody>
      </p:sp>
      <p:sp>
        <p:nvSpPr>
          <p:cNvPr id="3" name="Text 1"/>
          <p:cNvSpPr/>
          <p:nvPr/>
        </p:nvSpPr>
        <p:spPr>
          <a:xfrm>
            <a:off x="530352" y="640080"/>
            <a:ext cx="9509760" cy="640080"/>
          </a:xfrm>
          <a:prstGeom prst="rect">
            <a:avLst/>
          </a:prstGeom>
          <a:noFill/>
          <a:ln/>
        </p:spPr>
        <p:txBody>
          <a:bodyPr wrap="square" lIns="0" tIns="0" rIns="0" bIns="0" rtlCol="0" anchor="ctr"/>
          <a:lstStyle/>
          <a:p>
            <a:pPr marL="0" indent="0">
              <a:buNone/>
            </a:pPr>
            <a:r>
              <a:rPr lang="en-US" sz="3000" b="1" dirty="0">
                <a:solidFill>
                  <a:srgbClr val="16223A"/>
                </a:solidFill>
                <a:latin typeface="Calibri" pitchFamily="34" charset="0"/>
                <a:ea typeface="Calibri" pitchFamily="34" charset="-122"/>
                <a:cs typeface="Calibri" pitchFamily="34" charset="-120"/>
              </a:rPr>
              <a:t>Eight Phases · Currently at 25%</a:t>
            </a:r>
            <a:endParaRPr lang="en-US" sz="3000" dirty="0"/>
          </a:p>
        </p:txBody>
      </p:sp>
      <p:sp>
        <p:nvSpPr>
          <p:cNvPr id="10" name="Shape 8"/>
          <p:cNvSpPr/>
          <p:nvPr/>
        </p:nvSpPr>
        <p:spPr>
          <a:xfrm>
            <a:off x="868680" y="3520440"/>
            <a:ext cx="10469880" cy="0"/>
          </a:xfrm>
          <a:prstGeom prst="line">
            <a:avLst/>
          </a:prstGeom>
          <a:noFill/>
          <a:ln w="38100">
            <a:solidFill>
              <a:srgbClr val="E2E8F0"/>
            </a:solidFill>
            <a:prstDash val="solid"/>
          </a:ln>
        </p:spPr>
      </p:sp>
      <p:sp>
        <p:nvSpPr>
          <p:cNvPr id="11" name="Shape 9"/>
          <p:cNvSpPr/>
          <p:nvPr/>
        </p:nvSpPr>
        <p:spPr>
          <a:xfrm>
            <a:off x="868680" y="3520440"/>
            <a:ext cx="1495697" cy="0"/>
          </a:xfrm>
          <a:prstGeom prst="line">
            <a:avLst/>
          </a:prstGeom>
          <a:noFill/>
          <a:ln w="38100">
            <a:solidFill>
              <a:srgbClr val="0E96AC"/>
            </a:solidFill>
            <a:prstDash val="solid"/>
          </a:ln>
        </p:spPr>
      </p:sp>
      <p:sp>
        <p:nvSpPr>
          <p:cNvPr id="12" name="Shape 10"/>
          <p:cNvSpPr/>
          <p:nvPr/>
        </p:nvSpPr>
        <p:spPr>
          <a:xfrm>
            <a:off x="868680" y="3063240"/>
            <a:ext cx="0" cy="457200"/>
          </a:xfrm>
          <a:prstGeom prst="line">
            <a:avLst/>
          </a:prstGeom>
          <a:noFill/>
          <a:ln w="15875">
            <a:solidFill>
              <a:srgbClr val="E2E8F0"/>
            </a:solidFill>
            <a:prstDash val="solid"/>
          </a:ln>
        </p:spPr>
      </p:sp>
      <p:sp>
        <p:nvSpPr>
          <p:cNvPr id="13" name="Shape 11"/>
          <p:cNvSpPr/>
          <p:nvPr/>
        </p:nvSpPr>
        <p:spPr>
          <a:xfrm>
            <a:off x="502920" y="2148840"/>
            <a:ext cx="1335024" cy="914400"/>
          </a:xfrm>
          <a:prstGeom prst="roundRect">
            <a:avLst>
              <a:gd name="adj" fmla="val 8000"/>
            </a:avLst>
          </a:prstGeom>
          <a:solidFill>
            <a:srgbClr val="FFFFFF"/>
          </a:solidFill>
          <a:ln w="15875">
            <a:solidFill>
              <a:srgbClr val="12A678"/>
            </a:solidFill>
            <a:prstDash val="solid"/>
          </a:ln>
          <a:effectLst>
            <a:outerShdw blurRad="63500" dist="25400" dir="5400000" algn="bl" rotWithShape="0">
              <a:srgbClr val="1A2440">
                <a:alpha val="8000"/>
              </a:srgbClr>
            </a:outerShdw>
          </a:effectLst>
        </p:spPr>
      </p:sp>
      <p:sp>
        <p:nvSpPr>
          <p:cNvPr id="14" name="Text 12"/>
          <p:cNvSpPr/>
          <p:nvPr/>
        </p:nvSpPr>
        <p:spPr>
          <a:xfrm>
            <a:off x="594360" y="2240280"/>
            <a:ext cx="1152144" cy="201168"/>
          </a:xfrm>
          <a:prstGeom prst="rect">
            <a:avLst/>
          </a:prstGeom>
          <a:noFill/>
          <a:ln/>
        </p:spPr>
        <p:txBody>
          <a:bodyPr wrap="square" lIns="0" tIns="0" rIns="0" bIns="0" rtlCol="0" anchor="ctr"/>
          <a:lstStyle/>
          <a:p>
            <a:pPr marL="0" indent="0">
              <a:buNone/>
            </a:pPr>
            <a:r>
              <a:rPr lang="en-US" sz="800" b="1" kern="0" spc="100" dirty="0">
                <a:solidFill>
                  <a:srgbClr val="12A678"/>
                </a:solidFill>
                <a:latin typeface="Calibri" pitchFamily="34" charset="0"/>
                <a:ea typeface="Calibri" pitchFamily="34" charset="-122"/>
                <a:cs typeface="Calibri" pitchFamily="34" charset="-120"/>
              </a:rPr>
              <a:t>PHASE 1</a:t>
            </a:r>
            <a:endParaRPr lang="en-US" sz="800" dirty="0"/>
          </a:p>
        </p:txBody>
      </p:sp>
      <p:sp>
        <p:nvSpPr>
          <p:cNvPr id="15" name="Text 13"/>
          <p:cNvSpPr/>
          <p:nvPr/>
        </p:nvSpPr>
        <p:spPr>
          <a:xfrm>
            <a:off x="594360" y="2441448"/>
            <a:ext cx="1152144" cy="457200"/>
          </a:xfrm>
          <a:prstGeom prst="rect">
            <a:avLst/>
          </a:prstGeom>
          <a:noFill/>
          <a:ln/>
        </p:spPr>
        <p:txBody>
          <a:bodyPr wrap="square" lIns="0" tIns="0" rIns="0" bIns="0" rtlCol="0" anchor="t"/>
          <a:lstStyle/>
          <a:p>
            <a:pPr marL="0" indent="0">
              <a:lnSpc>
                <a:spcPct val="92000"/>
              </a:lnSpc>
              <a:buNone/>
            </a:pPr>
            <a:r>
              <a:rPr lang="en-US" sz="1050" b="1" dirty="0">
                <a:solidFill>
                  <a:srgbClr val="16223A"/>
                </a:solidFill>
                <a:latin typeface="Calibri" pitchFamily="34" charset="0"/>
                <a:ea typeface="Calibri" pitchFamily="34" charset="-122"/>
                <a:cs typeface="Calibri" pitchFamily="34" charset="-120"/>
              </a:rPr>
              <a:t>Research &amp; Design</a:t>
            </a:r>
            <a:endParaRPr lang="en-US" sz="1050" dirty="0"/>
          </a:p>
        </p:txBody>
      </p:sp>
      <p:sp>
        <p:nvSpPr>
          <p:cNvPr id="16" name="Text 14"/>
          <p:cNvSpPr/>
          <p:nvPr/>
        </p:nvSpPr>
        <p:spPr>
          <a:xfrm>
            <a:off x="594360" y="2825496"/>
            <a:ext cx="1152144" cy="182880"/>
          </a:xfrm>
          <a:prstGeom prst="rect">
            <a:avLst/>
          </a:prstGeom>
          <a:noFill/>
          <a:ln/>
        </p:spPr>
        <p:txBody>
          <a:bodyPr wrap="square" lIns="0" tIns="0" rIns="0" bIns="0" rtlCol="0" anchor="ctr"/>
          <a:lstStyle/>
          <a:p>
            <a:pPr marL="0" indent="0">
              <a:buNone/>
            </a:pPr>
            <a:r>
              <a:rPr lang="en-US" sz="800" b="1" dirty="0">
                <a:solidFill>
                  <a:srgbClr val="12A678"/>
                </a:solidFill>
                <a:latin typeface="Calibri" pitchFamily="34" charset="0"/>
                <a:ea typeface="Calibri" pitchFamily="34" charset="-122"/>
                <a:cs typeface="Calibri" pitchFamily="34" charset="-120"/>
              </a:rPr>
              <a:t>Completed</a:t>
            </a:r>
            <a:endParaRPr lang="en-US" sz="800" dirty="0"/>
          </a:p>
        </p:txBody>
      </p:sp>
      <p:sp>
        <p:nvSpPr>
          <p:cNvPr id="17" name="Shape 15"/>
          <p:cNvSpPr/>
          <p:nvPr/>
        </p:nvSpPr>
        <p:spPr>
          <a:xfrm>
            <a:off x="694944" y="3346704"/>
            <a:ext cx="347472" cy="347472"/>
          </a:xfrm>
          <a:prstGeom prst="ellipse">
            <a:avLst/>
          </a:prstGeom>
          <a:solidFill>
            <a:srgbClr val="12A678"/>
          </a:solidFill>
          <a:ln w="31750">
            <a:solidFill>
              <a:srgbClr val="F6F8FB"/>
            </a:solidFill>
            <a:prstDash val="solid"/>
          </a:ln>
        </p:spPr>
      </p:sp>
      <p:sp>
        <p:nvSpPr>
          <p:cNvPr id="18" name="Text 16"/>
          <p:cNvSpPr/>
          <p:nvPr/>
        </p:nvSpPr>
        <p:spPr>
          <a:xfrm>
            <a:off x="694944" y="334670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9" name="Shape 17"/>
          <p:cNvSpPr/>
          <p:nvPr/>
        </p:nvSpPr>
        <p:spPr>
          <a:xfrm>
            <a:off x="2364377" y="3520440"/>
            <a:ext cx="0" cy="457200"/>
          </a:xfrm>
          <a:prstGeom prst="line">
            <a:avLst/>
          </a:prstGeom>
          <a:noFill/>
          <a:ln w="15875">
            <a:solidFill>
              <a:srgbClr val="E2E8F0"/>
            </a:solidFill>
            <a:prstDash val="solid"/>
          </a:ln>
        </p:spPr>
      </p:sp>
      <p:sp>
        <p:nvSpPr>
          <p:cNvPr id="20" name="Shape 18"/>
          <p:cNvSpPr/>
          <p:nvPr/>
        </p:nvSpPr>
        <p:spPr>
          <a:xfrm>
            <a:off x="1696865" y="3977640"/>
            <a:ext cx="1335024" cy="914400"/>
          </a:xfrm>
          <a:prstGeom prst="roundRect">
            <a:avLst>
              <a:gd name="adj" fmla="val 8000"/>
            </a:avLst>
          </a:prstGeom>
          <a:solidFill>
            <a:srgbClr val="FFFFFF"/>
          </a:solidFill>
          <a:ln w="15875">
            <a:solidFill>
              <a:srgbClr val="E08A1E"/>
            </a:solidFill>
            <a:prstDash val="solid"/>
          </a:ln>
          <a:effectLst>
            <a:outerShdw blurRad="63500" dist="25400" dir="5400000" algn="bl" rotWithShape="0">
              <a:srgbClr val="1A2440">
                <a:alpha val="8000"/>
              </a:srgbClr>
            </a:outerShdw>
          </a:effectLst>
        </p:spPr>
      </p:sp>
      <p:sp>
        <p:nvSpPr>
          <p:cNvPr id="21" name="Text 19"/>
          <p:cNvSpPr/>
          <p:nvPr/>
        </p:nvSpPr>
        <p:spPr>
          <a:xfrm>
            <a:off x="1788305" y="4069080"/>
            <a:ext cx="1152144" cy="201168"/>
          </a:xfrm>
          <a:prstGeom prst="rect">
            <a:avLst/>
          </a:prstGeom>
          <a:noFill/>
          <a:ln/>
        </p:spPr>
        <p:txBody>
          <a:bodyPr wrap="square" lIns="0" tIns="0" rIns="0" bIns="0" rtlCol="0" anchor="ctr"/>
          <a:lstStyle/>
          <a:p>
            <a:pPr marL="0" indent="0">
              <a:buNone/>
            </a:pPr>
            <a:r>
              <a:rPr lang="en-US" sz="800" b="1" kern="0" spc="100" dirty="0">
                <a:solidFill>
                  <a:srgbClr val="E08A1E"/>
                </a:solidFill>
                <a:latin typeface="Calibri" pitchFamily="34" charset="0"/>
                <a:ea typeface="Calibri" pitchFamily="34" charset="-122"/>
                <a:cs typeface="Calibri" pitchFamily="34" charset="-120"/>
              </a:rPr>
              <a:t>PHASE 2</a:t>
            </a:r>
            <a:endParaRPr lang="en-US" sz="800" dirty="0"/>
          </a:p>
        </p:txBody>
      </p:sp>
      <p:sp>
        <p:nvSpPr>
          <p:cNvPr id="22" name="Text 20"/>
          <p:cNvSpPr/>
          <p:nvPr/>
        </p:nvSpPr>
        <p:spPr>
          <a:xfrm>
            <a:off x="1788305" y="4270248"/>
            <a:ext cx="1152144" cy="457200"/>
          </a:xfrm>
          <a:prstGeom prst="rect">
            <a:avLst/>
          </a:prstGeom>
          <a:noFill/>
          <a:ln/>
        </p:spPr>
        <p:txBody>
          <a:bodyPr wrap="square" lIns="0" tIns="0" rIns="0" bIns="0" rtlCol="0" anchor="t"/>
          <a:lstStyle/>
          <a:p>
            <a:pPr marL="0" indent="0">
              <a:lnSpc>
                <a:spcPct val="92000"/>
              </a:lnSpc>
              <a:buNone/>
            </a:pPr>
            <a:r>
              <a:rPr lang="en-US" sz="1050" b="1" dirty="0">
                <a:solidFill>
                  <a:srgbClr val="16223A"/>
                </a:solidFill>
                <a:latin typeface="Calibri" pitchFamily="34" charset="0"/>
                <a:ea typeface="Calibri" pitchFamily="34" charset="-122"/>
                <a:cs typeface="Calibri" pitchFamily="34" charset="-120"/>
              </a:rPr>
              <a:t>Hardware Procurement</a:t>
            </a:r>
            <a:endParaRPr lang="en-US" sz="1050" dirty="0"/>
          </a:p>
        </p:txBody>
      </p:sp>
      <p:sp>
        <p:nvSpPr>
          <p:cNvPr id="23" name="Text 21"/>
          <p:cNvSpPr/>
          <p:nvPr/>
        </p:nvSpPr>
        <p:spPr>
          <a:xfrm>
            <a:off x="1788305" y="4654296"/>
            <a:ext cx="1152144" cy="182880"/>
          </a:xfrm>
          <a:prstGeom prst="rect">
            <a:avLst/>
          </a:prstGeom>
          <a:noFill/>
          <a:ln/>
        </p:spPr>
        <p:txBody>
          <a:bodyPr wrap="square" lIns="0" tIns="0" rIns="0" bIns="0" rtlCol="0" anchor="ctr"/>
          <a:lstStyle/>
          <a:p>
            <a:pPr marL="0" indent="0">
              <a:buNone/>
            </a:pPr>
            <a:r>
              <a:rPr lang="en-US" sz="800" b="1" dirty="0">
                <a:solidFill>
                  <a:srgbClr val="E08A1E"/>
                </a:solidFill>
                <a:latin typeface="Calibri" pitchFamily="34" charset="0"/>
                <a:ea typeface="Calibri" pitchFamily="34" charset="-122"/>
                <a:cs typeface="Calibri" pitchFamily="34" charset="-120"/>
              </a:rPr>
              <a:t>In progress</a:t>
            </a:r>
            <a:endParaRPr lang="en-US" sz="800" dirty="0"/>
          </a:p>
        </p:txBody>
      </p:sp>
      <p:sp>
        <p:nvSpPr>
          <p:cNvPr id="24" name="Shape 22"/>
          <p:cNvSpPr/>
          <p:nvPr/>
        </p:nvSpPr>
        <p:spPr>
          <a:xfrm>
            <a:off x="2190641" y="3346704"/>
            <a:ext cx="347472" cy="347472"/>
          </a:xfrm>
          <a:prstGeom prst="ellipse">
            <a:avLst/>
          </a:prstGeom>
          <a:solidFill>
            <a:srgbClr val="E08A1E"/>
          </a:solidFill>
          <a:ln w="31750">
            <a:solidFill>
              <a:srgbClr val="F6F8FB"/>
            </a:solidFill>
            <a:prstDash val="solid"/>
          </a:ln>
        </p:spPr>
      </p:sp>
      <p:sp>
        <p:nvSpPr>
          <p:cNvPr id="25" name="Text 23"/>
          <p:cNvSpPr/>
          <p:nvPr/>
        </p:nvSpPr>
        <p:spPr>
          <a:xfrm>
            <a:off x="2190641" y="334670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6" name="Shape 24"/>
          <p:cNvSpPr/>
          <p:nvPr/>
        </p:nvSpPr>
        <p:spPr>
          <a:xfrm>
            <a:off x="3860074" y="3063240"/>
            <a:ext cx="0" cy="457200"/>
          </a:xfrm>
          <a:prstGeom prst="line">
            <a:avLst/>
          </a:prstGeom>
          <a:noFill/>
          <a:ln w="15875">
            <a:solidFill>
              <a:srgbClr val="E2E8F0"/>
            </a:solidFill>
            <a:prstDash val="solid"/>
          </a:ln>
        </p:spPr>
      </p:sp>
      <p:sp>
        <p:nvSpPr>
          <p:cNvPr id="27" name="Shape 25"/>
          <p:cNvSpPr/>
          <p:nvPr/>
        </p:nvSpPr>
        <p:spPr>
          <a:xfrm>
            <a:off x="3192562" y="2148840"/>
            <a:ext cx="1335024" cy="914400"/>
          </a:xfrm>
          <a:prstGeom prst="roundRect">
            <a:avLst>
              <a:gd name="adj" fmla="val 8000"/>
            </a:avLst>
          </a:prstGeom>
          <a:solidFill>
            <a:srgbClr val="FFFFFF"/>
          </a:solidFill>
          <a:ln w="15875">
            <a:solidFill>
              <a:srgbClr val="0E96AC"/>
            </a:solidFill>
            <a:prstDash val="solid"/>
          </a:ln>
          <a:effectLst>
            <a:outerShdw blurRad="63500" dist="25400" dir="5400000" algn="bl" rotWithShape="0">
              <a:srgbClr val="1A2440">
                <a:alpha val="8000"/>
              </a:srgbClr>
            </a:outerShdw>
          </a:effectLst>
        </p:spPr>
      </p:sp>
      <p:sp>
        <p:nvSpPr>
          <p:cNvPr id="28" name="Text 26"/>
          <p:cNvSpPr/>
          <p:nvPr/>
        </p:nvSpPr>
        <p:spPr>
          <a:xfrm>
            <a:off x="3284002" y="2240280"/>
            <a:ext cx="1152144" cy="201168"/>
          </a:xfrm>
          <a:prstGeom prst="rect">
            <a:avLst/>
          </a:prstGeom>
          <a:noFill/>
          <a:ln/>
        </p:spPr>
        <p:txBody>
          <a:bodyPr wrap="square" lIns="0" tIns="0" rIns="0" bIns="0" rtlCol="0" anchor="ctr"/>
          <a:lstStyle/>
          <a:p>
            <a:pPr marL="0" indent="0">
              <a:buNone/>
            </a:pPr>
            <a:r>
              <a:rPr lang="en-US" sz="800" b="1" kern="0" spc="100" dirty="0">
                <a:solidFill>
                  <a:srgbClr val="0E96AC"/>
                </a:solidFill>
                <a:latin typeface="Calibri" pitchFamily="34" charset="0"/>
                <a:ea typeface="Calibri" pitchFamily="34" charset="-122"/>
                <a:cs typeface="Calibri" pitchFamily="34" charset="-120"/>
              </a:rPr>
              <a:t>PHASE 3</a:t>
            </a:r>
            <a:endParaRPr lang="en-US" sz="800" dirty="0"/>
          </a:p>
        </p:txBody>
      </p:sp>
      <p:sp>
        <p:nvSpPr>
          <p:cNvPr id="29" name="Text 27"/>
          <p:cNvSpPr/>
          <p:nvPr/>
        </p:nvSpPr>
        <p:spPr>
          <a:xfrm>
            <a:off x="3284002" y="2441448"/>
            <a:ext cx="1152144" cy="457200"/>
          </a:xfrm>
          <a:prstGeom prst="rect">
            <a:avLst/>
          </a:prstGeom>
          <a:noFill/>
          <a:ln/>
        </p:spPr>
        <p:txBody>
          <a:bodyPr wrap="square" lIns="0" tIns="0" rIns="0" bIns="0" rtlCol="0" anchor="t"/>
          <a:lstStyle/>
          <a:p>
            <a:pPr marL="0" indent="0">
              <a:lnSpc>
                <a:spcPct val="92000"/>
              </a:lnSpc>
              <a:buNone/>
            </a:pPr>
            <a:r>
              <a:rPr lang="en-US" sz="1050" b="1" dirty="0">
                <a:solidFill>
                  <a:srgbClr val="3A4658"/>
                </a:solidFill>
                <a:latin typeface="Calibri" pitchFamily="34" charset="0"/>
                <a:ea typeface="Calibri" pitchFamily="34" charset="-122"/>
                <a:cs typeface="Calibri" pitchFamily="34" charset="-120"/>
              </a:rPr>
              <a:t>Mechanical Assembly</a:t>
            </a:r>
            <a:endParaRPr lang="en-US" sz="1050" dirty="0"/>
          </a:p>
        </p:txBody>
      </p:sp>
      <p:sp>
        <p:nvSpPr>
          <p:cNvPr id="30" name="Text 28"/>
          <p:cNvSpPr/>
          <p:nvPr/>
        </p:nvSpPr>
        <p:spPr>
          <a:xfrm>
            <a:off x="3284002" y="2825496"/>
            <a:ext cx="1152144" cy="182880"/>
          </a:xfrm>
          <a:prstGeom prst="rect">
            <a:avLst/>
          </a:prstGeom>
          <a:noFill/>
          <a:ln/>
        </p:spPr>
        <p:txBody>
          <a:bodyPr wrap="square" lIns="0" tIns="0" rIns="0" bIns="0" rtlCol="0" anchor="ctr"/>
          <a:lstStyle/>
          <a:p>
            <a:pPr marL="0" indent="0">
              <a:buNone/>
            </a:pPr>
            <a:r>
              <a:rPr lang="en-US" sz="800" b="1" dirty="0">
                <a:solidFill>
                  <a:srgbClr val="0E96AC"/>
                </a:solidFill>
                <a:latin typeface="Calibri" pitchFamily="34" charset="0"/>
                <a:ea typeface="Calibri" pitchFamily="34" charset="-122"/>
                <a:cs typeface="Calibri" pitchFamily="34" charset="-120"/>
              </a:rPr>
              <a:t>Up next</a:t>
            </a:r>
            <a:endParaRPr lang="en-US" sz="800" dirty="0"/>
          </a:p>
        </p:txBody>
      </p:sp>
      <p:sp>
        <p:nvSpPr>
          <p:cNvPr id="31" name="Shape 29"/>
          <p:cNvSpPr/>
          <p:nvPr/>
        </p:nvSpPr>
        <p:spPr>
          <a:xfrm>
            <a:off x="3686338" y="3346704"/>
            <a:ext cx="347472" cy="347472"/>
          </a:xfrm>
          <a:prstGeom prst="ellipse">
            <a:avLst/>
          </a:prstGeom>
          <a:solidFill>
            <a:srgbClr val="0E96AC"/>
          </a:solidFill>
          <a:ln w="31750">
            <a:solidFill>
              <a:srgbClr val="F6F8FB"/>
            </a:solidFill>
            <a:prstDash val="solid"/>
          </a:ln>
        </p:spPr>
      </p:sp>
      <p:sp>
        <p:nvSpPr>
          <p:cNvPr id="32" name="Text 30"/>
          <p:cNvSpPr/>
          <p:nvPr/>
        </p:nvSpPr>
        <p:spPr>
          <a:xfrm>
            <a:off x="3686338" y="334670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3" name="Shape 31"/>
          <p:cNvSpPr/>
          <p:nvPr/>
        </p:nvSpPr>
        <p:spPr>
          <a:xfrm>
            <a:off x="5355771" y="3520440"/>
            <a:ext cx="0" cy="457200"/>
          </a:xfrm>
          <a:prstGeom prst="line">
            <a:avLst/>
          </a:prstGeom>
          <a:noFill/>
          <a:ln w="15875">
            <a:solidFill>
              <a:srgbClr val="E2E8F0"/>
            </a:solidFill>
            <a:prstDash val="solid"/>
          </a:ln>
        </p:spPr>
      </p:sp>
      <p:sp>
        <p:nvSpPr>
          <p:cNvPr id="34" name="Shape 32"/>
          <p:cNvSpPr/>
          <p:nvPr/>
        </p:nvSpPr>
        <p:spPr>
          <a:xfrm>
            <a:off x="4688259" y="3977640"/>
            <a:ext cx="1335024" cy="914400"/>
          </a:xfrm>
          <a:prstGeom prst="roundRect">
            <a:avLst>
              <a:gd name="adj" fmla="val 8000"/>
            </a:avLst>
          </a:prstGeom>
          <a:solidFill>
            <a:srgbClr val="FFFFFF"/>
          </a:solidFill>
          <a:ln w="12700">
            <a:solidFill>
              <a:srgbClr val="E2E8F0"/>
            </a:solidFill>
            <a:prstDash val="solid"/>
          </a:ln>
          <a:effectLst>
            <a:outerShdw blurRad="63500" dist="25400" dir="5400000" algn="bl" rotWithShape="0">
              <a:srgbClr val="1A2440">
                <a:alpha val="8000"/>
              </a:srgbClr>
            </a:outerShdw>
          </a:effectLst>
        </p:spPr>
      </p:sp>
      <p:sp>
        <p:nvSpPr>
          <p:cNvPr id="35" name="Text 33"/>
          <p:cNvSpPr/>
          <p:nvPr/>
        </p:nvSpPr>
        <p:spPr>
          <a:xfrm>
            <a:off x="4779699" y="4069080"/>
            <a:ext cx="1152144" cy="201168"/>
          </a:xfrm>
          <a:prstGeom prst="rect">
            <a:avLst/>
          </a:prstGeom>
          <a:noFill/>
          <a:ln/>
        </p:spPr>
        <p:txBody>
          <a:bodyPr wrap="square" lIns="0" tIns="0" rIns="0" bIns="0" rtlCol="0" anchor="ctr"/>
          <a:lstStyle/>
          <a:p>
            <a:pPr marL="0" indent="0">
              <a:buNone/>
            </a:pPr>
            <a:r>
              <a:rPr lang="en-US" sz="800" b="1" kern="0" spc="100" dirty="0">
                <a:solidFill>
                  <a:srgbClr val="6B7890"/>
                </a:solidFill>
                <a:latin typeface="Calibri" pitchFamily="34" charset="0"/>
                <a:ea typeface="Calibri" pitchFamily="34" charset="-122"/>
                <a:cs typeface="Calibri" pitchFamily="34" charset="-120"/>
              </a:rPr>
              <a:t>PHASE 4</a:t>
            </a:r>
            <a:endParaRPr lang="en-US" sz="800" dirty="0"/>
          </a:p>
        </p:txBody>
      </p:sp>
      <p:sp>
        <p:nvSpPr>
          <p:cNvPr id="36" name="Text 34"/>
          <p:cNvSpPr/>
          <p:nvPr/>
        </p:nvSpPr>
        <p:spPr>
          <a:xfrm>
            <a:off x="4779699" y="4270248"/>
            <a:ext cx="1152144" cy="457200"/>
          </a:xfrm>
          <a:prstGeom prst="rect">
            <a:avLst/>
          </a:prstGeom>
          <a:noFill/>
          <a:ln/>
        </p:spPr>
        <p:txBody>
          <a:bodyPr wrap="square" lIns="0" tIns="0" rIns="0" bIns="0" rtlCol="0" anchor="t"/>
          <a:lstStyle/>
          <a:p>
            <a:pPr marL="0" indent="0">
              <a:lnSpc>
                <a:spcPct val="92000"/>
              </a:lnSpc>
              <a:buNone/>
            </a:pPr>
            <a:r>
              <a:rPr lang="en-US" sz="1050" b="1" dirty="0">
                <a:solidFill>
                  <a:srgbClr val="6B7890"/>
                </a:solidFill>
                <a:latin typeface="Calibri" pitchFamily="34" charset="0"/>
                <a:ea typeface="Calibri" pitchFamily="34" charset="-122"/>
                <a:cs typeface="Calibri" pitchFamily="34" charset="-120"/>
              </a:rPr>
              <a:t>Motor Integration</a:t>
            </a:r>
            <a:endParaRPr lang="en-US" sz="1050" dirty="0"/>
          </a:p>
        </p:txBody>
      </p:sp>
      <p:sp>
        <p:nvSpPr>
          <p:cNvPr id="37" name="Shape 35"/>
          <p:cNvSpPr/>
          <p:nvPr/>
        </p:nvSpPr>
        <p:spPr>
          <a:xfrm>
            <a:off x="5182035" y="3346704"/>
            <a:ext cx="347472" cy="347472"/>
          </a:xfrm>
          <a:prstGeom prst="ellipse">
            <a:avLst/>
          </a:prstGeom>
          <a:solidFill>
            <a:srgbClr val="E2E8F0"/>
          </a:solidFill>
          <a:ln w="31750">
            <a:solidFill>
              <a:srgbClr val="F6F8FB"/>
            </a:solidFill>
            <a:prstDash val="solid"/>
          </a:ln>
        </p:spPr>
      </p:sp>
      <p:sp>
        <p:nvSpPr>
          <p:cNvPr id="38" name="Text 36"/>
          <p:cNvSpPr/>
          <p:nvPr/>
        </p:nvSpPr>
        <p:spPr>
          <a:xfrm>
            <a:off x="5182035" y="334670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9" name="Shape 37"/>
          <p:cNvSpPr/>
          <p:nvPr/>
        </p:nvSpPr>
        <p:spPr>
          <a:xfrm>
            <a:off x="6851469" y="3063240"/>
            <a:ext cx="0" cy="457200"/>
          </a:xfrm>
          <a:prstGeom prst="line">
            <a:avLst/>
          </a:prstGeom>
          <a:noFill/>
          <a:ln w="15875">
            <a:solidFill>
              <a:srgbClr val="E2E8F0"/>
            </a:solidFill>
            <a:prstDash val="solid"/>
          </a:ln>
        </p:spPr>
      </p:sp>
      <p:sp>
        <p:nvSpPr>
          <p:cNvPr id="40" name="Shape 38"/>
          <p:cNvSpPr/>
          <p:nvPr/>
        </p:nvSpPr>
        <p:spPr>
          <a:xfrm>
            <a:off x="6183957" y="2148840"/>
            <a:ext cx="1335024" cy="914400"/>
          </a:xfrm>
          <a:prstGeom prst="roundRect">
            <a:avLst>
              <a:gd name="adj" fmla="val 8000"/>
            </a:avLst>
          </a:prstGeom>
          <a:solidFill>
            <a:srgbClr val="FFFFFF"/>
          </a:solidFill>
          <a:ln w="12700">
            <a:solidFill>
              <a:srgbClr val="E2E8F0"/>
            </a:solidFill>
            <a:prstDash val="solid"/>
          </a:ln>
          <a:effectLst>
            <a:outerShdw blurRad="63500" dist="25400" dir="5400000" algn="bl" rotWithShape="0">
              <a:srgbClr val="1A2440">
                <a:alpha val="8000"/>
              </a:srgbClr>
            </a:outerShdw>
          </a:effectLst>
        </p:spPr>
      </p:sp>
      <p:sp>
        <p:nvSpPr>
          <p:cNvPr id="41" name="Text 39"/>
          <p:cNvSpPr/>
          <p:nvPr/>
        </p:nvSpPr>
        <p:spPr>
          <a:xfrm>
            <a:off x="6275397" y="2240280"/>
            <a:ext cx="1152144" cy="201168"/>
          </a:xfrm>
          <a:prstGeom prst="rect">
            <a:avLst/>
          </a:prstGeom>
          <a:noFill/>
          <a:ln/>
        </p:spPr>
        <p:txBody>
          <a:bodyPr wrap="square" lIns="0" tIns="0" rIns="0" bIns="0" rtlCol="0" anchor="ctr"/>
          <a:lstStyle/>
          <a:p>
            <a:pPr marL="0" indent="0">
              <a:buNone/>
            </a:pPr>
            <a:r>
              <a:rPr lang="en-US" sz="800" b="1" kern="0" spc="100" dirty="0">
                <a:solidFill>
                  <a:srgbClr val="6B7890"/>
                </a:solidFill>
                <a:latin typeface="Calibri" pitchFamily="34" charset="0"/>
                <a:ea typeface="Calibri" pitchFamily="34" charset="-122"/>
                <a:cs typeface="Calibri" pitchFamily="34" charset="-120"/>
              </a:rPr>
              <a:t>PHASE 5</a:t>
            </a:r>
            <a:endParaRPr lang="en-US" sz="800" dirty="0"/>
          </a:p>
        </p:txBody>
      </p:sp>
      <p:sp>
        <p:nvSpPr>
          <p:cNvPr id="42" name="Text 40"/>
          <p:cNvSpPr/>
          <p:nvPr/>
        </p:nvSpPr>
        <p:spPr>
          <a:xfrm>
            <a:off x="6275397" y="2441448"/>
            <a:ext cx="1152144" cy="457200"/>
          </a:xfrm>
          <a:prstGeom prst="rect">
            <a:avLst/>
          </a:prstGeom>
          <a:noFill/>
          <a:ln/>
        </p:spPr>
        <p:txBody>
          <a:bodyPr wrap="square" lIns="0" tIns="0" rIns="0" bIns="0" rtlCol="0" anchor="t"/>
          <a:lstStyle/>
          <a:p>
            <a:pPr marL="0" indent="0">
              <a:lnSpc>
                <a:spcPct val="92000"/>
              </a:lnSpc>
              <a:buNone/>
            </a:pPr>
            <a:r>
              <a:rPr lang="en-US" sz="1050" b="1" dirty="0">
                <a:solidFill>
                  <a:srgbClr val="6B7890"/>
                </a:solidFill>
                <a:latin typeface="Calibri" pitchFamily="34" charset="0"/>
                <a:ea typeface="Calibri" pitchFamily="34" charset="-122"/>
                <a:cs typeface="Calibri" pitchFamily="34" charset="-120"/>
              </a:rPr>
              <a:t>Control Algorithms</a:t>
            </a:r>
            <a:endParaRPr lang="en-US" sz="1050" dirty="0"/>
          </a:p>
        </p:txBody>
      </p:sp>
      <p:sp>
        <p:nvSpPr>
          <p:cNvPr id="43" name="Shape 41"/>
          <p:cNvSpPr/>
          <p:nvPr/>
        </p:nvSpPr>
        <p:spPr>
          <a:xfrm>
            <a:off x="6677733" y="3346704"/>
            <a:ext cx="347472" cy="347472"/>
          </a:xfrm>
          <a:prstGeom prst="ellipse">
            <a:avLst/>
          </a:prstGeom>
          <a:solidFill>
            <a:srgbClr val="E2E8F0"/>
          </a:solidFill>
          <a:ln w="31750">
            <a:solidFill>
              <a:srgbClr val="F6F8FB"/>
            </a:solidFill>
            <a:prstDash val="solid"/>
          </a:ln>
        </p:spPr>
      </p:sp>
      <p:sp>
        <p:nvSpPr>
          <p:cNvPr id="44" name="Text 42"/>
          <p:cNvSpPr/>
          <p:nvPr/>
        </p:nvSpPr>
        <p:spPr>
          <a:xfrm>
            <a:off x="6677733" y="334670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45" name="Shape 43"/>
          <p:cNvSpPr/>
          <p:nvPr/>
        </p:nvSpPr>
        <p:spPr>
          <a:xfrm>
            <a:off x="8347166" y="3520440"/>
            <a:ext cx="0" cy="457200"/>
          </a:xfrm>
          <a:prstGeom prst="line">
            <a:avLst/>
          </a:prstGeom>
          <a:noFill/>
          <a:ln w="15875">
            <a:solidFill>
              <a:srgbClr val="E2E8F0"/>
            </a:solidFill>
            <a:prstDash val="solid"/>
          </a:ln>
        </p:spPr>
      </p:sp>
      <p:sp>
        <p:nvSpPr>
          <p:cNvPr id="46" name="Shape 44"/>
          <p:cNvSpPr/>
          <p:nvPr/>
        </p:nvSpPr>
        <p:spPr>
          <a:xfrm>
            <a:off x="7679654" y="3977640"/>
            <a:ext cx="1335024" cy="914400"/>
          </a:xfrm>
          <a:prstGeom prst="roundRect">
            <a:avLst>
              <a:gd name="adj" fmla="val 8000"/>
            </a:avLst>
          </a:prstGeom>
          <a:solidFill>
            <a:srgbClr val="FFFFFF"/>
          </a:solidFill>
          <a:ln w="12700">
            <a:solidFill>
              <a:srgbClr val="E2E8F0"/>
            </a:solidFill>
            <a:prstDash val="solid"/>
          </a:ln>
          <a:effectLst>
            <a:outerShdw blurRad="63500" dist="25400" dir="5400000" algn="bl" rotWithShape="0">
              <a:srgbClr val="1A2440">
                <a:alpha val="8000"/>
              </a:srgbClr>
            </a:outerShdw>
          </a:effectLst>
        </p:spPr>
      </p:sp>
      <p:sp>
        <p:nvSpPr>
          <p:cNvPr id="47" name="Text 45"/>
          <p:cNvSpPr/>
          <p:nvPr/>
        </p:nvSpPr>
        <p:spPr>
          <a:xfrm>
            <a:off x="7771094" y="4069080"/>
            <a:ext cx="1152144" cy="201168"/>
          </a:xfrm>
          <a:prstGeom prst="rect">
            <a:avLst/>
          </a:prstGeom>
          <a:noFill/>
          <a:ln/>
        </p:spPr>
        <p:txBody>
          <a:bodyPr wrap="square" lIns="0" tIns="0" rIns="0" bIns="0" rtlCol="0" anchor="ctr"/>
          <a:lstStyle/>
          <a:p>
            <a:pPr marL="0" indent="0">
              <a:buNone/>
            </a:pPr>
            <a:r>
              <a:rPr lang="en-US" sz="800" b="1" kern="0" spc="100" dirty="0">
                <a:solidFill>
                  <a:srgbClr val="6B7890"/>
                </a:solidFill>
                <a:latin typeface="Calibri" pitchFamily="34" charset="0"/>
                <a:ea typeface="Calibri" pitchFamily="34" charset="-122"/>
                <a:cs typeface="Calibri" pitchFamily="34" charset="-120"/>
              </a:rPr>
              <a:t>PHASE 6</a:t>
            </a:r>
            <a:endParaRPr lang="en-US" sz="800" dirty="0"/>
          </a:p>
        </p:txBody>
      </p:sp>
      <p:sp>
        <p:nvSpPr>
          <p:cNvPr id="48" name="Text 46"/>
          <p:cNvSpPr/>
          <p:nvPr/>
        </p:nvSpPr>
        <p:spPr>
          <a:xfrm>
            <a:off x="7771094" y="4270248"/>
            <a:ext cx="1152144" cy="457200"/>
          </a:xfrm>
          <a:prstGeom prst="rect">
            <a:avLst/>
          </a:prstGeom>
          <a:noFill/>
          <a:ln/>
        </p:spPr>
        <p:txBody>
          <a:bodyPr wrap="square" lIns="0" tIns="0" rIns="0" bIns="0" rtlCol="0" anchor="t"/>
          <a:lstStyle/>
          <a:p>
            <a:pPr marL="0" indent="0">
              <a:lnSpc>
                <a:spcPct val="92000"/>
              </a:lnSpc>
              <a:buNone/>
            </a:pPr>
            <a:r>
              <a:rPr lang="en-US" sz="1050" b="1" dirty="0">
                <a:solidFill>
                  <a:srgbClr val="6B7890"/>
                </a:solidFill>
                <a:latin typeface="Calibri" pitchFamily="34" charset="0"/>
                <a:ea typeface="Calibri" pitchFamily="34" charset="-122"/>
                <a:cs typeface="Calibri" pitchFamily="34" charset="-120"/>
              </a:rPr>
              <a:t>Sensor Integration</a:t>
            </a:r>
            <a:endParaRPr lang="en-US" sz="1050" dirty="0"/>
          </a:p>
        </p:txBody>
      </p:sp>
      <p:sp>
        <p:nvSpPr>
          <p:cNvPr id="49" name="Shape 47"/>
          <p:cNvSpPr/>
          <p:nvPr/>
        </p:nvSpPr>
        <p:spPr>
          <a:xfrm>
            <a:off x="8173430" y="3346704"/>
            <a:ext cx="347472" cy="347472"/>
          </a:xfrm>
          <a:prstGeom prst="ellipse">
            <a:avLst/>
          </a:prstGeom>
          <a:solidFill>
            <a:srgbClr val="E2E8F0"/>
          </a:solidFill>
          <a:ln w="31750">
            <a:solidFill>
              <a:srgbClr val="F6F8FB"/>
            </a:solidFill>
            <a:prstDash val="solid"/>
          </a:ln>
        </p:spPr>
      </p:sp>
      <p:sp>
        <p:nvSpPr>
          <p:cNvPr id="50" name="Text 48"/>
          <p:cNvSpPr/>
          <p:nvPr/>
        </p:nvSpPr>
        <p:spPr>
          <a:xfrm>
            <a:off x="8173430" y="334670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51" name="Shape 49"/>
          <p:cNvSpPr/>
          <p:nvPr/>
        </p:nvSpPr>
        <p:spPr>
          <a:xfrm>
            <a:off x="9842863" y="3063240"/>
            <a:ext cx="0" cy="457200"/>
          </a:xfrm>
          <a:prstGeom prst="line">
            <a:avLst/>
          </a:prstGeom>
          <a:noFill/>
          <a:ln w="15875">
            <a:solidFill>
              <a:srgbClr val="E2E8F0"/>
            </a:solidFill>
            <a:prstDash val="solid"/>
          </a:ln>
        </p:spPr>
      </p:sp>
      <p:sp>
        <p:nvSpPr>
          <p:cNvPr id="52" name="Shape 50"/>
          <p:cNvSpPr/>
          <p:nvPr/>
        </p:nvSpPr>
        <p:spPr>
          <a:xfrm>
            <a:off x="9175351" y="2148840"/>
            <a:ext cx="1335024" cy="914400"/>
          </a:xfrm>
          <a:prstGeom prst="roundRect">
            <a:avLst>
              <a:gd name="adj" fmla="val 8000"/>
            </a:avLst>
          </a:prstGeom>
          <a:solidFill>
            <a:srgbClr val="FFFFFF"/>
          </a:solidFill>
          <a:ln w="12700">
            <a:solidFill>
              <a:srgbClr val="E2E8F0"/>
            </a:solidFill>
            <a:prstDash val="solid"/>
          </a:ln>
          <a:effectLst>
            <a:outerShdw blurRad="63500" dist="25400" dir="5400000" algn="bl" rotWithShape="0">
              <a:srgbClr val="1A2440">
                <a:alpha val="8000"/>
              </a:srgbClr>
            </a:outerShdw>
          </a:effectLst>
        </p:spPr>
      </p:sp>
      <p:sp>
        <p:nvSpPr>
          <p:cNvPr id="53" name="Text 51"/>
          <p:cNvSpPr/>
          <p:nvPr/>
        </p:nvSpPr>
        <p:spPr>
          <a:xfrm>
            <a:off x="9266791" y="2240280"/>
            <a:ext cx="1152144" cy="201168"/>
          </a:xfrm>
          <a:prstGeom prst="rect">
            <a:avLst/>
          </a:prstGeom>
          <a:noFill/>
          <a:ln/>
        </p:spPr>
        <p:txBody>
          <a:bodyPr wrap="square" lIns="0" tIns="0" rIns="0" bIns="0" rtlCol="0" anchor="ctr"/>
          <a:lstStyle/>
          <a:p>
            <a:pPr marL="0" indent="0">
              <a:buNone/>
            </a:pPr>
            <a:r>
              <a:rPr lang="en-US" sz="800" b="1" kern="0" spc="100" dirty="0">
                <a:solidFill>
                  <a:srgbClr val="6B7890"/>
                </a:solidFill>
                <a:latin typeface="Calibri" pitchFamily="34" charset="0"/>
                <a:ea typeface="Calibri" pitchFamily="34" charset="-122"/>
                <a:cs typeface="Calibri" pitchFamily="34" charset="-120"/>
              </a:rPr>
              <a:t>PHASE 7</a:t>
            </a:r>
            <a:endParaRPr lang="en-US" sz="800" dirty="0"/>
          </a:p>
        </p:txBody>
      </p:sp>
      <p:sp>
        <p:nvSpPr>
          <p:cNvPr id="54" name="Text 52"/>
          <p:cNvSpPr/>
          <p:nvPr/>
        </p:nvSpPr>
        <p:spPr>
          <a:xfrm>
            <a:off x="9266791" y="2441448"/>
            <a:ext cx="1152144" cy="457200"/>
          </a:xfrm>
          <a:prstGeom prst="rect">
            <a:avLst/>
          </a:prstGeom>
          <a:noFill/>
          <a:ln/>
        </p:spPr>
        <p:txBody>
          <a:bodyPr wrap="square" lIns="0" tIns="0" rIns="0" bIns="0" rtlCol="0" anchor="t"/>
          <a:lstStyle/>
          <a:p>
            <a:pPr marL="0" indent="0">
              <a:lnSpc>
                <a:spcPct val="92000"/>
              </a:lnSpc>
              <a:buNone/>
            </a:pPr>
            <a:r>
              <a:rPr lang="en-US" sz="1050" b="1" dirty="0">
                <a:solidFill>
                  <a:srgbClr val="6B7890"/>
                </a:solidFill>
                <a:latin typeface="Calibri" pitchFamily="34" charset="0"/>
                <a:ea typeface="Calibri" pitchFamily="34" charset="-122"/>
                <a:cs typeface="Calibri" pitchFamily="34" charset="-120"/>
              </a:rPr>
              <a:t>Testing &amp; Optimisation</a:t>
            </a:r>
            <a:endParaRPr lang="en-US" sz="1050" dirty="0"/>
          </a:p>
        </p:txBody>
      </p:sp>
      <p:sp>
        <p:nvSpPr>
          <p:cNvPr id="55" name="Shape 53"/>
          <p:cNvSpPr/>
          <p:nvPr/>
        </p:nvSpPr>
        <p:spPr>
          <a:xfrm>
            <a:off x="9669127" y="3346704"/>
            <a:ext cx="347472" cy="347472"/>
          </a:xfrm>
          <a:prstGeom prst="ellipse">
            <a:avLst/>
          </a:prstGeom>
          <a:solidFill>
            <a:srgbClr val="E2E8F0"/>
          </a:solidFill>
          <a:ln w="31750">
            <a:solidFill>
              <a:srgbClr val="F6F8FB"/>
            </a:solidFill>
            <a:prstDash val="solid"/>
          </a:ln>
        </p:spPr>
      </p:sp>
      <p:sp>
        <p:nvSpPr>
          <p:cNvPr id="56" name="Text 54"/>
          <p:cNvSpPr/>
          <p:nvPr/>
        </p:nvSpPr>
        <p:spPr>
          <a:xfrm>
            <a:off x="9669127" y="334670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57" name="Shape 55"/>
          <p:cNvSpPr/>
          <p:nvPr/>
        </p:nvSpPr>
        <p:spPr>
          <a:xfrm>
            <a:off x="11338560" y="3520440"/>
            <a:ext cx="0" cy="457200"/>
          </a:xfrm>
          <a:prstGeom prst="line">
            <a:avLst/>
          </a:prstGeom>
          <a:noFill/>
          <a:ln w="15875">
            <a:solidFill>
              <a:srgbClr val="E2E8F0"/>
            </a:solidFill>
            <a:prstDash val="solid"/>
          </a:ln>
        </p:spPr>
      </p:sp>
      <p:sp>
        <p:nvSpPr>
          <p:cNvPr id="58" name="Shape 56"/>
          <p:cNvSpPr/>
          <p:nvPr/>
        </p:nvSpPr>
        <p:spPr>
          <a:xfrm>
            <a:off x="10351008" y="3977640"/>
            <a:ext cx="1335024" cy="914400"/>
          </a:xfrm>
          <a:prstGeom prst="roundRect">
            <a:avLst>
              <a:gd name="adj" fmla="val 8000"/>
            </a:avLst>
          </a:prstGeom>
          <a:solidFill>
            <a:srgbClr val="FFFFFF"/>
          </a:solidFill>
          <a:ln w="12700">
            <a:solidFill>
              <a:srgbClr val="E2E8F0"/>
            </a:solidFill>
            <a:prstDash val="solid"/>
          </a:ln>
          <a:effectLst>
            <a:outerShdw blurRad="63500" dist="25400" dir="5400000" algn="bl" rotWithShape="0">
              <a:srgbClr val="1A2440">
                <a:alpha val="8000"/>
              </a:srgbClr>
            </a:outerShdw>
          </a:effectLst>
        </p:spPr>
      </p:sp>
      <p:sp>
        <p:nvSpPr>
          <p:cNvPr id="59" name="Text 57"/>
          <p:cNvSpPr/>
          <p:nvPr/>
        </p:nvSpPr>
        <p:spPr>
          <a:xfrm>
            <a:off x="10442448" y="4069080"/>
            <a:ext cx="1152144" cy="201168"/>
          </a:xfrm>
          <a:prstGeom prst="rect">
            <a:avLst/>
          </a:prstGeom>
          <a:noFill/>
          <a:ln/>
        </p:spPr>
        <p:txBody>
          <a:bodyPr wrap="square" lIns="0" tIns="0" rIns="0" bIns="0" rtlCol="0" anchor="ctr"/>
          <a:lstStyle/>
          <a:p>
            <a:pPr marL="0" indent="0">
              <a:buNone/>
            </a:pPr>
            <a:r>
              <a:rPr lang="en-US" sz="800" b="1" kern="0" spc="100" dirty="0">
                <a:solidFill>
                  <a:srgbClr val="6B7890"/>
                </a:solidFill>
                <a:latin typeface="Calibri" pitchFamily="34" charset="0"/>
                <a:ea typeface="Calibri" pitchFamily="34" charset="-122"/>
                <a:cs typeface="Calibri" pitchFamily="34" charset="-120"/>
              </a:rPr>
              <a:t>PHASE 8</a:t>
            </a:r>
            <a:endParaRPr lang="en-US" sz="800" dirty="0"/>
          </a:p>
        </p:txBody>
      </p:sp>
      <p:sp>
        <p:nvSpPr>
          <p:cNvPr id="60" name="Text 58"/>
          <p:cNvSpPr/>
          <p:nvPr/>
        </p:nvSpPr>
        <p:spPr>
          <a:xfrm>
            <a:off x="10442448" y="4270248"/>
            <a:ext cx="1152144" cy="457200"/>
          </a:xfrm>
          <a:prstGeom prst="rect">
            <a:avLst/>
          </a:prstGeom>
          <a:noFill/>
          <a:ln/>
        </p:spPr>
        <p:txBody>
          <a:bodyPr wrap="square" lIns="0" tIns="0" rIns="0" bIns="0" rtlCol="0" anchor="t"/>
          <a:lstStyle/>
          <a:p>
            <a:pPr marL="0" indent="0">
              <a:lnSpc>
                <a:spcPct val="92000"/>
              </a:lnSpc>
              <a:buNone/>
            </a:pPr>
            <a:r>
              <a:rPr lang="en-US" sz="1050" b="1" dirty="0">
                <a:solidFill>
                  <a:srgbClr val="6B7890"/>
                </a:solidFill>
                <a:latin typeface="Calibri" pitchFamily="34" charset="0"/>
                <a:ea typeface="Calibri" pitchFamily="34" charset="-122"/>
                <a:cs typeface="Calibri" pitchFamily="34" charset="-120"/>
              </a:rPr>
              <a:t>Final Demonstration</a:t>
            </a:r>
            <a:endParaRPr lang="en-US" sz="1050" dirty="0"/>
          </a:p>
        </p:txBody>
      </p:sp>
      <p:sp>
        <p:nvSpPr>
          <p:cNvPr id="61" name="Shape 59"/>
          <p:cNvSpPr/>
          <p:nvPr/>
        </p:nvSpPr>
        <p:spPr>
          <a:xfrm>
            <a:off x="11164824" y="3346704"/>
            <a:ext cx="347472" cy="347472"/>
          </a:xfrm>
          <a:prstGeom prst="ellipse">
            <a:avLst/>
          </a:prstGeom>
          <a:solidFill>
            <a:srgbClr val="E2E8F0"/>
          </a:solidFill>
          <a:ln w="31750">
            <a:solidFill>
              <a:srgbClr val="F6F8FB"/>
            </a:solidFill>
            <a:prstDash val="solid"/>
          </a:ln>
        </p:spPr>
      </p:sp>
      <p:sp>
        <p:nvSpPr>
          <p:cNvPr id="62" name="Text 60"/>
          <p:cNvSpPr/>
          <p:nvPr/>
        </p:nvSpPr>
        <p:spPr>
          <a:xfrm>
            <a:off x="11164824" y="334670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63" name="Shape 61"/>
          <p:cNvSpPr/>
          <p:nvPr/>
        </p:nvSpPr>
        <p:spPr>
          <a:xfrm>
            <a:off x="1632857" y="5394960"/>
            <a:ext cx="1691640" cy="457200"/>
          </a:xfrm>
          <a:prstGeom prst="roundRect">
            <a:avLst>
              <a:gd name="adj" fmla="val 50000"/>
            </a:avLst>
          </a:prstGeom>
          <a:solidFill>
            <a:srgbClr val="16223A"/>
          </a:solidFill>
          <a:ln/>
        </p:spPr>
      </p:sp>
      <p:sp>
        <p:nvSpPr>
          <p:cNvPr id="64" name="Text 62"/>
          <p:cNvSpPr/>
          <p:nvPr/>
        </p:nvSpPr>
        <p:spPr>
          <a:xfrm>
            <a:off x="1632857" y="5394960"/>
            <a:ext cx="1691640" cy="457200"/>
          </a:xfrm>
          <a:prstGeom prst="rect">
            <a:avLst/>
          </a:prstGeom>
          <a:noFill/>
          <a:ln/>
        </p:spPr>
        <p:txBody>
          <a:bodyPr wrap="square" lIns="0" tIns="0" rIns="0" bIns="0" rtlCol="0" anchor="ctr"/>
          <a:lstStyle/>
          <a:p>
            <a:pPr marL="0" indent="0" algn="ctr">
              <a:buNone/>
            </a:pPr>
            <a:r>
              <a:rPr lang="en-US" sz="950" b="1" dirty="0">
                <a:solidFill>
                  <a:srgbClr val="2BD4E8"/>
                </a:solidFill>
                <a:latin typeface="Calibri" pitchFamily="34" charset="0"/>
                <a:ea typeface="Calibri" pitchFamily="34" charset="-122"/>
                <a:cs typeface="Calibri" pitchFamily="34" charset="-120"/>
              </a:rPr>
              <a:t>WE ARE HERE </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lIns="0" tIns="0" rIns="0" bIns="0" rtlCol="0" anchor="ctr"/>
          <a:lstStyle/>
          <a:p>
            <a:pPr marL="0" indent="0">
              <a:buNone/>
            </a:pPr>
            <a:r>
              <a:rPr lang="en-US" sz="1200" b="1" kern="0" spc="300" dirty="0">
                <a:solidFill>
                  <a:srgbClr val="0E96AC"/>
                </a:solidFill>
                <a:latin typeface="Calibri" pitchFamily="34" charset="0"/>
                <a:ea typeface="Calibri" pitchFamily="34" charset="-122"/>
                <a:cs typeface="Calibri" pitchFamily="34" charset="-120"/>
              </a:rPr>
              <a:t>CURRENT ACHIEVEMENTS</a:t>
            </a:r>
            <a:endParaRPr lang="en-US" sz="1200" dirty="0"/>
          </a:p>
        </p:txBody>
      </p:sp>
      <p:sp>
        <p:nvSpPr>
          <p:cNvPr id="3" name="Text 1"/>
          <p:cNvSpPr/>
          <p:nvPr/>
        </p:nvSpPr>
        <p:spPr>
          <a:xfrm>
            <a:off x="530352" y="640080"/>
            <a:ext cx="9509760" cy="640080"/>
          </a:xfrm>
          <a:prstGeom prst="rect">
            <a:avLst/>
          </a:prstGeom>
          <a:noFill/>
          <a:ln/>
        </p:spPr>
        <p:txBody>
          <a:bodyPr wrap="square" lIns="0" tIns="0" rIns="0" bIns="0" rtlCol="0" anchor="ctr"/>
          <a:lstStyle/>
          <a:p>
            <a:pPr marL="0" indent="0">
              <a:buNone/>
            </a:pPr>
            <a:r>
              <a:rPr lang="en-US" sz="3000" b="1" dirty="0">
                <a:solidFill>
                  <a:srgbClr val="16223A"/>
                </a:solidFill>
                <a:latin typeface="Calibri" pitchFamily="34" charset="0"/>
                <a:ea typeface="Calibri" pitchFamily="34" charset="-122"/>
                <a:cs typeface="Calibri" pitchFamily="34" charset="-120"/>
              </a:rPr>
              <a:t>Concrete Wins in Quarter One</a:t>
            </a:r>
            <a:endParaRPr lang="en-US" sz="3000" dirty="0"/>
          </a:p>
        </p:txBody>
      </p:sp>
      <p:sp>
        <p:nvSpPr>
          <p:cNvPr id="10" name="Shape 8"/>
          <p:cNvSpPr/>
          <p:nvPr/>
        </p:nvSpPr>
        <p:spPr>
          <a:xfrm>
            <a:off x="548640" y="1627632"/>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sp>
      <p:sp>
        <p:nvSpPr>
          <p:cNvPr id="11" name="Shape 9"/>
          <p:cNvSpPr/>
          <p:nvPr/>
        </p:nvSpPr>
        <p:spPr>
          <a:xfrm>
            <a:off x="822960" y="1901952"/>
            <a:ext cx="713232" cy="713232"/>
          </a:xfrm>
          <a:prstGeom prst="ellipse">
            <a:avLst/>
          </a:prstGeom>
          <a:solidFill>
            <a:srgbClr val="0E96AC"/>
          </a:solidFill>
          <a:ln/>
        </p:spPr>
      </p:sp>
      <p:pic>
        <p:nvPicPr>
          <p:cNvPr id="12" name="Image 0" descr="preencoded.png"/>
          <p:cNvPicPr>
            <a:picLocks noChangeAspect="1"/>
          </p:cNvPicPr>
          <p:nvPr/>
        </p:nvPicPr>
        <p:blipFill>
          <a:blip r:embed="rId3"/>
          <a:stretch>
            <a:fillRect/>
          </a:stretch>
        </p:blipFill>
        <p:spPr>
          <a:xfrm>
            <a:off x="1001268" y="2080260"/>
            <a:ext cx="356616" cy="356616"/>
          </a:xfrm>
          <a:prstGeom prst="rect">
            <a:avLst/>
          </a:prstGeom>
        </p:spPr>
      </p:pic>
      <p:pic>
        <p:nvPicPr>
          <p:cNvPr id="13" name="Image 1" descr="preencoded.png"/>
          <p:cNvPicPr>
            <a:picLocks noChangeAspect="1"/>
          </p:cNvPicPr>
          <p:nvPr/>
        </p:nvPicPr>
        <p:blipFill>
          <a:blip r:embed="rId4"/>
          <a:stretch>
            <a:fillRect/>
          </a:stretch>
        </p:blipFill>
        <p:spPr>
          <a:xfrm>
            <a:off x="3511296" y="1901952"/>
            <a:ext cx="310896" cy="310896"/>
          </a:xfrm>
          <a:prstGeom prst="rect">
            <a:avLst/>
          </a:prstGeom>
        </p:spPr>
      </p:pic>
      <p:sp>
        <p:nvSpPr>
          <p:cNvPr id="14" name="Text 10"/>
          <p:cNvSpPr/>
          <p:nvPr/>
        </p:nvSpPr>
        <p:spPr>
          <a:xfrm>
            <a:off x="822960" y="2743200"/>
            <a:ext cx="3026664" cy="365760"/>
          </a:xfrm>
          <a:prstGeom prst="rect">
            <a:avLst/>
          </a:prstGeom>
          <a:noFill/>
          <a:ln/>
        </p:spPr>
        <p:txBody>
          <a:bodyPr wrap="square" lIns="0" tIns="0" rIns="0" bIns="0" rtlCol="0" anchor="ctr"/>
          <a:lstStyle/>
          <a:p>
            <a:pPr marL="0" indent="0">
              <a:buNone/>
            </a:pPr>
            <a:r>
              <a:rPr lang="en-US" sz="1500" b="1" dirty="0">
                <a:solidFill>
                  <a:srgbClr val="16223A"/>
                </a:solidFill>
                <a:latin typeface="Calibri" pitchFamily="34" charset="0"/>
                <a:ea typeface="Calibri" pitchFamily="34" charset="-122"/>
                <a:cs typeface="Calibri" pitchFamily="34" charset="-120"/>
              </a:rPr>
              <a:t>Architecture finalized</a:t>
            </a:r>
            <a:endParaRPr lang="en-US" sz="1500" dirty="0"/>
          </a:p>
        </p:txBody>
      </p:sp>
      <p:sp>
        <p:nvSpPr>
          <p:cNvPr id="15" name="Text 11"/>
          <p:cNvSpPr/>
          <p:nvPr/>
        </p:nvSpPr>
        <p:spPr>
          <a:xfrm>
            <a:off x="822960" y="3108960"/>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System block diagram locked.</a:t>
            </a:r>
            <a:endParaRPr lang="en-US" sz="1150" dirty="0"/>
          </a:p>
        </p:txBody>
      </p:sp>
      <p:sp>
        <p:nvSpPr>
          <p:cNvPr id="16" name="Shape 12"/>
          <p:cNvSpPr/>
          <p:nvPr/>
        </p:nvSpPr>
        <p:spPr>
          <a:xfrm>
            <a:off x="4370832" y="1627632"/>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sp>
      <p:sp>
        <p:nvSpPr>
          <p:cNvPr id="17" name="Shape 13"/>
          <p:cNvSpPr/>
          <p:nvPr/>
        </p:nvSpPr>
        <p:spPr>
          <a:xfrm>
            <a:off x="4645152" y="1901952"/>
            <a:ext cx="713232" cy="713232"/>
          </a:xfrm>
          <a:prstGeom prst="ellipse">
            <a:avLst/>
          </a:prstGeom>
          <a:solidFill>
            <a:srgbClr val="12A678"/>
          </a:solidFill>
          <a:ln/>
        </p:spPr>
      </p:sp>
      <p:pic>
        <p:nvPicPr>
          <p:cNvPr id="18" name="Image 2" descr="preencoded.png"/>
          <p:cNvPicPr>
            <a:picLocks noChangeAspect="1"/>
          </p:cNvPicPr>
          <p:nvPr/>
        </p:nvPicPr>
        <p:blipFill>
          <a:blip r:embed="rId5"/>
          <a:stretch>
            <a:fillRect/>
          </a:stretch>
        </p:blipFill>
        <p:spPr>
          <a:xfrm>
            <a:off x="4823460" y="2080260"/>
            <a:ext cx="356616" cy="356616"/>
          </a:xfrm>
          <a:prstGeom prst="rect">
            <a:avLst/>
          </a:prstGeom>
        </p:spPr>
      </p:pic>
      <p:pic>
        <p:nvPicPr>
          <p:cNvPr id="19" name="Image 3" descr="preencoded.png"/>
          <p:cNvPicPr>
            <a:picLocks noChangeAspect="1"/>
          </p:cNvPicPr>
          <p:nvPr/>
        </p:nvPicPr>
        <p:blipFill>
          <a:blip r:embed="rId4"/>
          <a:stretch>
            <a:fillRect/>
          </a:stretch>
        </p:blipFill>
        <p:spPr>
          <a:xfrm>
            <a:off x="7333488" y="1901952"/>
            <a:ext cx="310896" cy="310896"/>
          </a:xfrm>
          <a:prstGeom prst="rect">
            <a:avLst/>
          </a:prstGeom>
        </p:spPr>
      </p:pic>
      <p:sp>
        <p:nvSpPr>
          <p:cNvPr id="20" name="Text 14"/>
          <p:cNvSpPr/>
          <p:nvPr/>
        </p:nvSpPr>
        <p:spPr>
          <a:xfrm>
            <a:off x="4645152" y="2743200"/>
            <a:ext cx="3026664" cy="365760"/>
          </a:xfrm>
          <a:prstGeom prst="rect">
            <a:avLst/>
          </a:prstGeom>
          <a:noFill/>
          <a:ln/>
        </p:spPr>
        <p:txBody>
          <a:bodyPr wrap="square" lIns="0" tIns="0" rIns="0" bIns="0" rtlCol="0" anchor="ctr"/>
          <a:lstStyle/>
          <a:p>
            <a:pPr marL="0" indent="0">
              <a:buNone/>
            </a:pPr>
            <a:r>
              <a:rPr lang="en-US" sz="1500" b="1" dirty="0">
                <a:solidFill>
                  <a:srgbClr val="16223A"/>
                </a:solidFill>
                <a:latin typeface="Calibri" pitchFamily="34" charset="0"/>
                <a:ea typeface="Calibri" pitchFamily="34" charset="-122"/>
                <a:cs typeface="Calibri" pitchFamily="34" charset="-120"/>
              </a:rPr>
              <a:t>CAD design completed</a:t>
            </a:r>
            <a:endParaRPr lang="en-US" sz="1500" dirty="0"/>
          </a:p>
        </p:txBody>
      </p:sp>
      <p:sp>
        <p:nvSpPr>
          <p:cNvPr id="21" name="Text 15"/>
          <p:cNvSpPr/>
          <p:nvPr/>
        </p:nvSpPr>
        <p:spPr>
          <a:xfrm>
            <a:off x="4645152" y="3108960"/>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Segment modelled to motor specs.</a:t>
            </a:r>
            <a:endParaRPr lang="en-US" sz="1150" dirty="0"/>
          </a:p>
        </p:txBody>
      </p:sp>
      <p:sp>
        <p:nvSpPr>
          <p:cNvPr id="22" name="Shape 16"/>
          <p:cNvSpPr/>
          <p:nvPr/>
        </p:nvSpPr>
        <p:spPr>
          <a:xfrm>
            <a:off x="8193024" y="1627632"/>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sp>
      <p:sp>
        <p:nvSpPr>
          <p:cNvPr id="23" name="Shape 17"/>
          <p:cNvSpPr/>
          <p:nvPr/>
        </p:nvSpPr>
        <p:spPr>
          <a:xfrm>
            <a:off x="8467344" y="1901952"/>
            <a:ext cx="713232" cy="713232"/>
          </a:xfrm>
          <a:prstGeom prst="ellipse">
            <a:avLst/>
          </a:prstGeom>
          <a:solidFill>
            <a:srgbClr val="E08A1E"/>
          </a:solidFill>
          <a:ln/>
        </p:spPr>
      </p:sp>
      <p:pic>
        <p:nvPicPr>
          <p:cNvPr id="24" name="Image 4" descr="preencoded.png"/>
          <p:cNvPicPr>
            <a:picLocks noChangeAspect="1"/>
          </p:cNvPicPr>
          <p:nvPr/>
        </p:nvPicPr>
        <p:blipFill>
          <a:blip r:embed="rId6"/>
          <a:stretch>
            <a:fillRect/>
          </a:stretch>
        </p:blipFill>
        <p:spPr>
          <a:xfrm>
            <a:off x="8645652" y="2080260"/>
            <a:ext cx="356616" cy="356616"/>
          </a:xfrm>
          <a:prstGeom prst="rect">
            <a:avLst/>
          </a:prstGeom>
        </p:spPr>
      </p:pic>
      <p:pic>
        <p:nvPicPr>
          <p:cNvPr id="25" name="Image 5" descr="preencoded.png"/>
          <p:cNvPicPr>
            <a:picLocks noChangeAspect="1"/>
          </p:cNvPicPr>
          <p:nvPr/>
        </p:nvPicPr>
        <p:blipFill>
          <a:blip r:embed="rId4"/>
          <a:stretch>
            <a:fillRect/>
          </a:stretch>
        </p:blipFill>
        <p:spPr>
          <a:xfrm>
            <a:off x="11155680" y="1901952"/>
            <a:ext cx="310896" cy="310896"/>
          </a:xfrm>
          <a:prstGeom prst="rect">
            <a:avLst/>
          </a:prstGeom>
        </p:spPr>
      </p:pic>
      <p:sp>
        <p:nvSpPr>
          <p:cNvPr id="26" name="Text 18"/>
          <p:cNvSpPr/>
          <p:nvPr/>
        </p:nvSpPr>
        <p:spPr>
          <a:xfrm>
            <a:off x="8467344" y="2743200"/>
            <a:ext cx="3026664" cy="365760"/>
          </a:xfrm>
          <a:prstGeom prst="rect">
            <a:avLst/>
          </a:prstGeom>
          <a:noFill/>
          <a:ln/>
        </p:spPr>
        <p:txBody>
          <a:bodyPr wrap="square" lIns="0" tIns="0" rIns="0" bIns="0" rtlCol="0" anchor="ctr"/>
          <a:lstStyle/>
          <a:p>
            <a:pPr marL="0" indent="0">
              <a:buNone/>
            </a:pPr>
            <a:r>
              <a:rPr lang="en-US" sz="1500" b="1" dirty="0">
                <a:solidFill>
                  <a:srgbClr val="16223A"/>
                </a:solidFill>
                <a:latin typeface="Calibri" pitchFamily="34" charset="0"/>
                <a:ea typeface="Calibri" pitchFamily="34" charset="-122"/>
                <a:cs typeface="Calibri" pitchFamily="34" charset="-120"/>
              </a:rPr>
              <a:t>Prototype fabrication started</a:t>
            </a:r>
            <a:endParaRPr lang="en-US" sz="1500" dirty="0"/>
          </a:p>
        </p:txBody>
      </p:sp>
      <p:sp>
        <p:nvSpPr>
          <p:cNvPr id="27" name="Text 19"/>
          <p:cNvSpPr/>
          <p:nvPr/>
        </p:nvSpPr>
        <p:spPr>
          <a:xfrm>
            <a:off x="8467344" y="3108960"/>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Two segments printed &amp; checked.</a:t>
            </a:r>
            <a:endParaRPr lang="en-US" sz="1150" dirty="0"/>
          </a:p>
        </p:txBody>
      </p:sp>
      <p:sp>
        <p:nvSpPr>
          <p:cNvPr id="28" name="Shape 20"/>
          <p:cNvSpPr/>
          <p:nvPr/>
        </p:nvSpPr>
        <p:spPr>
          <a:xfrm>
            <a:off x="548640" y="3877056"/>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sp>
      <p:sp>
        <p:nvSpPr>
          <p:cNvPr id="29" name="Shape 21"/>
          <p:cNvSpPr/>
          <p:nvPr/>
        </p:nvSpPr>
        <p:spPr>
          <a:xfrm>
            <a:off x="822960" y="4151376"/>
            <a:ext cx="713232" cy="713232"/>
          </a:xfrm>
          <a:prstGeom prst="ellipse">
            <a:avLst/>
          </a:prstGeom>
          <a:solidFill>
            <a:srgbClr val="0E96AC"/>
          </a:solidFill>
          <a:ln/>
        </p:spPr>
      </p:sp>
      <p:pic>
        <p:nvPicPr>
          <p:cNvPr id="30" name="Image 6" descr="preencoded.png"/>
          <p:cNvPicPr>
            <a:picLocks noChangeAspect="1"/>
          </p:cNvPicPr>
          <p:nvPr/>
        </p:nvPicPr>
        <p:blipFill>
          <a:blip r:embed="rId7"/>
          <a:stretch>
            <a:fillRect/>
          </a:stretch>
        </p:blipFill>
        <p:spPr>
          <a:xfrm>
            <a:off x="1001268" y="4329684"/>
            <a:ext cx="356616" cy="356616"/>
          </a:xfrm>
          <a:prstGeom prst="rect">
            <a:avLst/>
          </a:prstGeom>
        </p:spPr>
      </p:pic>
      <p:pic>
        <p:nvPicPr>
          <p:cNvPr id="31" name="Image 7" descr="preencoded.png"/>
          <p:cNvPicPr>
            <a:picLocks noChangeAspect="1"/>
          </p:cNvPicPr>
          <p:nvPr/>
        </p:nvPicPr>
        <p:blipFill>
          <a:blip r:embed="rId4"/>
          <a:stretch>
            <a:fillRect/>
          </a:stretch>
        </p:blipFill>
        <p:spPr>
          <a:xfrm>
            <a:off x="3511296" y="4151376"/>
            <a:ext cx="310896" cy="310896"/>
          </a:xfrm>
          <a:prstGeom prst="rect">
            <a:avLst/>
          </a:prstGeom>
        </p:spPr>
      </p:pic>
      <p:sp>
        <p:nvSpPr>
          <p:cNvPr id="32" name="Text 22"/>
          <p:cNvSpPr/>
          <p:nvPr/>
        </p:nvSpPr>
        <p:spPr>
          <a:xfrm>
            <a:off x="822960" y="4992624"/>
            <a:ext cx="3026664" cy="365760"/>
          </a:xfrm>
          <a:prstGeom prst="rect">
            <a:avLst/>
          </a:prstGeom>
          <a:noFill/>
          <a:ln/>
        </p:spPr>
        <p:txBody>
          <a:bodyPr wrap="square" lIns="0" tIns="0" rIns="0" bIns="0" rtlCol="0" anchor="ctr"/>
          <a:lstStyle/>
          <a:p>
            <a:pPr marL="0" indent="0">
              <a:buNone/>
            </a:pPr>
            <a:r>
              <a:rPr lang="en-US" sz="1500" b="1" dirty="0">
                <a:solidFill>
                  <a:srgbClr val="16223A"/>
                </a:solidFill>
                <a:latin typeface="Calibri" pitchFamily="34" charset="0"/>
                <a:ea typeface="Calibri" pitchFamily="34" charset="-122"/>
                <a:cs typeface="Calibri" pitchFamily="34" charset="-120"/>
              </a:rPr>
              <a:t>Pi environment established</a:t>
            </a:r>
            <a:endParaRPr lang="en-US" sz="1500" dirty="0"/>
          </a:p>
        </p:txBody>
      </p:sp>
      <p:sp>
        <p:nvSpPr>
          <p:cNvPr id="33" name="Text 23"/>
          <p:cNvSpPr/>
          <p:nvPr/>
        </p:nvSpPr>
        <p:spPr>
          <a:xfrm>
            <a:off x="822960" y="5358384"/>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OS, network and tooling ready.</a:t>
            </a:r>
            <a:endParaRPr lang="en-US" sz="1150" dirty="0"/>
          </a:p>
        </p:txBody>
      </p:sp>
      <p:sp>
        <p:nvSpPr>
          <p:cNvPr id="34" name="Shape 24"/>
          <p:cNvSpPr/>
          <p:nvPr/>
        </p:nvSpPr>
        <p:spPr>
          <a:xfrm>
            <a:off x="4370832" y="3877056"/>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sp>
      <p:sp>
        <p:nvSpPr>
          <p:cNvPr id="35" name="Shape 25"/>
          <p:cNvSpPr/>
          <p:nvPr/>
        </p:nvSpPr>
        <p:spPr>
          <a:xfrm>
            <a:off x="4645152" y="4151376"/>
            <a:ext cx="713232" cy="713232"/>
          </a:xfrm>
          <a:prstGeom prst="ellipse">
            <a:avLst/>
          </a:prstGeom>
          <a:solidFill>
            <a:srgbClr val="12A678"/>
          </a:solidFill>
          <a:ln/>
        </p:spPr>
      </p:sp>
      <p:pic>
        <p:nvPicPr>
          <p:cNvPr id="36" name="Image 8" descr="preencoded.png"/>
          <p:cNvPicPr>
            <a:picLocks noChangeAspect="1"/>
          </p:cNvPicPr>
          <p:nvPr/>
        </p:nvPicPr>
        <p:blipFill>
          <a:blip r:embed="rId8"/>
          <a:stretch>
            <a:fillRect/>
          </a:stretch>
        </p:blipFill>
        <p:spPr>
          <a:xfrm>
            <a:off x="4823460" y="4329684"/>
            <a:ext cx="356616" cy="356616"/>
          </a:xfrm>
          <a:prstGeom prst="rect">
            <a:avLst/>
          </a:prstGeom>
        </p:spPr>
      </p:pic>
      <p:pic>
        <p:nvPicPr>
          <p:cNvPr id="37" name="Image 9" descr="preencoded.png"/>
          <p:cNvPicPr>
            <a:picLocks noChangeAspect="1"/>
          </p:cNvPicPr>
          <p:nvPr/>
        </p:nvPicPr>
        <p:blipFill>
          <a:blip r:embed="rId4"/>
          <a:stretch>
            <a:fillRect/>
          </a:stretch>
        </p:blipFill>
        <p:spPr>
          <a:xfrm>
            <a:off x="7333488" y="4151376"/>
            <a:ext cx="310896" cy="310896"/>
          </a:xfrm>
          <a:prstGeom prst="rect">
            <a:avLst/>
          </a:prstGeom>
        </p:spPr>
      </p:pic>
      <p:sp>
        <p:nvSpPr>
          <p:cNvPr id="38" name="Text 26"/>
          <p:cNvSpPr/>
          <p:nvPr/>
        </p:nvSpPr>
        <p:spPr>
          <a:xfrm>
            <a:off x="4645152" y="4992624"/>
            <a:ext cx="3026664" cy="365760"/>
          </a:xfrm>
          <a:prstGeom prst="rect">
            <a:avLst/>
          </a:prstGeom>
          <a:noFill/>
          <a:ln/>
        </p:spPr>
        <p:txBody>
          <a:bodyPr wrap="square" lIns="0" tIns="0" rIns="0" bIns="0" rtlCol="0" anchor="ctr"/>
          <a:lstStyle/>
          <a:p>
            <a:pPr marL="0" indent="0">
              <a:buNone/>
            </a:pPr>
            <a:r>
              <a:rPr lang="en-US" sz="1500" b="1" dirty="0">
                <a:solidFill>
                  <a:srgbClr val="16223A"/>
                </a:solidFill>
                <a:latin typeface="Calibri" pitchFamily="34" charset="0"/>
                <a:ea typeface="Calibri" pitchFamily="34" charset="-122"/>
                <a:cs typeface="Calibri" pitchFamily="34" charset="-120"/>
              </a:rPr>
              <a:t>GitHub workflow operational</a:t>
            </a:r>
            <a:endParaRPr lang="en-US" sz="1500" dirty="0"/>
          </a:p>
        </p:txBody>
      </p:sp>
      <p:sp>
        <p:nvSpPr>
          <p:cNvPr id="39" name="Text 27"/>
          <p:cNvSpPr/>
          <p:nvPr/>
        </p:nvSpPr>
        <p:spPr>
          <a:xfrm>
            <a:off x="4645152" y="5358384"/>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Version control and docs live.</a:t>
            </a:r>
            <a:endParaRPr lang="en-US" sz="1150" dirty="0"/>
          </a:p>
        </p:txBody>
      </p:sp>
      <p:sp>
        <p:nvSpPr>
          <p:cNvPr id="40" name="Shape 28"/>
          <p:cNvSpPr/>
          <p:nvPr/>
        </p:nvSpPr>
        <p:spPr>
          <a:xfrm>
            <a:off x="8193024" y="3877056"/>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sp>
      <p:sp>
        <p:nvSpPr>
          <p:cNvPr id="41" name="Shape 29"/>
          <p:cNvSpPr/>
          <p:nvPr/>
        </p:nvSpPr>
        <p:spPr>
          <a:xfrm>
            <a:off x="8467344" y="4151376"/>
            <a:ext cx="713232" cy="713232"/>
          </a:xfrm>
          <a:prstGeom prst="ellipse">
            <a:avLst/>
          </a:prstGeom>
          <a:solidFill>
            <a:srgbClr val="E08A1E"/>
          </a:solidFill>
          <a:ln/>
        </p:spPr>
      </p:sp>
      <p:pic>
        <p:nvPicPr>
          <p:cNvPr id="42" name="Image 10" descr="preencoded.png"/>
          <p:cNvPicPr>
            <a:picLocks noChangeAspect="1"/>
          </p:cNvPicPr>
          <p:nvPr/>
        </p:nvPicPr>
        <p:blipFill>
          <a:blip r:embed="rId9"/>
          <a:stretch>
            <a:fillRect/>
          </a:stretch>
        </p:blipFill>
        <p:spPr>
          <a:xfrm>
            <a:off x="8645652" y="4329684"/>
            <a:ext cx="356616" cy="356616"/>
          </a:xfrm>
          <a:prstGeom prst="rect">
            <a:avLst/>
          </a:prstGeom>
        </p:spPr>
      </p:pic>
      <p:pic>
        <p:nvPicPr>
          <p:cNvPr id="43" name="Image 11" descr="preencoded.png"/>
          <p:cNvPicPr>
            <a:picLocks noChangeAspect="1"/>
          </p:cNvPicPr>
          <p:nvPr/>
        </p:nvPicPr>
        <p:blipFill>
          <a:blip r:embed="rId4"/>
          <a:stretch>
            <a:fillRect/>
          </a:stretch>
        </p:blipFill>
        <p:spPr>
          <a:xfrm>
            <a:off x="11155680" y="4151376"/>
            <a:ext cx="310896" cy="310896"/>
          </a:xfrm>
          <a:prstGeom prst="rect">
            <a:avLst/>
          </a:prstGeom>
        </p:spPr>
      </p:pic>
      <p:sp>
        <p:nvSpPr>
          <p:cNvPr id="44" name="Text 30"/>
          <p:cNvSpPr/>
          <p:nvPr/>
        </p:nvSpPr>
        <p:spPr>
          <a:xfrm>
            <a:off x="8467344" y="4992624"/>
            <a:ext cx="3026664" cy="365760"/>
          </a:xfrm>
          <a:prstGeom prst="rect">
            <a:avLst/>
          </a:prstGeom>
          <a:noFill/>
          <a:ln/>
        </p:spPr>
        <p:txBody>
          <a:bodyPr wrap="square" lIns="0" tIns="0" rIns="0" bIns="0" rtlCol="0" anchor="ctr"/>
          <a:lstStyle/>
          <a:p>
            <a:pPr marL="0" indent="0">
              <a:buNone/>
            </a:pPr>
            <a:r>
              <a:rPr lang="en-US" sz="1500" b="1" dirty="0">
                <a:solidFill>
                  <a:srgbClr val="16223A"/>
                </a:solidFill>
                <a:latin typeface="Calibri" pitchFamily="34" charset="0"/>
                <a:ea typeface="Calibri" pitchFamily="34" charset="-122"/>
                <a:cs typeface="Calibri" pitchFamily="34" charset="-120"/>
              </a:rPr>
              <a:t>Procurement initiated</a:t>
            </a:r>
            <a:endParaRPr lang="en-US" sz="1500" dirty="0"/>
          </a:p>
        </p:txBody>
      </p:sp>
      <p:sp>
        <p:nvSpPr>
          <p:cNvPr id="45" name="Text 31"/>
          <p:cNvSpPr/>
          <p:nvPr/>
        </p:nvSpPr>
        <p:spPr>
          <a:xfrm>
            <a:off x="8467344" y="5358384"/>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Core compute received; rest ordered.</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4F6F9"/>
        </a:solidFill>
        <a:effectLst/>
      </p:bgPr>
    </p:bg>
    <p:spTree>
      <p:nvGrpSpPr>
        <p:cNvPr id="1" name=""/>
        <p:cNvGrpSpPr/>
        <p:nvPr/>
      </p:nvGrpSpPr>
      <p:grpSpPr>
        <a:xfrm>
          <a:off x="0" y="0"/>
          <a:ext cx="0" cy="0"/>
          <a:chOff x="0" y="0"/>
          <a:chExt cx="0" cy="0"/>
        </a:xfrm>
      </p:grpSpPr>
      <p:sp>
        <p:nvSpPr>
          <p:cNvPr id="10" name="TopBar"/>
          <p:cNvSpPr>
            <a:spLocks noGrp="1"/>
          </p:cNvSpPr>
          <p:nvPr/>
        </p:nvSpPr>
        <p:spPr>
          <a:xfrm>
            <a:off x="0" y="0"/>
            <a:ext cx="12192000" cy="76200"/>
          </a:xfrm>
          <a:prstGeom prst="rect">
            <a:avLst/>
          </a:prstGeom>
          <a:solidFill>
            <a:srgbClr val="0E96AC"/>
          </a:solidFill>
          <a:ln>
            <a:noFill/>
          </a:ln>
        </p:spPr>
        <p:txBody>
          <a:bodyPr/>
          <a:lstStyle/>
          <a:p>
            <a:endParaRPr/>
          </a:p>
        </p:txBody>
      </p:sp>
      <p:sp>
        <p:nvSpPr>
          <p:cNvPr id="11" name="Eyebrow"/>
          <p:cNvSpPr>
            <a:spLocks noGrp="1"/>
          </p:cNvSpPr>
          <p:nvPr/>
        </p:nvSpPr>
        <p:spPr>
          <a:xfrm>
            <a:off x="533400" y="177800"/>
            <a:ext cx="8890000" cy="228600"/>
          </a:xfrm>
          <a:prstGeom prst="rect">
            <a:avLst/>
          </a:prstGeom>
          <a:noFill/>
          <a:ln>
            <a:noFill/>
          </a:ln>
        </p:spPr>
        <p:txBody>
          <a:bodyPr/>
          <a:lstStyle/>
          <a:p>
            <a:pPr marL="0" indent="0" algn="l">
              <a:buNone/>
            </a:pPr>
            <a:r>
              <a:rPr lang="en-IN" sz="1100" b="1" dirty="0">
                <a:solidFill>
                  <a:srgbClr val="0E96AC"/>
                </a:solidFill>
                <a:latin typeface="Calibri" pitchFamily="34" charset="0"/>
              </a:rPr>
              <a:t>SIMULATION &amp; VALIDATION</a:t>
            </a:r>
          </a:p>
        </p:txBody>
      </p:sp>
      <p:sp>
        <p:nvSpPr>
          <p:cNvPr id="12" name="AccentLine"/>
          <p:cNvSpPr>
            <a:spLocks noGrp="1"/>
          </p:cNvSpPr>
          <p:nvPr/>
        </p:nvSpPr>
        <p:spPr>
          <a:xfrm>
            <a:off x="533400" y="431800"/>
            <a:ext cx="11125200" cy="12700"/>
          </a:xfrm>
          <a:prstGeom prst="rect">
            <a:avLst/>
          </a:prstGeom>
          <a:solidFill>
            <a:srgbClr val="0E96AC"/>
          </a:solidFill>
          <a:ln>
            <a:noFill/>
          </a:ln>
        </p:spPr>
        <p:txBody>
          <a:bodyPr/>
          <a:lstStyle/>
          <a:p>
            <a:endParaRPr/>
          </a:p>
        </p:txBody>
      </p:sp>
      <p:sp>
        <p:nvSpPr>
          <p:cNvPr id="13" name="MainTitle"/>
          <p:cNvSpPr>
            <a:spLocks noGrp="1"/>
          </p:cNvSpPr>
          <p:nvPr/>
        </p:nvSpPr>
        <p:spPr>
          <a:xfrm>
            <a:off x="533400" y="508000"/>
            <a:ext cx="10160000" cy="508000"/>
          </a:xfrm>
          <a:prstGeom prst="rect">
            <a:avLst/>
          </a:prstGeom>
          <a:noFill/>
          <a:ln>
            <a:noFill/>
          </a:ln>
        </p:spPr>
        <p:txBody>
          <a:bodyPr/>
          <a:lstStyle/>
          <a:p>
            <a:pPr marL="0" indent="0" algn="l">
              <a:buNone/>
            </a:pPr>
            <a:r>
              <a:rPr lang="en-IN" sz="2400" b="1" dirty="0">
                <a:solidFill>
                  <a:srgbClr val="16223A"/>
                </a:solidFill>
                <a:latin typeface="Calibri" pitchFamily="34" charset="0"/>
              </a:rPr>
              <a:t>Simulation-Based Validation of Control Architecture</a:t>
            </a:r>
          </a:p>
        </p:txBody>
      </p:sp>
      <p:sp>
        <p:nvSpPr>
          <p:cNvPr id="20" name="LeftHeader"/>
          <p:cNvSpPr>
            <a:spLocks noGrp="1"/>
          </p:cNvSpPr>
          <p:nvPr/>
        </p:nvSpPr>
        <p:spPr>
          <a:xfrm>
            <a:off x="533400" y="1143000"/>
            <a:ext cx="4191000" cy="279400"/>
          </a:xfrm>
          <a:prstGeom prst="rect">
            <a:avLst/>
          </a:prstGeom>
          <a:solidFill>
            <a:srgbClr val="16223A"/>
          </a:solidFill>
          <a:ln>
            <a:noFill/>
          </a:ln>
        </p:spPr>
        <p:txBody>
          <a:bodyPr/>
          <a:lstStyle/>
          <a:p>
            <a:pPr marL="0" indent="0" algn="l">
              <a:buNone/>
            </a:pPr>
            <a:r>
              <a:rPr lang="en-IN" sz="1200" b="1" dirty="0">
                <a:solidFill>
                  <a:srgbClr val="FFFFFF"/>
                </a:solidFill>
                <a:latin typeface="Calibri" pitchFamily="34" charset="0"/>
              </a:rPr>
              <a:t>SYSTEM OVERVIEW</a:t>
            </a:r>
          </a:p>
        </p:txBody>
      </p:sp>
      <p:sp>
        <p:nvSpPr>
          <p:cNvPr id="21" name="ESP32Block"/>
          <p:cNvSpPr>
            <a:spLocks noGrp="1"/>
          </p:cNvSpPr>
          <p:nvPr/>
        </p:nvSpPr>
        <p:spPr>
          <a:xfrm>
            <a:off x="1168400" y="1574800"/>
            <a:ext cx="2921000" cy="457200"/>
          </a:xfrm>
          <a:prstGeom prst="roundRect">
            <a:avLst>
              <a:gd name="adj" fmla="val 20000"/>
            </a:avLst>
          </a:prstGeom>
          <a:solidFill>
            <a:srgbClr val="0E96AC"/>
          </a:solidFill>
          <a:ln>
            <a:noFill/>
          </a:ln>
        </p:spPr>
        <p:txBody>
          <a:bodyPr/>
          <a:lstStyle/>
          <a:p>
            <a:pPr marL="0" indent="0" algn="ctr">
              <a:buNone/>
            </a:pPr>
            <a:r>
              <a:rPr lang="en-IN" sz="1400" b="1" dirty="0">
                <a:solidFill>
                  <a:srgbClr val="FFFFFF"/>
                </a:solidFill>
                <a:latin typeface="Calibri" pitchFamily="34" charset="0"/>
              </a:rPr>
              <a:t>ESP32 Controller</a:t>
            </a:r>
          </a:p>
        </p:txBody>
      </p:sp>
      <p:sp>
        <p:nvSpPr>
          <p:cNvPr id="22" name="Arr1Line"/>
          <p:cNvSpPr>
            <a:spLocks noGrp="1"/>
          </p:cNvSpPr>
          <p:nvPr/>
        </p:nvSpPr>
        <p:spPr>
          <a:xfrm>
            <a:off x="2603500" y="2032000"/>
            <a:ext cx="25400" cy="228600"/>
          </a:xfrm>
          <a:prstGeom prst="rect">
            <a:avLst/>
          </a:prstGeom>
          <a:solidFill>
            <a:srgbClr val="16223A"/>
          </a:solidFill>
          <a:ln>
            <a:noFill/>
          </a:ln>
        </p:spPr>
        <p:txBody>
          <a:bodyPr/>
          <a:lstStyle/>
          <a:p>
            <a:endParaRPr/>
          </a:p>
        </p:txBody>
      </p:sp>
      <p:sp>
        <p:nvSpPr>
          <p:cNvPr id="23" name="Arr1Head"/>
          <p:cNvSpPr/>
          <p:nvPr/>
        </p:nvSpPr>
        <p:spPr>
          <a:xfrm>
            <a:off x="2540000" y="2235200"/>
            <a:ext cx="152400" cy="101600"/>
          </a:xfrm>
          <a:prstGeom prst="downArrow">
            <a:avLst>
              <a:gd name="adj1" fmla="val 50000"/>
              <a:gd name="adj2" fmla="val 50000"/>
            </a:avLst>
          </a:prstGeom>
          <a:solidFill>
            <a:srgbClr val="16223A"/>
          </a:solidFill>
          <a:ln>
            <a:noFill/>
          </a:ln>
        </p:spPr>
        <p:txBody>
          <a:bodyPr/>
          <a:lstStyle/>
          <a:p>
            <a:endParaRPr/>
          </a:p>
        </p:txBody>
      </p:sp>
      <p:sp>
        <p:nvSpPr>
          <p:cNvPr id="24" name="ServoBlock"/>
          <p:cNvSpPr>
            <a:spLocks noGrp="1"/>
          </p:cNvSpPr>
          <p:nvPr/>
        </p:nvSpPr>
        <p:spPr>
          <a:xfrm>
            <a:off x="914400" y="2362200"/>
            <a:ext cx="3429000" cy="457200"/>
          </a:xfrm>
          <a:prstGeom prst="roundRect">
            <a:avLst>
              <a:gd name="adj" fmla="val 20000"/>
            </a:avLst>
          </a:prstGeom>
          <a:solidFill>
            <a:srgbClr val="1A3460"/>
          </a:solidFill>
          <a:ln>
            <a:noFill/>
          </a:ln>
        </p:spPr>
        <p:txBody>
          <a:bodyPr/>
          <a:lstStyle/>
          <a:p>
            <a:pPr marL="0" indent="0" algn="ctr">
              <a:buNone/>
            </a:pPr>
            <a:r>
              <a:rPr lang="en-IN" sz="1400" b="1" dirty="0">
                <a:solidFill>
                  <a:srgbClr val="FFFFFF"/>
                </a:solidFill>
                <a:latin typeface="Calibri" pitchFamily="34" charset="0"/>
              </a:rPr>
              <a:t>5 Servo Motor Network</a:t>
            </a:r>
          </a:p>
        </p:txBody>
      </p:sp>
      <p:sp>
        <p:nvSpPr>
          <p:cNvPr id="25" name="ServoSub"/>
          <p:cNvSpPr>
            <a:spLocks noGrp="1"/>
          </p:cNvSpPr>
          <p:nvPr/>
        </p:nvSpPr>
        <p:spPr>
          <a:xfrm>
            <a:off x="914400" y="2844800"/>
            <a:ext cx="3429000" cy="203200"/>
          </a:xfrm>
          <a:prstGeom prst="rect">
            <a:avLst/>
          </a:prstGeom>
          <a:noFill/>
          <a:ln>
            <a:noFill/>
          </a:ln>
        </p:spPr>
        <p:txBody>
          <a:bodyPr/>
          <a:lstStyle/>
          <a:p>
            <a:pPr marL="0" indent="0" algn="ctr">
              <a:buNone/>
            </a:pPr>
            <a:r>
              <a:rPr lang="en-IN" sz="1100" dirty="0">
                <a:solidFill>
                  <a:srgbClr val="555E6F"/>
                </a:solidFill>
                <a:latin typeface="Calibri" pitchFamily="34" charset="0"/>
              </a:rPr>
              <a:t>Joints: S1 – S5 (SG90)</a:t>
            </a:r>
          </a:p>
        </p:txBody>
      </p:sp>
      <p:sp>
        <p:nvSpPr>
          <p:cNvPr id="26" name="Arr2Line"/>
          <p:cNvSpPr>
            <a:spLocks noGrp="1"/>
          </p:cNvSpPr>
          <p:nvPr/>
        </p:nvSpPr>
        <p:spPr>
          <a:xfrm>
            <a:off x="2603500" y="3048000"/>
            <a:ext cx="25400" cy="228600"/>
          </a:xfrm>
          <a:prstGeom prst="rect">
            <a:avLst/>
          </a:prstGeom>
          <a:solidFill>
            <a:srgbClr val="16223A"/>
          </a:solidFill>
          <a:ln>
            <a:noFill/>
          </a:ln>
        </p:spPr>
        <p:txBody>
          <a:bodyPr/>
          <a:lstStyle/>
          <a:p>
            <a:endParaRPr/>
          </a:p>
        </p:txBody>
      </p:sp>
      <p:sp>
        <p:nvSpPr>
          <p:cNvPr id="27" name="Arr2Head"/>
          <p:cNvSpPr/>
          <p:nvPr/>
        </p:nvSpPr>
        <p:spPr>
          <a:xfrm>
            <a:off x="2540000" y="3251200"/>
            <a:ext cx="152400" cy="101600"/>
          </a:xfrm>
          <a:prstGeom prst="downArrow">
            <a:avLst>
              <a:gd name="adj1" fmla="val 50000"/>
              <a:gd name="adj2" fmla="val 50000"/>
            </a:avLst>
          </a:prstGeom>
          <a:solidFill>
            <a:srgbClr val="16223A"/>
          </a:solidFill>
          <a:ln>
            <a:noFill/>
          </a:ln>
        </p:spPr>
        <p:txBody>
          <a:bodyPr/>
          <a:lstStyle/>
          <a:p>
            <a:endParaRPr/>
          </a:p>
        </p:txBody>
      </p:sp>
      <p:sp>
        <p:nvSpPr>
          <p:cNvPr id="28" name="AlgoBlock"/>
          <p:cNvSpPr>
            <a:spLocks noGrp="1"/>
          </p:cNvSpPr>
          <p:nvPr/>
        </p:nvSpPr>
        <p:spPr>
          <a:xfrm>
            <a:off x="914400" y="3378200"/>
            <a:ext cx="3429000" cy="457200"/>
          </a:xfrm>
          <a:prstGeom prst="roundRect">
            <a:avLst>
              <a:gd name="adj" fmla="val 20000"/>
            </a:avLst>
          </a:prstGeom>
          <a:solidFill>
            <a:srgbClr val="0A7A8E"/>
          </a:solidFill>
          <a:ln>
            <a:noFill/>
          </a:ln>
        </p:spPr>
        <p:txBody>
          <a:bodyPr/>
          <a:lstStyle/>
          <a:p>
            <a:pPr marL="0" indent="0" algn="ctr">
              <a:buNone/>
            </a:pPr>
            <a:r>
              <a:rPr lang="en-IN" sz="1300" b="1" dirty="0">
                <a:solidFill>
                  <a:srgbClr val="FFFFFF"/>
                </a:solidFill>
                <a:latin typeface="Calibri" pitchFamily="34" charset="0"/>
              </a:rPr>
              <a:t>Serpentine Locomotion Algorithm</a:t>
            </a:r>
          </a:p>
        </p:txBody>
      </p:sp>
      <p:sp>
        <p:nvSpPr>
          <p:cNvPr id="30" name="SensorHeader"/>
          <p:cNvSpPr>
            <a:spLocks noGrp="1"/>
          </p:cNvSpPr>
          <p:nvPr/>
        </p:nvSpPr>
        <p:spPr>
          <a:xfrm>
            <a:off x="533400" y="4064000"/>
            <a:ext cx="4191000" cy="228600"/>
          </a:xfrm>
          <a:prstGeom prst="rect">
            <a:avLst/>
          </a:prstGeom>
          <a:noFill/>
          <a:ln>
            <a:noFill/>
          </a:ln>
        </p:spPr>
        <p:txBody>
          <a:bodyPr/>
          <a:lstStyle/>
          <a:p>
            <a:pPr marL="0" indent="0" algn="l">
              <a:buNone/>
            </a:pPr>
            <a:r>
              <a:rPr lang="en-IN" sz="1100" b="1" dirty="0">
                <a:solidFill>
                  <a:srgbClr val="16223A"/>
                </a:solidFill>
                <a:latin typeface="Calibri" pitchFamily="34" charset="0"/>
              </a:rPr>
              <a:t>SENSOR MODULES</a:t>
            </a:r>
          </a:p>
        </p:txBody>
      </p:sp>
      <p:sp>
        <p:nvSpPr>
          <p:cNvPr id="31" name="SensDivider"/>
          <p:cNvSpPr>
            <a:spLocks noGrp="1"/>
          </p:cNvSpPr>
          <p:nvPr/>
        </p:nvSpPr>
        <p:spPr>
          <a:xfrm>
            <a:off x="533400" y="4318000"/>
            <a:ext cx="4191000" cy="12700"/>
          </a:xfrm>
          <a:prstGeom prst="rect">
            <a:avLst/>
          </a:prstGeom>
          <a:solidFill>
            <a:srgbClr val="0E96AC"/>
          </a:solidFill>
          <a:ln>
            <a:noFill/>
          </a:ln>
        </p:spPr>
        <p:txBody>
          <a:bodyPr/>
          <a:lstStyle/>
          <a:p>
            <a:endParaRPr/>
          </a:p>
        </p:txBody>
      </p:sp>
      <p:sp>
        <p:nvSpPr>
          <p:cNvPr id="32" name="IMUBox"/>
          <p:cNvSpPr>
            <a:spLocks noGrp="1"/>
          </p:cNvSpPr>
          <p:nvPr/>
        </p:nvSpPr>
        <p:spPr>
          <a:xfrm>
            <a:off x="533400" y="4394200"/>
            <a:ext cx="1219200" cy="355600"/>
          </a:xfrm>
          <a:prstGeom prst="roundRect">
            <a:avLst>
              <a:gd name="adj" fmla="val 20000"/>
            </a:avLst>
          </a:prstGeom>
          <a:solidFill>
            <a:srgbClr val="E8F5F7"/>
          </a:solidFill>
          <a:ln w="9525">
            <a:solidFill>
              <a:srgbClr val="0E96AC"/>
            </a:solidFill>
          </a:ln>
        </p:spPr>
        <p:txBody>
          <a:bodyPr/>
          <a:lstStyle/>
          <a:p>
            <a:pPr marL="0" indent="0" algn="ctr">
              <a:buNone/>
            </a:pPr>
            <a:r>
              <a:rPr lang="en-IN" sz="1000" dirty="0">
                <a:solidFill>
                  <a:srgbClr val="0A7A8E"/>
                </a:solidFill>
                <a:latin typeface="Calibri" pitchFamily="34" charset="0"/>
              </a:rPr>
              <a:t>MPU6050 IMU</a:t>
            </a:r>
          </a:p>
        </p:txBody>
      </p:sp>
      <p:sp>
        <p:nvSpPr>
          <p:cNvPr id="33" name="UltraBox"/>
          <p:cNvSpPr>
            <a:spLocks noGrp="1"/>
          </p:cNvSpPr>
          <p:nvPr/>
        </p:nvSpPr>
        <p:spPr>
          <a:xfrm>
            <a:off x="1841500" y="4394200"/>
            <a:ext cx="1397000" cy="355600"/>
          </a:xfrm>
          <a:prstGeom prst="roundRect">
            <a:avLst>
              <a:gd name="adj" fmla="val 20000"/>
            </a:avLst>
          </a:prstGeom>
          <a:solidFill>
            <a:srgbClr val="E8F5F7"/>
          </a:solidFill>
          <a:ln w="9525">
            <a:solidFill>
              <a:srgbClr val="0E96AC"/>
            </a:solidFill>
          </a:ln>
        </p:spPr>
        <p:txBody>
          <a:bodyPr/>
          <a:lstStyle/>
          <a:p>
            <a:pPr marL="0" indent="0" algn="ctr">
              <a:buNone/>
            </a:pPr>
            <a:r>
              <a:rPr lang="en-IN" sz="1000" dirty="0">
                <a:solidFill>
                  <a:srgbClr val="0A7A8E"/>
                </a:solidFill>
                <a:latin typeface="Calibri" pitchFamily="34" charset="0"/>
              </a:rPr>
              <a:t>HC-SR04 Sonar</a:t>
            </a:r>
          </a:p>
        </p:txBody>
      </p:sp>
      <p:sp>
        <p:nvSpPr>
          <p:cNvPr id="34" name="OLEDBox"/>
          <p:cNvSpPr>
            <a:spLocks noGrp="1"/>
          </p:cNvSpPr>
          <p:nvPr/>
        </p:nvSpPr>
        <p:spPr>
          <a:xfrm>
            <a:off x="3327400" y="4394200"/>
            <a:ext cx="1397000" cy="355600"/>
          </a:xfrm>
          <a:prstGeom prst="roundRect">
            <a:avLst>
              <a:gd name="adj" fmla="val 20000"/>
            </a:avLst>
          </a:prstGeom>
          <a:solidFill>
            <a:srgbClr val="E8F5F7"/>
          </a:solidFill>
          <a:ln w="9525">
            <a:solidFill>
              <a:srgbClr val="0E96AC"/>
            </a:solidFill>
          </a:ln>
        </p:spPr>
        <p:txBody>
          <a:bodyPr/>
          <a:lstStyle/>
          <a:p>
            <a:pPr marL="0" indent="0" algn="ctr">
              <a:buNone/>
            </a:pPr>
            <a:r>
              <a:rPr lang="en-IN" sz="1000" dirty="0">
                <a:solidFill>
                  <a:srgbClr val="0A7A8E"/>
                </a:solidFill>
                <a:latin typeface="Calibri" pitchFamily="34" charset="0"/>
              </a:rPr>
              <a:t>SSD1306 OLED</a:t>
            </a:r>
          </a:p>
        </p:txBody>
      </p:sp>
      <p:sp>
        <p:nvSpPr>
          <p:cNvPr id="35" name="NoteBox"/>
          <p:cNvSpPr>
            <a:spLocks noGrp="1"/>
          </p:cNvSpPr>
          <p:nvPr/>
        </p:nvSpPr>
        <p:spPr>
          <a:xfrm>
            <a:off x="533400" y="4889500"/>
            <a:ext cx="4191000" cy="635000"/>
          </a:xfrm>
          <a:prstGeom prst="roundRect">
            <a:avLst>
              <a:gd name="adj" fmla="val 20000"/>
            </a:avLst>
          </a:prstGeom>
          <a:solidFill>
            <a:srgbClr val="FFF8E1"/>
          </a:solidFill>
          <a:ln w="9525">
            <a:solidFill>
              <a:srgbClr val="E6AC00"/>
            </a:solidFill>
          </a:ln>
        </p:spPr>
        <p:txBody>
          <a:bodyPr/>
          <a:lstStyle/>
          <a:p>
            <a:pPr marL="0" indent="0" algn="l">
              <a:buNone/>
            </a:pPr>
            <a:r>
              <a:rPr lang="en-IN" sz="1000" b="1" dirty="0">
                <a:solidFill>
                  <a:srgbClr val="B87900"/>
                </a:solidFill>
                <a:latin typeface="Calibri" pitchFamily="34" charset="0"/>
              </a:rPr>
              <a:t>NOTE</a:t>
            </a:r>
          </a:p>
          <a:p>
            <a:pPr marL="0" indent="0">
              <a:buNone/>
            </a:pPr>
            <a:r>
              <a:rPr lang="en-IN" sz="1000" dirty="0">
                <a:solidFill>
                  <a:srgbClr val="555E6F"/>
                </a:solidFill>
                <a:latin typeface="Calibri" pitchFamily="34" charset="0"/>
              </a:rPr>
              <a:t>Simulation platform created to validate software</a:t>
            </a:r>
          </a:p>
          <a:p>
            <a:pPr marL="0" indent="0">
              <a:buNone/>
            </a:pPr>
            <a:r>
              <a:rPr lang="en-IN" sz="1000" dirty="0">
                <a:solidFill>
                  <a:srgbClr val="555E6F"/>
                </a:solidFill>
                <a:latin typeface="Calibri" pitchFamily="34" charset="0"/>
              </a:rPr>
              <a:t>architecture before Dynamixel hardware arrival.</a:t>
            </a:r>
          </a:p>
        </p:txBody>
      </p:sp>
      <p:sp>
        <p:nvSpPr>
          <p:cNvPr id="40" name="ColSep"/>
          <p:cNvSpPr>
            <a:spLocks noGrp="1"/>
          </p:cNvSpPr>
          <p:nvPr/>
        </p:nvSpPr>
        <p:spPr>
          <a:xfrm>
            <a:off x="4902200" y="1143000"/>
            <a:ext cx="12700" cy="4572000"/>
          </a:xfrm>
          <a:prstGeom prst="rect">
            <a:avLst/>
          </a:prstGeom>
          <a:solidFill>
            <a:srgbClr val="D0D7E5"/>
          </a:solidFill>
          <a:ln>
            <a:noFill/>
          </a:ln>
        </p:spPr>
        <p:txBody>
          <a:bodyPr/>
          <a:lstStyle/>
          <a:p>
            <a:endParaRPr/>
          </a:p>
        </p:txBody>
      </p:sp>
      <p:sp>
        <p:nvSpPr>
          <p:cNvPr id="50" name="RightHeader"/>
          <p:cNvSpPr>
            <a:spLocks noGrp="1"/>
          </p:cNvSpPr>
          <p:nvPr/>
        </p:nvSpPr>
        <p:spPr>
          <a:xfrm>
            <a:off x="5029200" y="1143000"/>
            <a:ext cx="6985000" cy="279400"/>
          </a:xfrm>
          <a:prstGeom prst="rect">
            <a:avLst/>
          </a:prstGeom>
          <a:solidFill>
            <a:srgbClr val="16223A"/>
          </a:solidFill>
          <a:ln>
            <a:noFill/>
          </a:ln>
        </p:spPr>
        <p:txBody>
          <a:bodyPr/>
          <a:lstStyle/>
          <a:p>
            <a:pPr marL="0" indent="0" algn="l">
              <a:buNone/>
            </a:pPr>
            <a:r>
              <a:rPr lang="en-IN" sz="1200" b="1" dirty="0">
                <a:solidFill>
                  <a:srgbClr val="FFFFFF"/>
                </a:solidFill>
                <a:latin typeface="Calibri" pitchFamily="34" charset="0"/>
              </a:rPr>
              <a:t>WORK COMPLETED</a:t>
            </a:r>
          </a:p>
        </p:txBody>
      </p:sp>
      <p:sp>
        <p:nvSpPr>
          <p:cNvPr id="60" name="AchCard0"/>
          <p:cNvSpPr>
            <a:spLocks noGrp="1"/>
          </p:cNvSpPr>
          <p:nvPr/>
        </p:nvSpPr>
        <p:spPr>
          <a:xfrm>
            <a:off x="5029200" y="1549400"/>
            <a:ext cx="6959600" cy="482600"/>
          </a:xfrm>
          <a:prstGeom prst="roundRect">
            <a:avLst>
              <a:gd name="adj" fmla="val 20000"/>
            </a:avLst>
          </a:prstGeom>
          <a:solidFill>
            <a:srgbClr val="FFFFFF"/>
          </a:solidFill>
          <a:ln w="9525">
            <a:solidFill>
              <a:srgbClr val="D0D7E5"/>
            </a:solidFill>
          </a:ln>
        </p:spPr>
        <p:txBody>
          <a:bodyPr/>
          <a:lstStyle/>
          <a:p>
            <a:endParaRPr/>
          </a:p>
        </p:txBody>
      </p:sp>
      <p:sp>
        <p:nvSpPr>
          <p:cNvPr id="61" name="AchCheck0"/>
          <p:cNvSpPr/>
          <p:nvPr/>
        </p:nvSpPr>
        <p:spPr>
          <a:xfrm>
            <a:off x="5130800" y="1663700"/>
            <a:ext cx="254000" cy="254000"/>
          </a:xfrm>
          <a:prstGeom prst="ellipse">
            <a:avLst/>
          </a:prstGeom>
          <a:solidFill>
            <a:srgbClr val="0E96AC"/>
          </a:solidFill>
          <a:ln>
            <a:noFill/>
          </a:ln>
        </p:spPr>
        <p:txBody>
          <a:bodyPr anchor="ctr" anchorCtr="1">
            <a:normAutofit fontScale="70000" lnSpcReduction="20000"/>
          </a:bodyPr>
          <a:lstStyle/>
          <a:p>
            <a:pPr algn="ctr">
              <a:buNone/>
            </a:pPr>
            <a:r>
              <a:rPr lang="en-IN" sz="1000" b="1" dirty="0">
                <a:solidFill>
                  <a:srgbClr val="FFFFFF"/>
                </a:solidFill>
                <a:latin typeface="Calibri" pitchFamily="34" charset="0"/>
              </a:rPr>
              <a:t>✓</a:t>
            </a:r>
          </a:p>
        </p:txBody>
      </p:sp>
      <p:sp>
        <p:nvSpPr>
          <p:cNvPr id="62" name="AchText0"/>
          <p:cNvSpPr>
            <a:spLocks noGrp="1"/>
          </p:cNvSpPr>
          <p:nvPr/>
        </p:nvSpPr>
        <p:spPr>
          <a:xfrm>
            <a:off x="5486400" y="1612900"/>
            <a:ext cx="6426200" cy="355600"/>
          </a:xfrm>
          <a:prstGeom prst="rect">
            <a:avLst/>
          </a:prstGeom>
          <a:noFill/>
          <a:ln>
            <a:noFill/>
          </a:ln>
        </p:spPr>
        <p:txBody>
          <a:bodyPr/>
          <a:lstStyle/>
          <a:p>
            <a:pPr marL="0" indent="0" algn="l">
              <a:buNone/>
            </a:pPr>
            <a:r>
              <a:rPr lang="en-IN" sz="1200" dirty="0">
                <a:solidFill>
                  <a:srgbClr val="16223A"/>
                </a:solidFill>
                <a:latin typeface="Calibri" pitchFamily="34" charset="0"/>
              </a:rPr>
              <a:t>Multi-joint locomotion simulation implemented</a:t>
            </a:r>
          </a:p>
        </p:txBody>
      </p:sp>
      <p:sp>
        <p:nvSpPr>
          <p:cNvPr id="63" name="AchCard1"/>
          <p:cNvSpPr>
            <a:spLocks noGrp="1"/>
          </p:cNvSpPr>
          <p:nvPr/>
        </p:nvSpPr>
        <p:spPr>
          <a:xfrm>
            <a:off x="5029200" y="2108200"/>
            <a:ext cx="6959600" cy="482600"/>
          </a:xfrm>
          <a:prstGeom prst="roundRect">
            <a:avLst>
              <a:gd name="adj" fmla="val 20000"/>
            </a:avLst>
          </a:prstGeom>
          <a:solidFill>
            <a:srgbClr val="FFFFFF"/>
          </a:solidFill>
          <a:ln w="9525">
            <a:solidFill>
              <a:srgbClr val="D0D7E5"/>
            </a:solidFill>
          </a:ln>
        </p:spPr>
        <p:txBody>
          <a:bodyPr/>
          <a:lstStyle/>
          <a:p>
            <a:endParaRPr/>
          </a:p>
        </p:txBody>
      </p:sp>
      <p:sp>
        <p:nvSpPr>
          <p:cNvPr id="64" name="AchCheck1"/>
          <p:cNvSpPr/>
          <p:nvPr/>
        </p:nvSpPr>
        <p:spPr>
          <a:xfrm>
            <a:off x="5130800" y="2222500"/>
            <a:ext cx="254000" cy="254000"/>
          </a:xfrm>
          <a:prstGeom prst="ellipse">
            <a:avLst/>
          </a:prstGeom>
          <a:solidFill>
            <a:srgbClr val="0E96AC"/>
          </a:solidFill>
          <a:ln>
            <a:noFill/>
          </a:ln>
        </p:spPr>
        <p:txBody>
          <a:bodyPr anchor="ctr" anchorCtr="1">
            <a:normAutofit fontScale="70000" lnSpcReduction="20000"/>
          </a:bodyPr>
          <a:lstStyle/>
          <a:p>
            <a:pPr algn="ctr">
              <a:buNone/>
            </a:pPr>
            <a:r>
              <a:rPr lang="en-IN" sz="1000" b="1" dirty="0">
                <a:solidFill>
                  <a:srgbClr val="FFFFFF"/>
                </a:solidFill>
                <a:latin typeface="Calibri" pitchFamily="34" charset="0"/>
              </a:rPr>
              <a:t>✓</a:t>
            </a:r>
          </a:p>
        </p:txBody>
      </p:sp>
      <p:sp>
        <p:nvSpPr>
          <p:cNvPr id="65" name="AchText1"/>
          <p:cNvSpPr>
            <a:spLocks noGrp="1"/>
          </p:cNvSpPr>
          <p:nvPr/>
        </p:nvSpPr>
        <p:spPr>
          <a:xfrm>
            <a:off x="5486400" y="2171700"/>
            <a:ext cx="6426200" cy="355600"/>
          </a:xfrm>
          <a:prstGeom prst="rect">
            <a:avLst/>
          </a:prstGeom>
          <a:noFill/>
          <a:ln>
            <a:noFill/>
          </a:ln>
        </p:spPr>
        <p:txBody>
          <a:bodyPr/>
          <a:lstStyle/>
          <a:p>
            <a:pPr marL="0" indent="0" algn="l">
              <a:buNone/>
            </a:pPr>
            <a:r>
              <a:rPr lang="en-IN" sz="1200" dirty="0">
                <a:solidFill>
                  <a:srgbClr val="16223A"/>
                </a:solidFill>
                <a:latin typeface="Calibri" pitchFamily="34" charset="0"/>
              </a:rPr>
              <a:t>Travelling-wave serpentine gait generation developed</a:t>
            </a:r>
          </a:p>
        </p:txBody>
      </p:sp>
      <p:sp>
        <p:nvSpPr>
          <p:cNvPr id="66" name="AchCard2"/>
          <p:cNvSpPr>
            <a:spLocks noGrp="1"/>
          </p:cNvSpPr>
          <p:nvPr/>
        </p:nvSpPr>
        <p:spPr>
          <a:xfrm>
            <a:off x="5029200" y="2667000"/>
            <a:ext cx="6959600" cy="482600"/>
          </a:xfrm>
          <a:prstGeom prst="roundRect">
            <a:avLst>
              <a:gd name="adj" fmla="val 20000"/>
            </a:avLst>
          </a:prstGeom>
          <a:solidFill>
            <a:srgbClr val="FFFFFF"/>
          </a:solidFill>
          <a:ln w="9525">
            <a:solidFill>
              <a:srgbClr val="D0D7E5"/>
            </a:solidFill>
          </a:ln>
        </p:spPr>
        <p:txBody>
          <a:bodyPr/>
          <a:lstStyle/>
          <a:p>
            <a:endParaRPr/>
          </a:p>
        </p:txBody>
      </p:sp>
      <p:sp>
        <p:nvSpPr>
          <p:cNvPr id="67" name="AchCheck2"/>
          <p:cNvSpPr/>
          <p:nvPr/>
        </p:nvSpPr>
        <p:spPr>
          <a:xfrm>
            <a:off x="5130800" y="2781300"/>
            <a:ext cx="254000" cy="254000"/>
          </a:xfrm>
          <a:prstGeom prst="ellipse">
            <a:avLst/>
          </a:prstGeom>
          <a:solidFill>
            <a:srgbClr val="0E96AC"/>
          </a:solidFill>
          <a:ln>
            <a:noFill/>
          </a:ln>
        </p:spPr>
        <p:txBody>
          <a:bodyPr anchor="ctr" anchorCtr="1">
            <a:normAutofit fontScale="70000" lnSpcReduction="20000"/>
          </a:bodyPr>
          <a:lstStyle/>
          <a:p>
            <a:pPr algn="ctr">
              <a:buNone/>
            </a:pPr>
            <a:r>
              <a:rPr lang="en-IN" sz="1000" b="1" dirty="0">
                <a:solidFill>
                  <a:srgbClr val="FFFFFF"/>
                </a:solidFill>
                <a:latin typeface="Calibri" pitchFamily="34" charset="0"/>
              </a:rPr>
              <a:t>✓</a:t>
            </a:r>
          </a:p>
        </p:txBody>
      </p:sp>
      <p:sp>
        <p:nvSpPr>
          <p:cNvPr id="68" name="AchText2"/>
          <p:cNvSpPr>
            <a:spLocks noGrp="1"/>
          </p:cNvSpPr>
          <p:nvPr/>
        </p:nvSpPr>
        <p:spPr>
          <a:xfrm>
            <a:off x="5486400" y="2730500"/>
            <a:ext cx="6426200" cy="355600"/>
          </a:xfrm>
          <a:prstGeom prst="rect">
            <a:avLst/>
          </a:prstGeom>
          <a:noFill/>
          <a:ln>
            <a:noFill/>
          </a:ln>
        </p:spPr>
        <p:txBody>
          <a:bodyPr/>
          <a:lstStyle/>
          <a:p>
            <a:pPr marL="0" indent="0" algn="l">
              <a:buNone/>
            </a:pPr>
            <a:r>
              <a:rPr lang="en-IN" sz="1200" dirty="0">
                <a:solidFill>
                  <a:srgbClr val="16223A"/>
                </a:solidFill>
                <a:latin typeface="Calibri" pitchFamily="34" charset="0"/>
              </a:rPr>
              <a:t>Obstacle detection framework integrated (ultrasonic)</a:t>
            </a:r>
          </a:p>
        </p:txBody>
      </p:sp>
      <p:sp>
        <p:nvSpPr>
          <p:cNvPr id="69" name="AchCard3"/>
          <p:cNvSpPr>
            <a:spLocks noGrp="1"/>
          </p:cNvSpPr>
          <p:nvPr/>
        </p:nvSpPr>
        <p:spPr>
          <a:xfrm>
            <a:off x="5029200" y="3225800"/>
            <a:ext cx="6959600" cy="482600"/>
          </a:xfrm>
          <a:prstGeom prst="roundRect">
            <a:avLst>
              <a:gd name="adj" fmla="val 20000"/>
            </a:avLst>
          </a:prstGeom>
          <a:solidFill>
            <a:srgbClr val="FFFFFF"/>
          </a:solidFill>
          <a:ln w="9525">
            <a:solidFill>
              <a:srgbClr val="D0D7E5"/>
            </a:solidFill>
          </a:ln>
        </p:spPr>
        <p:txBody>
          <a:bodyPr/>
          <a:lstStyle/>
          <a:p>
            <a:endParaRPr/>
          </a:p>
        </p:txBody>
      </p:sp>
      <p:sp>
        <p:nvSpPr>
          <p:cNvPr id="70" name="AchCheck3"/>
          <p:cNvSpPr/>
          <p:nvPr/>
        </p:nvSpPr>
        <p:spPr>
          <a:xfrm>
            <a:off x="5130800" y="3340100"/>
            <a:ext cx="254000" cy="254000"/>
          </a:xfrm>
          <a:prstGeom prst="ellipse">
            <a:avLst/>
          </a:prstGeom>
          <a:solidFill>
            <a:srgbClr val="0E96AC"/>
          </a:solidFill>
          <a:ln>
            <a:noFill/>
          </a:ln>
        </p:spPr>
        <p:txBody>
          <a:bodyPr anchor="ctr" anchorCtr="1">
            <a:normAutofit fontScale="70000" lnSpcReduction="20000"/>
          </a:bodyPr>
          <a:lstStyle/>
          <a:p>
            <a:pPr algn="ctr">
              <a:buNone/>
            </a:pPr>
            <a:r>
              <a:rPr lang="en-IN" sz="1000" b="1" dirty="0">
                <a:solidFill>
                  <a:srgbClr val="FFFFFF"/>
                </a:solidFill>
                <a:latin typeface="Calibri" pitchFamily="34" charset="0"/>
              </a:rPr>
              <a:t>✓</a:t>
            </a:r>
          </a:p>
        </p:txBody>
      </p:sp>
      <p:sp>
        <p:nvSpPr>
          <p:cNvPr id="71" name="AchText3"/>
          <p:cNvSpPr>
            <a:spLocks noGrp="1"/>
          </p:cNvSpPr>
          <p:nvPr/>
        </p:nvSpPr>
        <p:spPr>
          <a:xfrm>
            <a:off x="5486400" y="3289300"/>
            <a:ext cx="6426200" cy="355600"/>
          </a:xfrm>
          <a:prstGeom prst="rect">
            <a:avLst/>
          </a:prstGeom>
          <a:noFill/>
          <a:ln>
            <a:noFill/>
          </a:ln>
        </p:spPr>
        <p:txBody>
          <a:bodyPr/>
          <a:lstStyle/>
          <a:p>
            <a:pPr marL="0" indent="0" algn="l">
              <a:buNone/>
            </a:pPr>
            <a:r>
              <a:rPr lang="en-IN" sz="1200" dirty="0">
                <a:solidFill>
                  <a:srgbClr val="16223A"/>
                </a:solidFill>
                <a:latin typeface="Calibri" pitchFamily="34" charset="0"/>
              </a:rPr>
              <a:t>IMU integration prepared for orientation feedback</a:t>
            </a:r>
          </a:p>
        </p:txBody>
      </p:sp>
      <p:sp>
        <p:nvSpPr>
          <p:cNvPr id="72" name="AchCard4"/>
          <p:cNvSpPr>
            <a:spLocks noGrp="1"/>
          </p:cNvSpPr>
          <p:nvPr/>
        </p:nvSpPr>
        <p:spPr>
          <a:xfrm>
            <a:off x="5029200" y="3784600"/>
            <a:ext cx="6959600" cy="482600"/>
          </a:xfrm>
          <a:prstGeom prst="roundRect">
            <a:avLst>
              <a:gd name="adj" fmla="val 20000"/>
            </a:avLst>
          </a:prstGeom>
          <a:solidFill>
            <a:srgbClr val="FFFFFF"/>
          </a:solidFill>
          <a:ln w="9525">
            <a:solidFill>
              <a:srgbClr val="D0D7E5"/>
            </a:solidFill>
          </a:ln>
        </p:spPr>
        <p:txBody>
          <a:bodyPr/>
          <a:lstStyle/>
          <a:p>
            <a:endParaRPr/>
          </a:p>
        </p:txBody>
      </p:sp>
      <p:sp>
        <p:nvSpPr>
          <p:cNvPr id="73" name="AchCheck4"/>
          <p:cNvSpPr/>
          <p:nvPr/>
        </p:nvSpPr>
        <p:spPr>
          <a:xfrm>
            <a:off x="5130800" y="3898900"/>
            <a:ext cx="254000" cy="254000"/>
          </a:xfrm>
          <a:prstGeom prst="ellipse">
            <a:avLst/>
          </a:prstGeom>
          <a:solidFill>
            <a:srgbClr val="0E96AC"/>
          </a:solidFill>
          <a:ln>
            <a:noFill/>
          </a:ln>
        </p:spPr>
        <p:txBody>
          <a:bodyPr anchor="ctr" anchorCtr="1">
            <a:normAutofit fontScale="70000" lnSpcReduction="20000"/>
          </a:bodyPr>
          <a:lstStyle/>
          <a:p>
            <a:pPr algn="ctr">
              <a:buNone/>
            </a:pPr>
            <a:r>
              <a:rPr lang="en-IN" sz="1000" b="1" dirty="0">
                <a:solidFill>
                  <a:srgbClr val="FFFFFF"/>
                </a:solidFill>
                <a:latin typeface="Calibri" pitchFamily="34" charset="0"/>
              </a:rPr>
              <a:t>✓</a:t>
            </a:r>
          </a:p>
        </p:txBody>
      </p:sp>
      <p:sp>
        <p:nvSpPr>
          <p:cNvPr id="74" name="AchText4"/>
          <p:cNvSpPr>
            <a:spLocks noGrp="1"/>
          </p:cNvSpPr>
          <p:nvPr/>
        </p:nvSpPr>
        <p:spPr>
          <a:xfrm>
            <a:off x="5486400" y="3848100"/>
            <a:ext cx="6426200" cy="355600"/>
          </a:xfrm>
          <a:prstGeom prst="rect">
            <a:avLst/>
          </a:prstGeom>
          <a:noFill/>
          <a:ln>
            <a:noFill/>
          </a:ln>
        </p:spPr>
        <p:txBody>
          <a:bodyPr/>
          <a:lstStyle/>
          <a:p>
            <a:pPr marL="0" indent="0" algn="l">
              <a:buNone/>
            </a:pPr>
            <a:r>
              <a:rPr lang="en-IN" sz="1200" dirty="0">
                <a:solidFill>
                  <a:srgbClr val="16223A"/>
                </a:solidFill>
                <a:latin typeface="Calibri" pitchFamily="34" charset="0"/>
              </a:rPr>
              <a:t>OLED status display integrated</a:t>
            </a:r>
          </a:p>
        </p:txBody>
      </p:sp>
      <p:sp>
        <p:nvSpPr>
          <p:cNvPr id="75" name="AchCard5"/>
          <p:cNvSpPr>
            <a:spLocks noGrp="1"/>
          </p:cNvSpPr>
          <p:nvPr/>
        </p:nvSpPr>
        <p:spPr>
          <a:xfrm>
            <a:off x="5029200" y="4343400"/>
            <a:ext cx="6959600" cy="482600"/>
          </a:xfrm>
          <a:prstGeom prst="roundRect">
            <a:avLst>
              <a:gd name="adj" fmla="val 20000"/>
            </a:avLst>
          </a:prstGeom>
          <a:solidFill>
            <a:srgbClr val="FFFFFF"/>
          </a:solidFill>
          <a:ln w="9525">
            <a:solidFill>
              <a:srgbClr val="D0D7E5"/>
            </a:solidFill>
          </a:ln>
        </p:spPr>
        <p:txBody>
          <a:bodyPr/>
          <a:lstStyle/>
          <a:p>
            <a:endParaRPr/>
          </a:p>
        </p:txBody>
      </p:sp>
      <p:sp>
        <p:nvSpPr>
          <p:cNvPr id="76" name="AchCheck5"/>
          <p:cNvSpPr/>
          <p:nvPr/>
        </p:nvSpPr>
        <p:spPr>
          <a:xfrm>
            <a:off x="5130800" y="4457700"/>
            <a:ext cx="254000" cy="254000"/>
          </a:xfrm>
          <a:prstGeom prst="ellipse">
            <a:avLst/>
          </a:prstGeom>
          <a:solidFill>
            <a:srgbClr val="0E96AC"/>
          </a:solidFill>
          <a:ln>
            <a:noFill/>
          </a:ln>
        </p:spPr>
        <p:txBody>
          <a:bodyPr anchor="ctr" anchorCtr="1">
            <a:normAutofit fontScale="70000" lnSpcReduction="20000"/>
          </a:bodyPr>
          <a:lstStyle/>
          <a:p>
            <a:pPr algn="ctr">
              <a:buNone/>
            </a:pPr>
            <a:r>
              <a:rPr lang="en-IN" sz="1000" b="1" dirty="0">
                <a:solidFill>
                  <a:srgbClr val="FFFFFF"/>
                </a:solidFill>
                <a:latin typeface="Calibri" pitchFamily="34" charset="0"/>
              </a:rPr>
              <a:t>✓</a:t>
            </a:r>
          </a:p>
        </p:txBody>
      </p:sp>
      <p:sp>
        <p:nvSpPr>
          <p:cNvPr id="77" name="AchText5"/>
          <p:cNvSpPr>
            <a:spLocks noGrp="1"/>
          </p:cNvSpPr>
          <p:nvPr/>
        </p:nvSpPr>
        <p:spPr>
          <a:xfrm>
            <a:off x="5486400" y="4406900"/>
            <a:ext cx="6426200" cy="355600"/>
          </a:xfrm>
          <a:prstGeom prst="rect">
            <a:avLst/>
          </a:prstGeom>
          <a:noFill/>
          <a:ln>
            <a:noFill/>
          </a:ln>
        </p:spPr>
        <p:txBody>
          <a:bodyPr/>
          <a:lstStyle/>
          <a:p>
            <a:pPr marL="0" indent="0" algn="l">
              <a:buNone/>
            </a:pPr>
            <a:r>
              <a:rPr lang="en-IN" sz="1200" dirty="0">
                <a:solidFill>
                  <a:srgbClr val="16223A"/>
                </a:solidFill>
                <a:latin typeface="Calibri" pitchFamily="34" charset="0"/>
              </a:rPr>
              <a:t>Modular architecture designed for migration to RPi 5 + Dynamixel XL330</a:t>
            </a:r>
          </a:p>
        </p:txBody>
      </p:sp>
      <p:sp>
        <p:nvSpPr>
          <p:cNvPr id="100" name="BottomDiv"/>
          <p:cNvSpPr>
            <a:spLocks noGrp="1"/>
          </p:cNvSpPr>
          <p:nvPr/>
        </p:nvSpPr>
        <p:spPr>
          <a:xfrm>
            <a:off x="533400" y="5740400"/>
            <a:ext cx="11125200" cy="12700"/>
          </a:xfrm>
          <a:prstGeom prst="rect">
            <a:avLst/>
          </a:prstGeom>
          <a:solidFill>
            <a:srgbClr val="0E96AC"/>
          </a:solidFill>
          <a:ln>
            <a:noFill/>
          </a:ln>
        </p:spPr>
        <p:txBody>
          <a:bodyPr/>
          <a:lstStyle/>
          <a:p>
            <a:endParaRPr/>
          </a:p>
        </p:txBody>
      </p:sp>
      <p:sp>
        <p:nvSpPr>
          <p:cNvPr id="101" name="OutcomeBox"/>
          <p:cNvSpPr>
            <a:spLocks noGrp="1"/>
          </p:cNvSpPr>
          <p:nvPr/>
        </p:nvSpPr>
        <p:spPr>
          <a:xfrm>
            <a:off x="533400" y="5816600"/>
            <a:ext cx="11125200" cy="635000"/>
          </a:xfrm>
          <a:prstGeom prst="roundRect">
            <a:avLst>
              <a:gd name="adj" fmla="val 20000"/>
            </a:avLst>
          </a:prstGeom>
          <a:solidFill>
            <a:srgbClr val="EAF7FA"/>
          </a:solidFill>
          <a:ln w="19050">
            <a:solidFill>
              <a:srgbClr val="0E96AC"/>
            </a:solidFill>
          </a:ln>
        </p:spPr>
        <p:txBody>
          <a:bodyPr/>
          <a:lstStyle/>
          <a:p>
            <a:pPr marL="0" indent="0">
              <a:buNone/>
            </a:pPr>
            <a:r>
              <a:rPr lang="en-IN" sz="1000" b="1" dirty="0">
                <a:solidFill>
                  <a:srgbClr val="0A7A8E"/>
                </a:solidFill>
                <a:latin typeface="Calibri" pitchFamily="34" charset="0"/>
              </a:rPr>
              <a:t>KEY OUTCOME  </a:t>
            </a:r>
            <a:r>
              <a:rPr lang="en-IN" sz="1000" dirty="0">
                <a:solidFill>
                  <a:srgbClr val="16223A"/>
                </a:solidFill>
                <a:latin typeface="Calibri" pitchFamily="34" charset="0"/>
              </a:rPr>
              <a:t>A complete software-validation environment established to test locomotion, sensing, and control workflows before physical hardware arrival, reducing future integration risk.</a:t>
            </a:r>
          </a:p>
          <a:p>
            <a:pPr marL="0" indent="0">
              <a:buNone/>
            </a:pPr>
            <a:r>
              <a:rPr lang="en-IN" sz="950" i="1" dirty="0">
                <a:solidFill>
                  <a:srgbClr val="6B7280"/>
                </a:solidFill>
                <a:latin typeface="Calibri" pitchFamily="34" charset="0"/>
              </a:rPr>
              <a:t>Simulation-based development enables parallel software progress while Dynamixel actuators and communication hardware remain under procurement.</a:t>
            </a:r>
          </a:p>
        </p:txBody>
      </p:sp>
    </p:spTree>
    <p:extLst>
      <p:ext uri="{BB962C8B-B14F-4D97-AF65-F5344CB8AC3E}">
        <p14:creationId xmlns:p14="http://schemas.microsoft.com/office/powerpoint/2010/main" val="17053746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9759979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700" row="0">
    <wetp:webextensionref xmlns:r="http://schemas.openxmlformats.org/officeDocument/2006/relationships" r:id="rId1"/>
  </wetp:taskpane>
  <wetp:taskpane dockstate="right" visibility="0" width="700" row="2">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7BAC171A-BA13-4D20-B9AF-0C30E18506C1}">
  <we:reference id="wa200010001" version="1.0.0.1" store="en-US" storeType="OMEX"/>
  <we:alternateReferences>
    <we:reference id="wa200010001" version="1.0.0.1" store="en-US" storeType="OMEX"/>
  </we:alternateReferences>
  <we:properties>
    <we:property name="claude.fileId" value="&quot;04626739-5839-4d70-8398-f326990042ea&quot;"/>
  </we:properties>
  <we:bindings/>
  <we:snapshot xmlns:r="http://schemas.openxmlformats.org/officeDocument/2006/relationships"/>
</we:webextension>
</file>

<file path=ppt/webextensions/webextension2.xml><?xml version="1.0" encoding="utf-8"?>
<we:webextension xmlns:we="http://schemas.microsoft.com/office/webextensions/webextension/2010/11" id="{A93CA139-346A-433A-B20E-75068D131751}">
  <we:reference id="wa200007130" version="1.0.0.1" store="en-IN" storeType="OMEX"/>
  <we:alternateReferences>
    <we:reference id="WA200007130" version="1.0.0.1" store="WA200007130"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585</TotalTime>
  <Words>1596</Words>
  <Application>Microsoft Office PowerPoint</Application>
  <PresentationFormat>Widescreen</PresentationFormat>
  <Paragraphs>358</Paragraphs>
  <Slides>15</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Snake Robot with Dynamixel Motors</dc:title>
  <dc:subject>PptxGenJS Presentation</dc:subject>
  <dc:creator>SURGE 090</dc:creator>
  <cp:lastModifiedBy>Shashank Jangir</cp:lastModifiedBy>
  <cp:revision>17</cp:revision>
  <dcterms:created xsi:type="dcterms:W3CDTF">2026-06-10T16:14:03Z</dcterms:created>
  <dcterms:modified xsi:type="dcterms:W3CDTF">2026-06-23T14:26:16Z</dcterms:modified>
</cp:coreProperties>
</file>